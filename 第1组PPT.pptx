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0.xml" ContentType="application/vnd.openxmlformats-officedocument.presentationml.tags+xml"/>
  <Override PartName="/ppt/notesSlides/notesSlide19.xml" ContentType="application/vnd.openxmlformats-officedocument.presentationml.notesSlide+xml"/>
  <Override PartName="/ppt/tags/tag51.xml" ContentType="application/vnd.openxmlformats-officedocument.presentationml.tags+xml"/>
  <Override PartName="/ppt/notesSlides/notesSlide2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5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5.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306" r:id="rId2"/>
    <p:sldId id="534" r:id="rId3"/>
    <p:sldId id="308" r:id="rId4"/>
    <p:sldId id="309" r:id="rId5"/>
    <p:sldId id="420" r:id="rId6"/>
    <p:sldId id="315" r:id="rId7"/>
    <p:sldId id="535" r:id="rId8"/>
    <p:sldId id="398" r:id="rId9"/>
    <p:sldId id="400" r:id="rId10"/>
    <p:sldId id="367" r:id="rId11"/>
    <p:sldId id="481" r:id="rId12"/>
    <p:sldId id="444" r:id="rId13"/>
    <p:sldId id="463" r:id="rId14"/>
    <p:sldId id="464" r:id="rId15"/>
    <p:sldId id="450" r:id="rId16"/>
    <p:sldId id="531" r:id="rId17"/>
    <p:sldId id="532" r:id="rId18"/>
    <p:sldId id="533" r:id="rId19"/>
    <p:sldId id="445" r:id="rId20"/>
    <p:sldId id="530" r:id="rId21"/>
    <p:sldId id="371" r:id="rId22"/>
    <p:sldId id="465" r:id="rId23"/>
    <p:sldId id="466" r:id="rId24"/>
    <p:sldId id="467" r:id="rId25"/>
    <p:sldId id="468" r:id="rId26"/>
    <p:sldId id="469" r:id="rId27"/>
    <p:sldId id="470" r:id="rId28"/>
    <p:sldId id="483" r:id="rId29"/>
    <p:sldId id="454" r:id="rId30"/>
    <p:sldId id="482" r:id="rId31"/>
    <p:sldId id="452" r:id="rId32"/>
    <p:sldId id="399" r:id="rId33"/>
    <p:sldId id="333" r:id="rId34"/>
    <p:sldId id="312" r:id="rId35"/>
  </p:sldIdLst>
  <p:sldSz cx="12190413"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579"/>
    <a:srgbClr val="376092"/>
    <a:srgbClr val="315192"/>
    <a:srgbClr val="0086EA"/>
    <a:srgbClr val="0083E6"/>
    <a:srgbClr val="3366FF"/>
    <a:srgbClr val="008AF2"/>
    <a:srgbClr val="0D97FF"/>
    <a:srgbClr val="2DA5FF"/>
    <a:srgbClr val="007F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EFB82AE-A899-4ADF-91E6-DA161BCDE534}" styleName="表样式 1 17">
    <a:wholeTbl>
      <a:tcTxStyle>
        <a:fontRef idx="none">
          <a:srgbClr val="000000"/>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lastCol>
      <a:tcTxStyle b="on">
        <a:fontRef idx="none">
          <a:srgbClr val="08090C"/>
        </a:fontRef>
      </a:tcTxStyle>
      <a:tcStyle>
        <a:tcBdr>
          <a:left>
            <a:ln w="9525" cmpd="sng">
              <a:solidFill>
                <a:schemeClr val="accent1">
                  <a:lumMod val="40000"/>
                  <a:lumOff val="60000"/>
                </a:schemeClr>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ln>
          </a:left>
          <a:right>
            <a:ln w="9525" cmpd="sng">
              <a:solidFill>
                <a:schemeClr val="accent1"/>
              </a:solidFill>
            </a:ln>
          </a:right>
          <a:top>
            <a:ln w="9525" cmpd="sng">
              <a:solidFill>
                <a:schemeClr val="accent1">
                  <a:lumMod val="40000"/>
                  <a:lumOff val="60000"/>
                </a:schemeClr>
              </a:solidFill>
            </a:ln>
          </a:top>
          <a:bottom>
            <a:ln w="9525" cmpd="sng">
              <a:solidFill>
                <a:schemeClr val="accent1"/>
              </a:solidFill>
            </a:ln>
          </a:bottom>
          <a:insideH>
            <a:ln>
              <a:noFill/>
            </a:ln>
          </a:insideH>
          <a:insideV>
            <a:ln>
              <a:noFill/>
            </a:ln>
          </a:insideV>
        </a:tcBdr>
        <a:fill>
          <a:solidFill>
            <a:srgbClr val="FFFFFF"/>
          </a:solidFill>
        </a:fill>
      </a:tcStyle>
    </a:lastRow>
    <a:firstRow>
      <a:tcTxStyle b="on">
        <a:fontRef idx="none">
          <a:schemeClr val="accent1"/>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lumMod val="40000"/>
                  <a:lumOff val="60000"/>
                </a:schemeClr>
              </a:solidFill>
            </a:ln>
          </a:bottom>
          <a:insideH>
            <a:ln>
              <a:noFill/>
            </a:ln>
          </a:insideH>
          <a:insideV>
            <a:ln w="9525" cmpd="sng">
              <a:solidFill>
                <a:schemeClr val="accent1">
                  <a:lumMod val="40000"/>
                  <a:lumOff val="60000"/>
                </a:schemeClr>
              </a:solidFill>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17" autoAdjust="0"/>
    <p:restoredTop sz="96327" autoAdjust="0"/>
  </p:normalViewPr>
  <p:slideViewPr>
    <p:cSldViewPr showGuides="1">
      <p:cViewPr varScale="1">
        <p:scale>
          <a:sx n="128" d="100"/>
          <a:sy n="128" d="100"/>
        </p:scale>
        <p:origin x="232"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panose="020B0503020204020204" charset="-122"/>
              </a:rPr>
              <a:t>2026/1/7</a:t>
            </a:fld>
            <a:endParaRPr lang="zh-CN" altLang="en-US">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panose="020B0503020204020204" charset="-122"/>
              </a:rPr>
              <a:t>‹#›</a:t>
            </a:fld>
            <a:endParaRPr lang="zh-CN" altLang="en-US">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字魂36号-孙新恒宋楷体" panose="02000000000000000000" pitchFamily="2"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字魂36号-孙新恒宋楷体" panose="02000000000000000000" pitchFamily="2" charset="-122"/>
                <a:ea typeface="微软雅黑" panose="020B0503020204020204" charset="-122"/>
              </a:defRPr>
            </a:lvl1pPr>
          </a:lstStyle>
          <a:p>
            <a:fld id="{0B5994CD-D03A-4101-9E89-56D6B0A8209F}" type="datetimeFigureOut">
              <a:rPr lang="zh-CN" altLang="en-US" smtClean="0"/>
              <a:t>2026/1/7</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字魂36号-孙新恒宋楷体" panose="02000000000000000000" pitchFamily="2"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字魂36号-孙新恒宋楷体" panose="02000000000000000000" pitchFamily="2" charset="-122"/>
                <a:ea typeface="微软雅黑" panose="020B0503020204020204" charset="-122"/>
              </a:defRPr>
            </a:lvl1pPr>
          </a:lstStyle>
          <a:p>
            <a:fld id="{4150C85C-E9D3-4231-B599-154D482DB76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36号-孙新恒宋楷体" panose="02000000000000000000" pitchFamily="2" charset="-122"/>
        <a:ea typeface="微软雅黑" panose="020B0503020204020204" charset="-122"/>
        <a:cs typeface="+mn-cs"/>
      </a:defRPr>
    </a:lvl1pPr>
    <a:lvl2pPr marL="457200" algn="l" defTabSz="914400" rtl="0" eaLnBrk="1" latinLnBrk="0" hangingPunct="1">
      <a:defRPr sz="1200" kern="1200">
        <a:solidFill>
          <a:schemeClr val="tx1"/>
        </a:solidFill>
        <a:latin typeface="字魂36号-孙新恒宋楷体" panose="02000000000000000000" pitchFamily="2" charset="-122"/>
        <a:ea typeface="微软雅黑" panose="020B0503020204020204" charset="-122"/>
        <a:cs typeface="+mn-cs"/>
      </a:defRPr>
    </a:lvl2pPr>
    <a:lvl3pPr marL="914400" algn="l" defTabSz="914400" rtl="0" eaLnBrk="1" latinLnBrk="0" hangingPunct="1">
      <a:defRPr sz="1200" kern="1200">
        <a:solidFill>
          <a:schemeClr val="tx1"/>
        </a:solidFill>
        <a:latin typeface="字魂36号-孙新恒宋楷体" panose="02000000000000000000" pitchFamily="2" charset="-122"/>
        <a:ea typeface="微软雅黑" panose="020B0503020204020204" charset="-122"/>
        <a:cs typeface="+mn-cs"/>
      </a:defRPr>
    </a:lvl3pPr>
    <a:lvl4pPr marL="1371600" algn="l" defTabSz="914400" rtl="0" eaLnBrk="1" latinLnBrk="0" hangingPunct="1">
      <a:defRPr sz="1200" kern="1200">
        <a:solidFill>
          <a:schemeClr val="tx1"/>
        </a:solidFill>
        <a:latin typeface="字魂36号-孙新恒宋楷体" panose="02000000000000000000" pitchFamily="2" charset="-122"/>
        <a:ea typeface="微软雅黑" panose="020B0503020204020204" charset="-122"/>
        <a:cs typeface="+mn-cs"/>
      </a:defRPr>
    </a:lvl4pPr>
    <a:lvl5pPr marL="1828800" algn="l" defTabSz="914400" rtl="0" eaLnBrk="1" latinLnBrk="0" hangingPunct="1">
      <a:defRPr sz="1200" kern="1200">
        <a:solidFill>
          <a:schemeClr val="tx1"/>
        </a:solidFill>
        <a:latin typeface="字魂36号-孙新恒宋楷体" panose="02000000000000000000" pitchFamily="2"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模型并非随便选择，而是沿着技术发展路线逐步尝试选择</a:t>
            </a:r>
          </a:p>
        </p:txBody>
      </p:sp>
      <p:sp>
        <p:nvSpPr>
          <p:cNvPr id="4" name="灯片编号占位符 3"/>
          <p:cNvSpPr>
            <a:spLocks noGrp="1"/>
          </p:cNvSpPr>
          <p:nvPr>
            <p:ph type="sldNum" sz="quarter" idx="5"/>
          </p:nvPr>
        </p:nvSpPr>
        <p:spPr/>
        <p:txBody>
          <a:bodyPr/>
          <a:lstStyle/>
          <a:p>
            <a:fld id="{4150C85C-E9D3-4231-B599-154D482DB76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这一页展示的是我们的整体实验流程。</a:t>
            </a:r>
          </a:p>
          <a:p>
            <a:r>
              <a:rPr lang="zh-CN" altLang="en-US"/>
              <a:t>我们首先从最基础的</a:t>
            </a:r>
            <a:r>
              <a:rPr lang="en-US" altLang="zh-CN"/>
              <a:t> CNN </a:t>
            </a:r>
            <a:r>
              <a:rPr lang="zh-CN" altLang="en-US"/>
              <a:t>模型入手，作为性能基线，对数据集的难度有一个初步认识。</a:t>
            </a:r>
          </a:p>
          <a:p>
            <a:r>
              <a:rPr lang="zh-CN" altLang="en-US"/>
              <a:t>在发现</a:t>
            </a:r>
            <a:r>
              <a:rPr lang="en-US" altLang="zh-CN"/>
              <a:t> CNN </a:t>
            </a:r>
            <a:r>
              <a:rPr lang="zh-CN" altLang="en-US"/>
              <a:t>对部分类别区分能力有限后，我们引入了更深的</a:t>
            </a:r>
            <a:r>
              <a:rPr lang="en-US" altLang="zh-CN"/>
              <a:t> ResNet </a:t>
            </a:r>
            <a:r>
              <a:rPr lang="zh-CN" altLang="en-US"/>
              <a:t>网络，并围绕是否预训练、是否冻结等关键因素进行了系统的消融实验。</a:t>
            </a:r>
          </a:p>
          <a:p>
            <a:r>
              <a:rPr lang="zh-CN" altLang="en-US"/>
              <a:t>最后，我们将</a:t>
            </a:r>
            <a:r>
              <a:rPr lang="en-US" altLang="zh-CN"/>
              <a:t> ResNet </a:t>
            </a:r>
            <a:r>
              <a:rPr lang="zh-CN" altLang="en-US"/>
              <a:t>与</a:t>
            </a:r>
            <a:r>
              <a:rPr lang="en-US" altLang="zh-CN"/>
              <a:t> CLIP</a:t>
            </a:r>
            <a:r>
              <a:rPr lang="zh-CN" altLang="en-US"/>
              <a:t>、</a:t>
            </a:r>
            <a:r>
              <a:rPr lang="en-US" altLang="zh-CN"/>
              <a:t>M3V </a:t>
            </a:r>
            <a:r>
              <a:rPr lang="zh-CN" altLang="en-US"/>
              <a:t>等更现代的模型进行对比，分析不同模型在该任务上的性能差异。</a:t>
            </a:r>
          </a:p>
        </p:txBody>
      </p:sp>
      <p:sp>
        <p:nvSpPr>
          <p:cNvPr id="4" name="灯片编号占位符 3"/>
          <p:cNvSpPr>
            <a:spLocks noGrp="1"/>
          </p:cNvSpPr>
          <p:nvPr>
            <p:ph type="sldNum" sz="quarter" idx="5"/>
          </p:nvPr>
        </p:nvSpPr>
        <p:spPr/>
        <p:txBody>
          <a:bodyPr/>
          <a:lstStyle/>
          <a:p>
            <a:fld id="{4150C85C-E9D3-4231-B599-154D482DB76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ConvBlock </a:t>
            </a:r>
            <a:r>
              <a:rPr lang="zh-CN" altLang="en-US"/>
              <a:t>是一个抽象模块，重复</a:t>
            </a:r>
            <a:r>
              <a:rPr lang="en-US" altLang="zh-CN"/>
              <a:t> N </a:t>
            </a:r>
            <a:r>
              <a:rPr lang="zh-CN" altLang="en-US"/>
              <a:t>次</a:t>
            </a:r>
            <a:r>
              <a:rPr lang="en-US" altLang="zh-CN"/>
              <a:t> </a:t>
            </a:r>
            <a:r>
              <a:rPr lang="zh-CN" altLang="en-US"/>
              <a:t>明确告诉老师：，这里不是只做一次，而是多层堆叠。</a:t>
            </a:r>
          </a:p>
          <a:p>
            <a:endParaRPr lang="zh-CN" altLang="en-US"/>
          </a:p>
          <a:p>
            <a:r>
              <a:rPr lang="zh-CN" altLang="en-US"/>
              <a:t>其中</a:t>
            </a:r>
            <a:r>
              <a:rPr lang="en-US" altLang="zh-CN"/>
              <a:t> ConvBlock </a:t>
            </a:r>
            <a:r>
              <a:rPr lang="zh-CN" altLang="en-US"/>
              <a:t>表示由卷积层、</a:t>
            </a:r>
            <a:r>
              <a:rPr lang="en-US" altLang="zh-CN"/>
              <a:t>Batch Normalization </a:t>
            </a:r>
            <a:r>
              <a:rPr lang="zh-CN" altLang="en-US"/>
              <a:t>及</a:t>
            </a:r>
            <a:r>
              <a:rPr lang="en-US" altLang="zh-CN"/>
              <a:t> ReLU </a:t>
            </a:r>
            <a:r>
              <a:rPr lang="zh-CN" altLang="en-US"/>
              <a:t>激活函数组成的基本单元。</a:t>
            </a:r>
          </a:p>
          <a:p>
            <a:endParaRPr lang="zh-CN" altLang="en-US"/>
          </a:p>
          <a:p>
            <a:r>
              <a:rPr lang="zh-CN" altLang="en-US"/>
              <a:t>在高层特征提取阶段，采用多个通道数为</a:t>
            </a:r>
            <a:r>
              <a:rPr lang="en-US" altLang="zh-CN"/>
              <a:t> 512 </a:t>
            </a:r>
            <a:r>
              <a:rPr lang="zh-CN" altLang="en-US"/>
              <a:t>的</a:t>
            </a:r>
            <a:r>
              <a:rPr lang="en-US" altLang="zh-CN"/>
              <a:t> ConvBlock </a:t>
            </a:r>
            <a:r>
              <a:rPr lang="zh-CN" altLang="en-US"/>
              <a:t>与</a:t>
            </a:r>
            <a:r>
              <a:rPr lang="en-US" altLang="zh-CN"/>
              <a:t> Max Pooling </a:t>
            </a:r>
            <a:r>
              <a:rPr lang="zh-CN" altLang="en-US"/>
              <a:t>进行堆叠，以增强模型的表达能力。</a:t>
            </a:r>
          </a:p>
        </p:txBody>
      </p:sp>
      <p:sp>
        <p:nvSpPr>
          <p:cNvPr id="4" name="灯片编号占位符 3"/>
          <p:cNvSpPr>
            <a:spLocks noGrp="1"/>
          </p:cNvSpPr>
          <p:nvPr>
            <p:ph type="sldNum" sz="quarter" idx="5"/>
          </p:nvPr>
        </p:nvSpPr>
        <p:spPr/>
        <p:txBody>
          <a:bodyPr/>
          <a:lstStyle/>
          <a:p>
            <a:fld id="{4150C85C-E9D3-4231-B599-154D482DB76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图片来自：</a:t>
            </a:r>
            <a:r>
              <a:rPr lang="en-US" altLang="zh-CN"/>
              <a:t>Xie et al., “Aggregated Residual Transformations for Deep Neural Networks” (ResNeXt, CVPR 2017 / arXiv:1611.05431)</a:t>
            </a:r>
          </a:p>
        </p:txBody>
      </p:sp>
      <p:sp>
        <p:nvSpPr>
          <p:cNvPr id="4" name="灯片编号占位符 3"/>
          <p:cNvSpPr>
            <a:spLocks noGrp="1"/>
          </p:cNvSpPr>
          <p:nvPr>
            <p:ph type="sldNum" sz="quarter" idx="5"/>
          </p:nvPr>
        </p:nvSpPr>
        <p:spPr/>
        <p:txBody>
          <a:bodyPr/>
          <a:lstStyle/>
          <a:p>
            <a:fld id="{4150C85C-E9D3-4231-B599-154D482DB76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图片来自：</a:t>
            </a:r>
            <a:r>
              <a:rPr lang="en-US" altLang="zh-CN"/>
              <a:t>Xie et al., “Aggregated Residual Transformations for Deep Neural Networks” (ResNeXt, CVPR 2017 / arXiv:1611.05431)</a:t>
            </a:r>
          </a:p>
        </p:txBody>
      </p:sp>
      <p:sp>
        <p:nvSpPr>
          <p:cNvPr id="4" name="灯片编号占位符 3"/>
          <p:cNvSpPr>
            <a:spLocks noGrp="1"/>
          </p:cNvSpPr>
          <p:nvPr>
            <p:ph type="sldNum" sz="quarter" idx="5"/>
          </p:nvPr>
        </p:nvSpPr>
        <p:spPr/>
        <p:txBody>
          <a:bodyPr/>
          <a:lstStyle/>
          <a:p>
            <a:fld id="{4150C85C-E9D3-4231-B599-154D482DB76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150C85C-E9D3-4231-B599-154D482DB761}" type="slidenum">
              <a:rPr lang="zh-CN" altLang="en-US" smtClean="0"/>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advTm="300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advTm="300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p>
        </p:txBody>
      </p:sp>
    </p:spTree>
  </p:cSld>
  <p:clrMapOvr>
    <a:masterClrMapping/>
  </p:clrMapOvr>
  <p:transition spd="slow" advTm="3000">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4579"/>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slow" advTm="3000">
    <p:wipe/>
  </p:transition>
  <p:txStyles>
    <p:titleStyle>
      <a:lvl1pPr algn="ctr" defTabSz="914400" rtl="0" eaLnBrk="1" latinLnBrk="0" hangingPunct="1">
        <a:spcBef>
          <a:spcPct val="0"/>
        </a:spcBef>
        <a:buNone/>
        <a:defRPr sz="4400" kern="1200">
          <a:solidFill>
            <a:schemeClr val="tx1"/>
          </a:solidFill>
          <a:latin typeface="字魂36号-孙新恒宋楷体" panose="02000000000000000000" pitchFamily="2" charset="-122"/>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字魂36号-孙新恒宋楷体" panose="02000000000000000000" pitchFamily="2" charset="-122"/>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字魂36号-孙新恒宋楷体" panose="02000000000000000000" pitchFamily="2" charset="-122"/>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字魂36号-孙新恒宋楷体" panose="02000000000000000000" pitchFamily="2" charset="-122"/>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字魂36号-孙新恒宋楷体" panose="02000000000000000000" pitchFamily="2" charset="-122"/>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字魂36号-孙新恒宋楷体" panose="02000000000000000000" pitchFamily="2" charset="-122"/>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3.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2.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2.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tags" Target="../tags/tag40.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5" Type="http://schemas.openxmlformats.org/officeDocument/2006/relationships/image" Target="../media/image3.png"/><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24" Type="http://schemas.openxmlformats.org/officeDocument/2006/relationships/notesSlide" Target="../notesSlides/notesSlide5.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slideLayout" Target="../slideLayouts/slideLayout2.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tags" Target="../tags/tag4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4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4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51.xml"/><Relationship Id="rId5" Type="http://schemas.openxmlformats.org/officeDocument/2006/relationships/image" Target="../media/image33.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5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5.xml"/><Relationship Id="rId5" Type="http://schemas.openxmlformats.org/officeDocument/2006/relationships/image" Target="../media/image5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image" Target="../media/image3.png"/><Relationship Id="rId2" Type="http://schemas.openxmlformats.org/officeDocument/2006/relationships/tags" Target="../tags/tag59.xml"/><Relationship Id="rId16" Type="http://schemas.openxmlformats.org/officeDocument/2006/relationships/notesSlide" Target="../notesSlides/notesSlide33.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slideLayout" Target="../slideLayouts/slideLayout2.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2598" y="548680"/>
            <a:ext cx="10945216" cy="5760640"/>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 </a:t>
            </a:r>
          </a:p>
        </p:txBody>
      </p:sp>
      <p:sp>
        <p:nvSpPr>
          <p:cNvPr id="5" name="TextBox 40"/>
          <p:cNvSpPr txBox="1"/>
          <p:nvPr/>
        </p:nvSpPr>
        <p:spPr>
          <a:xfrm>
            <a:off x="4114324" y="4869180"/>
            <a:ext cx="3961765" cy="922020"/>
          </a:xfrm>
          <a:prstGeom prst="rect">
            <a:avLst/>
          </a:prstGeom>
          <a:noFill/>
        </p:spPr>
        <p:txBody>
          <a:bodyPr wrap="square" rtlCol="0">
            <a:spAutoFit/>
          </a:bodyPr>
          <a:lstStyle/>
          <a:p>
            <a:pPr algn="ctr"/>
            <a:r>
              <a:rPr lang="zh-CN" altLang="en-US" dirty="0">
                <a:solidFill>
                  <a:srgbClr val="194579"/>
                </a:solidFill>
                <a:latin typeface="微软雅黑" panose="020B0503020204020204" charset="-122"/>
                <a:ea typeface="微软雅黑" panose="020B0503020204020204" charset="-122"/>
                <a:sym typeface="微软雅黑" panose="020B0503020204020204" charset="-122"/>
              </a:rPr>
              <a:t>小组成员：（排名不分先后）</a:t>
            </a:r>
          </a:p>
          <a:p>
            <a:pPr algn="ctr"/>
            <a:r>
              <a:rPr lang="zh-CN" altLang="en-US" dirty="0">
                <a:solidFill>
                  <a:srgbClr val="194579"/>
                </a:solidFill>
                <a:latin typeface="微软雅黑" panose="020B0503020204020204" charset="-122"/>
                <a:ea typeface="微软雅黑" panose="020B0503020204020204" charset="-122"/>
                <a:sym typeface="微软雅黑" panose="020B0503020204020204" charset="-122"/>
              </a:rPr>
              <a:t>杨博文</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汲浩冉</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孔垂楷</a:t>
            </a:r>
          </a:p>
          <a:p>
            <a:pPr algn="ctr"/>
            <a:r>
              <a:rPr lang="zh-CN" altLang="en-US" dirty="0">
                <a:solidFill>
                  <a:srgbClr val="194579"/>
                </a:solidFill>
                <a:latin typeface="微软雅黑" panose="020B0503020204020204" charset="-122"/>
                <a:ea typeface="微软雅黑" panose="020B0503020204020204" charset="-122"/>
                <a:sym typeface="微软雅黑" panose="020B0503020204020204" charset="-122"/>
              </a:rPr>
              <a:t>于永涛</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莫超杰</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宋雨璇</a:t>
            </a:r>
          </a:p>
        </p:txBody>
      </p:sp>
      <p:sp>
        <p:nvSpPr>
          <p:cNvPr id="8" name="TextBox 40"/>
          <p:cNvSpPr txBox="1"/>
          <p:nvPr/>
        </p:nvSpPr>
        <p:spPr>
          <a:xfrm>
            <a:off x="3398044" y="4437380"/>
            <a:ext cx="5394325" cy="368300"/>
          </a:xfrm>
          <a:prstGeom prst="rect">
            <a:avLst/>
          </a:prstGeom>
          <a:noFill/>
        </p:spPr>
        <p:txBody>
          <a:bodyPr wrap="square" rtlCol="0">
            <a:spAutoFit/>
          </a:bodyPr>
          <a:lstStyle/>
          <a:p>
            <a:pPr algn="ctr"/>
            <a:r>
              <a:rPr lang="zh-CN" altLang="en-US" dirty="0">
                <a:solidFill>
                  <a:srgbClr val="194579"/>
                </a:solidFill>
                <a:latin typeface="微软雅黑" panose="020B0503020204020204" charset="-122"/>
                <a:ea typeface="微软雅黑" panose="020B0503020204020204" charset="-122"/>
                <a:sym typeface="微软雅黑" panose="020B0503020204020204" charset="-122"/>
              </a:rPr>
              <a:t>答辩成员：莫超杰</a:t>
            </a:r>
          </a:p>
        </p:txBody>
      </p:sp>
      <p:grpSp>
        <p:nvGrpSpPr>
          <p:cNvPr id="20" name="组合 19"/>
          <p:cNvGrpSpPr/>
          <p:nvPr/>
        </p:nvGrpSpPr>
        <p:grpSpPr>
          <a:xfrm>
            <a:off x="2314687" y="2708920"/>
            <a:ext cx="7561039" cy="1440160"/>
            <a:chOff x="2278531" y="2708920"/>
            <a:chExt cx="7561039" cy="1440160"/>
          </a:xfrm>
        </p:grpSpPr>
        <p:sp>
          <p:nvSpPr>
            <p:cNvPr id="3" name="TextBox 40"/>
            <p:cNvSpPr txBox="1"/>
            <p:nvPr/>
          </p:nvSpPr>
          <p:spPr>
            <a:xfrm>
              <a:off x="2371436" y="2817796"/>
              <a:ext cx="7445127" cy="953135"/>
            </a:xfrm>
            <a:prstGeom prst="rect">
              <a:avLst/>
            </a:prstGeom>
            <a:noFill/>
          </p:spPr>
          <p:txBody>
            <a:bodyPr wrap="square" rtlCol="0">
              <a:spAutoFit/>
            </a:bodyPr>
            <a:lstStyle/>
            <a:p>
              <a:pPr algn="ctr"/>
              <a:r>
                <a:rPr lang="zh-CN" altLang="en-US" sz="2800" b="1" dirty="0">
                  <a:solidFill>
                    <a:srgbClr val="194579"/>
                  </a:solidFill>
                  <a:latin typeface="微软雅黑" panose="020B0503020204020204" charset="-122"/>
                  <a:ea typeface="微软雅黑" panose="020B0503020204020204" charset="-122"/>
                  <a:sym typeface="微软雅黑" panose="020B0503020204020204" charset="-122"/>
                </a:rPr>
                <a:t>基于多种深度学习模型的</a:t>
              </a:r>
            </a:p>
            <a:p>
              <a:pPr algn="ctr"/>
              <a:r>
                <a:rPr lang="zh-CN" altLang="en-US" sz="2800" b="1" dirty="0">
                  <a:solidFill>
                    <a:srgbClr val="194579"/>
                  </a:solidFill>
                  <a:latin typeface="微软雅黑" panose="020B0503020204020204" charset="-122"/>
                  <a:ea typeface="微软雅黑" panose="020B0503020204020204" charset="-122"/>
                  <a:sym typeface="微软雅黑" panose="020B0503020204020204" charset="-122"/>
                </a:rPr>
                <a:t>动物图像分类与对比分析</a:t>
              </a:r>
            </a:p>
          </p:txBody>
        </p:sp>
        <p:sp>
          <p:nvSpPr>
            <p:cNvPr id="9" name="TextBox 40"/>
            <p:cNvSpPr txBox="1"/>
            <p:nvPr/>
          </p:nvSpPr>
          <p:spPr>
            <a:xfrm>
              <a:off x="3359696" y="3717032"/>
              <a:ext cx="5472608" cy="369332"/>
            </a:xfrm>
            <a:prstGeom prst="rect">
              <a:avLst/>
            </a:prstGeom>
            <a:noFill/>
          </p:spPr>
          <p:txBody>
            <a:bodyPr wrap="square" rtlCol="0">
              <a:spAutoFit/>
            </a:bodyPr>
            <a:lstStyle/>
            <a:p>
              <a:pPr algn="dist"/>
              <a:r>
                <a:rPr lang="en-US" altLang="zh-CN" dirty="0">
                  <a:solidFill>
                    <a:srgbClr val="194579"/>
                  </a:solidFill>
                  <a:latin typeface="微软雅黑" panose="020B0503020204020204" charset="-122"/>
                  <a:ea typeface="微软雅黑" panose="020B0503020204020204" charset="-122"/>
                </a:rPr>
                <a:t>BEIJING NORMAL UNIVERSITY</a:t>
              </a:r>
              <a:endParaRPr lang="en-US" altLang="zh-CN" dirty="0">
                <a:solidFill>
                  <a:srgbClr val="194579"/>
                </a:solidFill>
                <a:latin typeface="微软雅黑" panose="020B0503020204020204" charset="-122"/>
                <a:ea typeface="微软雅黑" panose="020B0503020204020204" charset="-122"/>
                <a:sym typeface="微软雅黑" panose="020B0503020204020204" charset="-122"/>
              </a:endParaRPr>
            </a:p>
          </p:txBody>
        </p:sp>
        <p:cxnSp>
          <p:nvCxnSpPr>
            <p:cNvPr id="11" name="直接连接符 10"/>
            <p:cNvCxnSpPr/>
            <p:nvPr/>
          </p:nvCxnSpPr>
          <p:spPr>
            <a:xfrm>
              <a:off x="2278531" y="270892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78625" y="414908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gr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8005" y="1094345"/>
            <a:ext cx="1214402" cy="1214402"/>
          </a:xfrm>
          <a:prstGeom prst="ellipse">
            <a:avLst/>
          </a:prstGeom>
          <a:effectLst>
            <a:outerShdw blurRad="63500" sx="102000" sy="102000" algn="ctr" rotWithShape="0">
              <a:schemeClr val="bg1">
                <a:lumMod val="50000"/>
                <a:alpha val="40000"/>
              </a:schemeClr>
            </a:outerShdw>
          </a:effectLst>
        </p:spPr>
      </p:pic>
      <p:sp>
        <p:nvSpPr>
          <p:cNvPr id="4" name="TextBox 40"/>
          <p:cNvSpPr txBox="1"/>
          <p:nvPr/>
        </p:nvSpPr>
        <p:spPr>
          <a:xfrm>
            <a:off x="3990181" y="5949315"/>
            <a:ext cx="4210050" cy="368300"/>
          </a:xfrm>
          <a:prstGeom prst="rect">
            <a:avLst/>
          </a:prstGeom>
          <a:noFill/>
        </p:spPr>
        <p:txBody>
          <a:bodyPr wrap="square" rtlCol="0">
            <a:spAutoFit/>
          </a:bodyPr>
          <a:lstStyle/>
          <a:p>
            <a:pPr algn="ctr"/>
            <a:r>
              <a:rPr lang="zh-CN" altLang="en-US" dirty="0">
                <a:solidFill>
                  <a:srgbClr val="194579"/>
                </a:solidFill>
                <a:latin typeface="微软雅黑" panose="020B0503020204020204" charset="-122"/>
                <a:ea typeface="微软雅黑" panose="020B0503020204020204" charset="-122"/>
                <a:sym typeface="微软雅黑" panose="020B0503020204020204" charset="-122"/>
              </a:rPr>
              <a:t>北京师范大学</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人工智能学院</a:t>
            </a: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750"/>
                                        <p:tgtEl>
                                          <p:spTgt spid="18"/>
                                        </p:tgtEl>
                                      </p:cBhvr>
                                    </p:animEffect>
                                    <p:anim calcmode="lin" valueType="num">
                                      <p:cBhvr>
                                        <p:cTn id="8" dur="750" fill="hold"/>
                                        <p:tgtEl>
                                          <p:spTgt spid="18"/>
                                        </p:tgtEl>
                                        <p:attrNameLst>
                                          <p:attrName>ppt_x</p:attrName>
                                        </p:attrNameLst>
                                      </p:cBhvr>
                                      <p:tavLst>
                                        <p:tav tm="0">
                                          <p:val>
                                            <p:strVal val="#ppt_x"/>
                                          </p:val>
                                        </p:tav>
                                        <p:tav tm="100000">
                                          <p:val>
                                            <p:strVal val="#ppt_x"/>
                                          </p:val>
                                        </p:tav>
                                      </p:tavLst>
                                    </p:anim>
                                    <p:anim calcmode="lin" valueType="num">
                                      <p:cBhvr>
                                        <p:cTn id="9" dur="75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left)">
                                      <p:cBhvr>
                                        <p:cTn id="13" dur="750"/>
                                        <p:tgtEl>
                                          <p:spTgt spid="20"/>
                                        </p:tgtEl>
                                      </p:cBhvr>
                                    </p:animEffect>
                                  </p:childTnLst>
                                </p:cTn>
                              </p:par>
                            </p:childTnLst>
                          </p:cTn>
                        </p:par>
                        <p:par>
                          <p:cTn id="14" fill="hold">
                            <p:stCondLst>
                              <p:cond delay="20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p:cTn id="18" dur="500" fill="hold"/>
                                        <p:tgtEl>
                                          <p:spTgt spid="8"/>
                                        </p:tgtEl>
                                        <p:attrNameLst>
                                          <p:attrName>ppt_x</p:attrName>
                                        </p:attrNameLst>
                                      </p:cBhvr>
                                      <p:tavLst>
                                        <p:tav tm="0">
                                          <p:val>
                                            <p:strVal val="#ppt_x"/>
                                          </p:val>
                                        </p:tav>
                                        <p:tav tm="100000">
                                          <p:val>
                                            <p:strVal val="#ppt_x"/>
                                          </p:val>
                                        </p:tav>
                                      </p:tavLst>
                                    </p:anim>
                                    <p:anim calcmode="lin" valueType="num">
                                      <p:cBhvr>
                                        <p:cTn id="19" dur="5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anim calcmode="lin" valueType="num">
                                      <p:cBhvr>
                                        <p:cTn id="24" dur="500" fill="hold"/>
                                        <p:tgtEl>
                                          <p:spTgt spid="5"/>
                                        </p:tgtEl>
                                        <p:attrNameLst>
                                          <p:attrName>ppt_x</p:attrName>
                                        </p:attrNameLst>
                                      </p:cBhvr>
                                      <p:tavLst>
                                        <p:tav tm="0">
                                          <p:val>
                                            <p:strVal val="#ppt_x"/>
                                          </p:val>
                                        </p:tav>
                                        <p:tav tm="100000">
                                          <p:val>
                                            <p:strVal val="#ppt_x"/>
                                          </p:val>
                                        </p:tav>
                                      </p:tavLst>
                                    </p:anim>
                                    <p:anim calcmode="lin" valueType="num">
                                      <p:cBhvr>
                                        <p:cTn id="25" dur="5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2" presetClass="entr" presetSubtype="0"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2598" y="548680"/>
            <a:ext cx="10945216" cy="5760640"/>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 </a:t>
            </a:r>
          </a:p>
        </p:txBody>
      </p:sp>
      <p:grpSp>
        <p:nvGrpSpPr>
          <p:cNvPr id="20" name="组合 19"/>
          <p:cNvGrpSpPr/>
          <p:nvPr/>
        </p:nvGrpSpPr>
        <p:grpSpPr>
          <a:xfrm>
            <a:off x="2169946" y="1258580"/>
            <a:ext cx="7569294" cy="720070"/>
            <a:chOff x="2278531" y="2708920"/>
            <a:chExt cx="7569294" cy="720070"/>
          </a:xfrm>
        </p:grpSpPr>
        <p:sp>
          <p:nvSpPr>
            <p:cNvPr id="3" name="TextBox 40"/>
            <p:cNvSpPr txBox="1"/>
            <p:nvPr/>
          </p:nvSpPr>
          <p:spPr>
            <a:xfrm>
              <a:off x="2371436" y="2817796"/>
              <a:ext cx="7445127" cy="521970"/>
            </a:xfrm>
            <a:prstGeom prst="rect">
              <a:avLst/>
            </a:prstGeom>
            <a:noFill/>
          </p:spPr>
          <p:txBody>
            <a:bodyPr wrap="square" rtlCol="0">
              <a:spAutoFit/>
            </a:bodyPr>
            <a:lstStyle/>
            <a:p>
              <a:pPr algn="ctr"/>
              <a:r>
                <a:rPr lang="zh-CN" altLang="en-US" sz="2800" b="1" dirty="0">
                  <a:solidFill>
                    <a:srgbClr val="194579"/>
                  </a:solidFill>
                  <a:latin typeface="微软雅黑" panose="020B0503020204020204" charset="-122"/>
                  <a:ea typeface="微软雅黑" panose="020B0503020204020204" charset="-122"/>
                  <a:sym typeface="微软雅黑" panose="020B0503020204020204" charset="-122"/>
                </a:rPr>
                <a:t>团队分工</a:t>
              </a:r>
            </a:p>
          </p:txBody>
        </p:sp>
        <p:cxnSp>
          <p:nvCxnSpPr>
            <p:cNvPr id="11" name="直接连接符 10"/>
            <p:cNvCxnSpPr/>
            <p:nvPr/>
          </p:nvCxnSpPr>
          <p:spPr>
            <a:xfrm>
              <a:off x="2278531" y="270892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6880" y="342899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grpSp>
      <p:graphicFrame>
        <p:nvGraphicFramePr>
          <p:cNvPr id="7" name="表格 6"/>
          <p:cNvGraphicFramePr/>
          <p:nvPr/>
        </p:nvGraphicFramePr>
        <p:xfrm>
          <a:off x="1864360" y="2410460"/>
          <a:ext cx="8531860" cy="2667000"/>
        </p:xfrm>
        <a:graphic>
          <a:graphicData uri="http://schemas.openxmlformats.org/drawingml/2006/table">
            <a:tbl>
              <a:tblPr firstRow="1" bandRow="1">
                <a:tableStyleId>{5C22544A-7EE6-4342-B048-85BDC9FD1C3A}</a:tableStyleId>
              </a:tblPr>
              <a:tblGrid>
                <a:gridCol w="2781935">
                  <a:extLst>
                    <a:ext uri="{9D8B030D-6E8A-4147-A177-3AD203B41FA5}">
                      <a16:colId xmlns:a16="http://schemas.microsoft.com/office/drawing/2014/main" val="20000"/>
                    </a:ext>
                  </a:extLst>
                </a:gridCol>
                <a:gridCol w="5749925">
                  <a:extLst>
                    <a:ext uri="{9D8B030D-6E8A-4147-A177-3AD203B41FA5}">
                      <a16:colId xmlns:a16="http://schemas.microsoft.com/office/drawing/2014/main" val="20001"/>
                    </a:ext>
                  </a:extLst>
                </a:gridCol>
              </a:tblGrid>
              <a:tr h="381000">
                <a:tc>
                  <a:txBody>
                    <a:bodyPr/>
                    <a:lstStyle/>
                    <a:p>
                      <a:pPr algn="ctr">
                        <a:buNone/>
                      </a:pPr>
                      <a:r>
                        <a:rPr lang="zh-CN" altLang="en-US">
                          <a:latin typeface="微软雅黑" panose="020B0503020204020204" charset="-122"/>
                          <a:ea typeface="微软雅黑" panose="020B0503020204020204" charset="-122"/>
                        </a:rPr>
                        <a:t>姓名（排名不分先后）</a:t>
                      </a:r>
                    </a:p>
                  </a:txBody>
                  <a:tcPr/>
                </a:tc>
                <a:tc>
                  <a:txBody>
                    <a:bodyPr/>
                    <a:lstStyle/>
                    <a:p>
                      <a:pPr algn="ctr">
                        <a:buNone/>
                      </a:pPr>
                      <a:r>
                        <a:rPr lang="zh-CN" altLang="en-US">
                          <a:latin typeface="微软雅黑" panose="020B0503020204020204" charset="-122"/>
                          <a:ea typeface="微软雅黑" panose="020B0503020204020204" charset="-122"/>
                        </a:rPr>
                        <a:t>分工</a:t>
                      </a:r>
                    </a:p>
                  </a:txBody>
                  <a:tcPr/>
                </a:tc>
                <a:extLst>
                  <a:ext uri="{0D108BD9-81ED-4DB2-BD59-A6C34878D82A}">
                    <a16:rowId xmlns:a16="http://schemas.microsoft.com/office/drawing/2014/main" val="10000"/>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杨博文</a:t>
                      </a:r>
                      <a:endParaRPr lang="zh-CN" altLang="en-US"/>
                    </a:p>
                  </a:txBody>
                  <a:tcPr/>
                </a:tc>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ResNet   </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模型搭建、代码调试、模型优化</a:t>
                      </a:r>
                      <a:endParaRPr lang="zh-CN" altLang="en-US"/>
                    </a:p>
                  </a:txBody>
                  <a:tcPr/>
                </a:tc>
                <a:extLst>
                  <a:ext uri="{0D108BD9-81ED-4DB2-BD59-A6C34878D82A}">
                    <a16:rowId xmlns:a16="http://schemas.microsoft.com/office/drawing/2014/main" val="10001"/>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汲浩冉</a:t>
                      </a:r>
                      <a:endParaRPr lang="zh-CN" altLang="en-US"/>
                    </a:p>
                  </a:txBody>
                  <a:tcPr/>
                </a:tc>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CNN</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a:t>
                      </a: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CLIP</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模型搭建、代码调试、模型优化</a:t>
                      </a:r>
                      <a:endParaRPr lang="zh-CN" altLang="en-US"/>
                    </a:p>
                  </a:txBody>
                  <a:tcPr/>
                </a:tc>
                <a:extLst>
                  <a:ext uri="{0D108BD9-81ED-4DB2-BD59-A6C34878D82A}">
                    <a16:rowId xmlns:a16="http://schemas.microsoft.com/office/drawing/2014/main" val="10002"/>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孔垂楷</a:t>
                      </a:r>
                      <a:endParaRPr lang="zh-CN" altLang="en-US"/>
                    </a:p>
                  </a:txBody>
                  <a:tcPr/>
                </a:tc>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CLIP</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a:t>
                      </a: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M3V</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模型搭建、代码调试、模型优化</a:t>
                      </a:r>
                      <a:endParaRPr lang="zh-CN" altLang="en-US"/>
                    </a:p>
                  </a:txBody>
                  <a:tcPr/>
                </a:tc>
                <a:extLst>
                  <a:ext uri="{0D108BD9-81ED-4DB2-BD59-A6C34878D82A}">
                    <a16:rowId xmlns:a16="http://schemas.microsoft.com/office/drawing/2014/main" val="10003"/>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莫超杰</a:t>
                      </a:r>
                      <a:endParaRPr lang="zh-CN" altLang="en-US"/>
                    </a:p>
                  </a:txBody>
                  <a:tcPr/>
                </a:tc>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算法分析、论文撰写、</a:t>
                      </a: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PPT</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汇报</a:t>
                      </a:r>
                      <a:endParaRPr lang="zh-CN" altLang="en-US"/>
                    </a:p>
                  </a:txBody>
                  <a:tcPr/>
                </a:tc>
                <a:extLst>
                  <a:ext uri="{0D108BD9-81ED-4DB2-BD59-A6C34878D82A}">
                    <a16:rowId xmlns:a16="http://schemas.microsoft.com/office/drawing/2014/main" val="10004"/>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于永涛</a:t>
                      </a:r>
                      <a:endParaRPr lang="zh-CN" altLang="en-US"/>
                    </a:p>
                  </a:txBody>
                  <a:tcPr/>
                </a:tc>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结果分析、论文撰写、</a:t>
                      </a: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PPT</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制作</a:t>
                      </a:r>
                      <a:endParaRPr lang="zh-CN" altLang="en-US"/>
                    </a:p>
                  </a:txBody>
                  <a:tcPr/>
                </a:tc>
                <a:extLst>
                  <a:ext uri="{0D108BD9-81ED-4DB2-BD59-A6C34878D82A}">
                    <a16:rowId xmlns:a16="http://schemas.microsoft.com/office/drawing/2014/main" val="10005"/>
                  </a:ext>
                </a:extLst>
              </a:tr>
              <a:tr h="381000">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宋雨璇</a:t>
                      </a:r>
                      <a:endParaRPr lang="zh-CN" altLang="en-US"/>
                    </a:p>
                  </a:txBody>
                  <a:tcPr/>
                </a:tc>
                <a:tc>
                  <a:txBody>
                    <a:bodyPr/>
                    <a:lstStyle/>
                    <a:p>
                      <a:pPr>
                        <a:buNone/>
                      </a:pP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绘制插图、论文撰写、</a:t>
                      </a: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PPT</a:t>
                      </a:r>
                      <a:r>
                        <a:rPr lang="zh-CN" altLang="en-US" sz="1800" dirty="0">
                          <a:solidFill>
                            <a:srgbClr val="194579"/>
                          </a:solidFill>
                          <a:latin typeface="微软雅黑" panose="020B0503020204020204" charset="-122"/>
                          <a:ea typeface="微软雅黑" panose="020B0503020204020204" charset="-122"/>
                          <a:sym typeface="微软雅黑" panose="020B0503020204020204" charset="-122"/>
                        </a:rPr>
                        <a:t>制作</a:t>
                      </a:r>
                      <a:endParaRPr lang="zh-CN" altLang="en-US"/>
                    </a:p>
                  </a:txBody>
                  <a:tcPr/>
                </a:tc>
                <a:extLst>
                  <a:ext uri="{0D108BD9-81ED-4DB2-BD59-A6C34878D82A}">
                    <a16:rowId xmlns:a16="http://schemas.microsoft.com/office/drawing/2014/main" val="10006"/>
                  </a:ext>
                </a:extLst>
              </a:tr>
            </a:tbl>
          </a:graphicData>
        </a:graphic>
      </p:graphicFrame>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7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0"/>
            <a:ext cx="3790950" cy="6858000"/>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sym typeface="微软雅黑" panose="020B0503020204020204" charset="-122"/>
            </a:endParaRPr>
          </a:p>
        </p:txBody>
      </p:sp>
      <p:sp>
        <p:nvSpPr>
          <p:cNvPr id="3" name="TextBox 40"/>
          <p:cNvSpPr txBox="1"/>
          <p:nvPr/>
        </p:nvSpPr>
        <p:spPr>
          <a:xfrm>
            <a:off x="1074544" y="3367423"/>
            <a:ext cx="1656184" cy="830997"/>
          </a:xfrm>
          <a:prstGeom prst="rect">
            <a:avLst/>
          </a:prstGeom>
          <a:noFill/>
        </p:spPr>
        <p:txBody>
          <a:bodyPr wrap="square" rtlCol="0">
            <a:spAutoFit/>
          </a:bodyPr>
          <a:lstStyle/>
          <a:p>
            <a:pPr algn="ctr"/>
            <a:r>
              <a:rPr lang="zh-CN" altLang="en-US" sz="4800" dirty="0">
                <a:solidFill>
                  <a:schemeClr val="bg1"/>
                </a:solidFill>
                <a:latin typeface="微软雅黑" panose="020B0503020204020204" charset="-122"/>
                <a:ea typeface="微软雅黑" panose="020B0503020204020204" charset="-122"/>
                <a:sym typeface="微软雅黑" panose="020B0503020204020204" charset="-122"/>
              </a:rPr>
              <a:t>目录</a:t>
            </a:r>
          </a:p>
        </p:txBody>
      </p:sp>
      <p:sp>
        <p:nvSpPr>
          <p:cNvPr id="4" name="TextBox 40"/>
          <p:cNvSpPr txBox="1"/>
          <p:nvPr/>
        </p:nvSpPr>
        <p:spPr>
          <a:xfrm>
            <a:off x="984448" y="4161731"/>
            <a:ext cx="1822053" cy="461665"/>
          </a:xfrm>
          <a:prstGeom prst="rect">
            <a:avLst/>
          </a:prstGeom>
          <a:noFill/>
        </p:spPr>
        <p:txBody>
          <a:bodyPr wrap="square" rtlCol="0">
            <a:spAutoFit/>
          </a:bodyPr>
          <a:lstStyle/>
          <a:p>
            <a:pPr algn="ctr"/>
            <a:r>
              <a:rPr lang="en-US" altLang="zh-CN" sz="2400" dirty="0">
                <a:solidFill>
                  <a:schemeClr val="bg1"/>
                </a:solidFill>
                <a:latin typeface="微软雅黑" panose="020B0503020204020204" charset="-122"/>
                <a:ea typeface="微软雅黑" panose="020B0503020204020204" charset="-122"/>
                <a:sym typeface="微软雅黑" panose="020B0503020204020204" charset="-122"/>
              </a:rPr>
              <a:t>Contents</a:t>
            </a:r>
          </a:p>
        </p:txBody>
      </p:sp>
      <p:pic>
        <p:nvPicPr>
          <p:cNvPr id="5" name="图片 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499873" y="2234603"/>
            <a:ext cx="830998" cy="830998"/>
          </a:xfrm>
          <a:prstGeom prst="ellipse">
            <a:avLst/>
          </a:prstGeom>
          <a:effectLst>
            <a:outerShdw blurRad="63500" sx="102000" sy="102000" algn="ctr" rotWithShape="0">
              <a:schemeClr val="bg1">
                <a:lumMod val="50000"/>
                <a:alpha val="40000"/>
              </a:schemeClr>
            </a:outerShdw>
          </a:effectLst>
        </p:spPr>
      </p:pic>
      <p:grpSp>
        <p:nvGrpSpPr>
          <p:cNvPr id="12" name="组合 11"/>
          <p:cNvGrpSpPr/>
          <p:nvPr>
            <p:custDataLst>
              <p:tags r:id="rId1"/>
            </p:custDataLst>
          </p:nvPr>
        </p:nvGrpSpPr>
        <p:grpSpPr>
          <a:xfrm>
            <a:off x="5161078" y="981683"/>
            <a:ext cx="6216460" cy="831989"/>
            <a:chOff x="5289297" y="1123752"/>
            <a:chExt cx="6216460" cy="831989"/>
          </a:xfrm>
        </p:grpSpPr>
        <p:grpSp>
          <p:nvGrpSpPr>
            <p:cNvPr id="9" name="组合 8"/>
            <p:cNvGrpSpPr/>
            <p:nvPr/>
          </p:nvGrpSpPr>
          <p:grpSpPr>
            <a:xfrm>
              <a:off x="6599262" y="1124744"/>
              <a:ext cx="4906495" cy="829925"/>
              <a:chOff x="4865129" y="2357715"/>
              <a:chExt cx="4906495" cy="829925"/>
            </a:xfrm>
          </p:grpSpPr>
          <p:sp>
            <p:nvSpPr>
              <p:cNvPr id="7" name="TextBox 40"/>
              <p:cNvSpPr txBox="1"/>
              <p:nvPr>
                <p:custDataLst>
                  <p:tags r:id="rId15"/>
                </p:custDataLst>
              </p:nvPr>
            </p:nvSpPr>
            <p:spPr>
              <a:xfrm>
                <a:off x="4871071" y="2357715"/>
                <a:ext cx="2714860" cy="521970"/>
              </a:xfrm>
              <a:prstGeom prst="rect">
                <a:avLst/>
              </a:prstGeom>
              <a:noFill/>
            </p:spPr>
            <p:txBody>
              <a:bodyPr wrap="square" rtlCol="0">
                <a:spAutoFit/>
              </a:bodyPr>
              <a:lstStyle/>
              <a:p>
                <a:endParaRPr lang="zh-CN" altLang="en-US" sz="2800" dirty="0">
                  <a:solidFill>
                    <a:srgbClr val="194579"/>
                  </a:solidFill>
                  <a:latin typeface="微软雅黑" panose="020B0503020204020204" charset="-122"/>
                  <a:ea typeface="微软雅黑" panose="020B0503020204020204" charset="-122"/>
                  <a:sym typeface="微软雅黑" panose="020B0503020204020204" charset="-122"/>
                </a:endParaRPr>
              </a:p>
            </p:txBody>
          </p:sp>
          <p:sp>
            <p:nvSpPr>
              <p:cNvPr id="8" name="TextBox 40"/>
              <p:cNvSpPr txBox="1"/>
              <p:nvPr>
                <p:custDataLst>
                  <p:tags r:id="rId16"/>
                </p:custDataLst>
              </p:nvPr>
            </p:nvSpPr>
            <p:spPr>
              <a:xfrm>
                <a:off x="4865129" y="2880935"/>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Background of Project</a:t>
                </a:r>
              </a:p>
            </p:txBody>
          </p:sp>
        </p:grpSp>
        <p:sp>
          <p:nvSpPr>
            <p:cNvPr id="10" name="TextBox 40"/>
            <p:cNvSpPr txBox="1"/>
            <p:nvPr>
              <p:custDataLst>
                <p:tags r:id="rId13"/>
              </p:custDataLst>
            </p:nvPr>
          </p:nvSpPr>
          <p:spPr>
            <a:xfrm>
              <a:off x="5447134" y="1124744"/>
              <a:ext cx="1008906" cy="830997"/>
            </a:xfrm>
            <a:prstGeom prst="rect">
              <a:avLst/>
            </a:prstGeom>
            <a:noFill/>
          </p:spPr>
          <p:txBody>
            <a:bodyPr wrap="square" rtlCol="0">
              <a:spAutoFit/>
            </a:bodyPr>
            <a:lstStyle/>
            <a:p>
              <a:pPr algn="ctr"/>
              <a:r>
                <a:rPr lang="en-US" altLang="zh-CN" sz="4800" dirty="0">
                  <a:solidFill>
                    <a:srgbClr val="194579"/>
                  </a:solidFill>
                  <a:latin typeface="微软雅黑" panose="020B0503020204020204" charset="-122"/>
                  <a:ea typeface="微软雅黑" panose="020B0503020204020204" charset="-122"/>
                  <a:sym typeface="微软雅黑" panose="020B0503020204020204" charset="-122"/>
                </a:rPr>
                <a:t>01</a:t>
              </a:r>
              <a:endParaRPr lang="zh-CN" altLang="en-US" sz="4800" dirty="0">
                <a:solidFill>
                  <a:srgbClr val="194579"/>
                </a:solidFill>
                <a:latin typeface="微软雅黑" panose="020B0503020204020204" charset="-122"/>
                <a:ea typeface="微软雅黑" panose="020B0503020204020204" charset="-122"/>
                <a:sym typeface="微软雅黑" panose="020B0503020204020204" charset="-122"/>
              </a:endParaRPr>
            </a:p>
          </p:txBody>
        </p:sp>
        <p:sp>
          <p:nvSpPr>
            <p:cNvPr id="11" name="矩形 10"/>
            <p:cNvSpPr/>
            <p:nvPr>
              <p:custDataLst>
                <p:tags r:id="rId14"/>
              </p:custDataLst>
            </p:nvPr>
          </p:nvSpPr>
          <p:spPr>
            <a:xfrm>
              <a:off x="5289297" y="1123752"/>
              <a:ext cx="96362" cy="83099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70C0"/>
                </a:solidFill>
                <a:latin typeface="微软雅黑" panose="020B0503020204020204" charset="-122"/>
                <a:ea typeface="微软雅黑" panose="020B0503020204020204" charset="-122"/>
                <a:sym typeface="微软雅黑" panose="020B0503020204020204" charset="-122"/>
              </a:endParaRPr>
            </a:p>
          </p:txBody>
        </p:sp>
      </p:grpSp>
      <p:grpSp>
        <p:nvGrpSpPr>
          <p:cNvPr id="13" name="组合 12"/>
          <p:cNvGrpSpPr/>
          <p:nvPr>
            <p:custDataLst>
              <p:tags r:id="rId2"/>
            </p:custDataLst>
          </p:nvPr>
        </p:nvGrpSpPr>
        <p:grpSpPr>
          <a:xfrm>
            <a:off x="5161078" y="2335899"/>
            <a:ext cx="6216460" cy="831989"/>
            <a:chOff x="5289297" y="1123752"/>
            <a:chExt cx="6216460" cy="831989"/>
          </a:xfrm>
        </p:grpSpPr>
        <p:grpSp>
          <p:nvGrpSpPr>
            <p:cNvPr id="14" name="组合 13"/>
            <p:cNvGrpSpPr/>
            <p:nvPr/>
          </p:nvGrpSpPr>
          <p:grpSpPr>
            <a:xfrm>
              <a:off x="6599262" y="1124744"/>
              <a:ext cx="4906495" cy="829925"/>
              <a:chOff x="4865129" y="2357715"/>
              <a:chExt cx="4906495" cy="829925"/>
            </a:xfrm>
          </p:grpSpPr>
          <p:sp>
            <p:nvSpPr>
              <p:cNvPr id="17" name="TextBox 40"/>
              <p:cNvSpPr txBox="1"/>
              <p:nvPr>
                <p:custDataLst>
                  <p:tags r:id="rId11"/>
                </p:custDataLst>
              </p:nvPr>
            </p:nvSpPr>
            <p:spPr>
              <a:xfrm>
                <a:off x="4870844" y="2357715"/>
                <a:ext cx="3994150" cy="521970"/>
              </a:xfrm>
              <a:prstGeom prst="rect">
                <a:avLst/>
              </a:prstGeom>
              <a:noFill/>
            </p:spPr>
            <p:txBody>
              <a:bodyPr wrap="square" rtlCol="0">
                <a:spAutoFit/>
              </a:bodyPr>
              <a:lstStyle/>
              <a:p>
                <a:r>
                  <a:rPr lang="zh-CN" altLang="en-US" sz="2800" dirty="0">
                    <a:solidFill>
                      <a:srgbClr val="194579"/>
                    </a:solidFill>
                    <a:latin typeface="微软雅黑" panose="020B0503020204020204" charset="-122"/>
                    <a:ea typeface="微软雅黑" panose="020B0503020204020204" charset="-122"/>
                    <a:sym typeface="微软雅黑" panose="020B0503020204020204" charset="-122"/>
                  </a:rPr>
                  <a:t>模型演进与实验分析</a:t>
                </a:r>
              </a:p>
            </p:txBody>
          </p:sp>
          <p:sp>
            <p:nvSpPr>
              <p:cNvPr id="18" name="TextBox 40"/>
              <p:cNvSpPr txBox="1"/>
              <p:nvPr>
                <p:custDataLst>
                  <p:tags r:id="rId12"/>
                </p:custDataLst>
              </p:nvPr>
            </p:nvSpPr>
            <p:spPr>
              <a:xfrm>
                <a:off x="4865129" y="2880935"/>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Model Evolution and Experimental Analysis</a:t>
                </a:r>
              </a:p>
            </p:txBody>
          </p:sp>
        </p:grpSp>
        <p:sp>
          <p:nvSpPr>
            <p:cNvPr id="15" name="TextBox 40"/>
            <p:cNvSpPr txBox="1"/>
            <p:nvPr>
              <p:custDataLst>
                <p:tags r:id="rId9"/>
              </p:custDataLst>
            </p:nvPr>
          </p:nvSpPr>
          <p:spPr>
            <a:xfrm>
              <a:off x="5447134" y="1124744"/>
              <a:ext cx="1008906" cy="830997"/>
            </a:xfrm>
            <a:prstGeom prst="rect">
              <a:avLst/>
            </a:prstGeom>
            <a:noFill/>
          </p:spPr>
          <p:txBody>
            <a:bodyPr wrap="square" rtlCol="0">
              <a:spAutoFit/>
            </a:bodyPr>
            <a:lstStyle/>
            <a:p>
              <a:pPr algn="ctr"/>
              <a:r>
                <a:rPr lang="en-US" altLang="zh-CN" sz="4800" dirty="0">
                  <a:solidFill>
                    <a:srgbClr val="194579"/>
                  </a:solidFill>
                  <a:latin typeface="微软雅黑" panose="020B0503020204020204" charset="-122"/>
                  <a:ea typeface="微软雅黑" panose="020B0503020204020204" charset="-122"/>
                  <a:sym typeface="微软雅黑" panose="020B0503020204020204" charset="-122"/>
                </a:rPr>
                <a:t>02</a:t>
              </a:r>
              <a:endParaRPr lang="zh-CN" altLang="en-US" sz="4800" dirty="0">
                <a:solidFill>
                  <a:srgbClr val="194579"/>
                </a:solidFill>
                <a:latin typeface="微软雅黑" panose="020B0503020204020204" charset="-122"/>
                <a:ea typeface="微软雅黑" panose="020B0503020204020204" charset="-122"/>
                <a:sym typeface="微软雅黑" panose="020B0503020204020204" charset="-122"/>
              </a:endParaRPr>
            </a:p>
          </p:txBody>
        </p:sp>
        <p:sp>
          <p:nvSpPr>
            <p:cNvPr id="16" name="矩形 15"/>
            <p:cNvSpPr/>
            <p:nvPr>
              <p:custDataLst>
                <p:tags r:id="rId10"/>
              </p:custDataLst>
            </p:nvPr>
          </p:nvSpPr>
          <p:spPr>
            <a:xfrm>
              <a:off x="5289297" y="1123752"/>
              <a:ext cx="96362" cy="83099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charset="-122"/>
                <a:ea typeface="微软雅黑" panose="020B0503020204020204" charset="-122"/>
                <a:sym typeface="微软雅黑" panose="020B0503020204020204" charset="-122"/>
              </a:endParaRPr>
            </a:p>
          </p:txBody>
        </p:sp>
      </p:grpSp>
      <p:grpSp>
        <p:nvGrpSpPr>
          <p:cNvPr id="19" name="组合 18"/>
          <p:cNvGrpSpPr/>
          <p:nvPr>
            <p:custDataLst>
              <p:tags r:id="rId3"/>
            </p:custDataLst>
          </p:nvPr>
        </p:nvGrpSpPr>
        <p:grpSpPr>
          <a:xfrm>
            <a:off x="5159102" y="3690114"/>
            <a:ext cx="6216460" cy="831989"/>
            <a:chOff x="5289297" y="1123752"/>
            <a:chExt cx="6216460" cy="831989"/>
          </a:xfrm>
        </p:grpSpPr>
        <p:grpSp>
          <p:nvGrpSpPr>
            <p:cNvPr id="20" name="组合 19"/>
            <p:cNvGrpSpPr/>
            <p:nvPr/>
          </p:nvGrpSpPr>
          <p:grpSpPr>
            <a:xfrm>
              <a:off x="6599262" y="1124744"/>
              <a:ext cx="4906495" cy="829925"/>
              <a:chOff x="4865129" y="2357715"/>
              <a:chExt cx="4906495" cy="829925"/>
            </a:xfrm>
          </p:grpSpPr>
          <p:sp>
            <p:nvSpPr>
              <p:cNvPr id="23" name="TextBox 40"/>
              <p:cNvSpPr txBox="1"/>
              <p:nvPr>
                <p:custDataLst>
                  <p:tags r:id="rId7"/>
                </p:custDataLst>
              </p:nvPr>
            </p:nvSpPr>
            <p:spPr>
              <a:xfrm>
                <a:off x="4871071" y="2357715"/>
                <a:ext cx="2714860" cy="521970"/>
              </a:xfrm>
              <a:prstGeom prst="rect">
                <a:avLst/>
              </a:prstGeom>
              <a:noFill/>
            </p:spPr>
            <p:txBody>
              <a:bodyPr wrap="square" rtlCol="0">
                <a:spAutoFit/>
              </a:bodyPr>
              <a:lstStyle/>
              <a:p>
                <a:r>
                  <a:rPr lang="zh-CN" altLang="en-US" sz="2800" dirty="0">
                    <a:solidFill>
                      <a:srgbClr val="194579"/>
                    </a:solidFill>
                    <a:latin typeface="微软雅黑" panose="020B0503020204020204" charset="-122"/>
                    <a:ea typeface="微软雅黑" panose="020B0503020204020204" charset="-122"/>
                    <a:sym typeface="微软雅黑" panose="020B0503020204020204" charset="-122"/>
                  </a:rPr>
                  <a:t>项目总结</a:t>
                </a:r>
              </a:p>
            </p:txBody>
          </p:sp>
          <p:sp>
            <p:nvSpPr>
              <p:cNvPr id="24" name="TextBox 40"/>
              <p:cNvSpPr txBox="1"/>
              <p:nvPr>
                <p:custDataLst>
                  <p:tags r:id="rId8"/>
                </p:custDataLst>
              </p:nvPr>
            </p:nvSpPr>
            <p:spPr>
              <a:xfrm>
                <a:off x="4865129" y="2880935"/>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Summary of Project</a:t>
                </a:r>
              </a:p>
            </p:txBody>
          </p:sp>
        </p:grpSp>
        <p:sp>
          <p:nvSpPr>
            <p:cNvPr id="21" name="TextBox 40"/>
            <p:cNvSpPr txBox="1"/>
            <p:nvPr>
              <p:custDataLst>
                <p:tags r:id="rId5"/>
              </p:custDataLst>
            </p:nvPr>
          </p:nvSpPr>
          <p:spPr>
            <a:xfrm>
              <a:off x="5447134" y="1124744"/>
              <a:ext cx="1008906" cy="830997"/>
            </a:xfrm>
            <a:prstGeom prst="rect">
              <a:avLst/>
            </a:prstGeom>
            <a:noFill/>
          </p:spPr>
          <p:txBody>
            <a:bodyPr wrap="square" rtlCol="0">
              <a:spAutoFit/>
            </a:bodyPr>
            <a:lstStyle/>
            <a:p>
              <a:pPr algn="ctr"/>
              <a:r>
                <a:rPr lang="en-US" altLang="zh-CN" sz="4800" dirty="0">
                  <a:solidFill>
                    <a:srgbClr val="194579"/>
                  </a:solidFill>
                  <a:latin typeface="微软雅黑" panose="020B0503020204020204" charset="-122"/>
                  <a:ea typeface="微软雅黑" panose="020B0503020204020204" charset="-122"/>
                  <a:sym typeface="微软雅黑" panose="020B0503020204020204" charset="-122"/>
                </a:rPr>
                <a:t>03</a:t>
              </a:r>
              <a:endParaRPr lang="zh-CN" altLang="en-US" sz="4800" dirty="0">
                <a:solidFill>
                  <a:srgbClr val="194579"/>
                </a:solidFill>
                <a:latin typeface="微软雅黑" panose="020B0503020204020204" charset="-122"/>
                <a:ea typeface="微软雅黑" panose="020B0503020204020204" charset="-122"/>
                <a:sym typeface="微软雅黑" panose="020B0503020204020204" charset="-122"/>
              </a:endParaRPr>
            </a:p>
          </p:txBody>
        </p:sp>
        <p:sp>
          <p:nvSpPr>
            <p:cNvPr id="22" name="矩形 21"/>
            <p:cNvSpPr/>
            <p:nvPr>
              <p:custDataLst>
                <p:tags r:id="rId6"/>
              </p:custDataLst>
            </p:nvPr>
          </p:nvSpPr>
          <p:spPr>
            <a:xfrm>
              <a:off x="5289297" y="1123752"/>
              <a:ext cx="96362" cy="83099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charset="-122"/>
                <a:ea typeface="微软雅黑" panose="020B0503020204020204" charset="-122"/>
                <a:sym typeface="微软雅黑" panose="020B0503020204020204" charset="-122"/>
              </a:endParaRPr>
            </a:p>
          </p:txBody>
        </p:sp>
      </p:grpSp>
      <p:sp>
        <p:nvSpPr>
          <p:cNvPr id="6" name="TextBox 40"/>
          <p:cNvSpPr txBox="1"/>
          <p:nvPr>
            <p:custDataLst>
              <p:tags r:id="rId4"/>
            </p:custDataLst>
          </p:nvPr>
        </p:nvSpPr>
        <p:spPr>
          <a:xfrm>
            <a:off x="6476985" y="981166"/>
            <a:ext cx="2714860" cy="521970"/>
          </a:xfrm>
          <a:prstGeom prst="rect">
            <a:avLst/>
          </a:prstGeom>
          <a:noFill/>
        </p:spPr>
        <p:txBody>
          <a:bodyPr wrap="square" rtlCol="0">
            <a:spAutoFit/>
          </a:bodyPr>
          <a:lstStyle/>
          <a:p>
            <a:r>
              <a:rPr lang="zh-CN" altLang="en-US" sz="2800" dirty="0">
                <a:solidFill>
                  <a:srgbClr val="194579"/>
                </a:solidFill>
                <a:latin typeface="微软雅黑" panose="020B0503020204020204" charset="-122"/>
                <a:ea typeface="微软雅黑" panose="020B0503020204020204" charset="-122"/>
                <a:sym typeface="微软雅黑" panose="020B0503020204020204" charset="-122"/>
              </a:rPr>
              <a:t>项目背景</a:t>
            </a: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1+#ppt_w/2"/>
                                          </p:val>
                                        </p:tav>
                                        <p:tav tm="100000">
                                          <p:val>
                                            <p:strVal val="#ppt_x"/>
                                          </p:val>
                                        </p:tav>
                                      </p:tavLst>
                                    </p:anim>
                                    <p:anim calcmode="lin" valueType="num">
                                      <p:cBhvr additive="base">
                                        <p:cTn id="8" dur="75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750" fill="hold"/>
                                        <p:tgtEl>
                                          <p:spTgt spid="13"/>
                                        </p:tgtEl>
                                        <p:attrNameLst>
                                          <p:attrName>ppt_x</p:attrName>
                                        </p:attrNameLst>
                                      </p:cBhvr>
                                      <p:tavLst>
                                        <p:tav tm="0">
                                          <p:val>
                                            <p:strVal val="1+#ppt_w/2"/>
                                          </p:val>
                                        </p:tav>
                                        <p:tav tm="100000">
                                          <p:val>
                                            <p:strVal val="#ppt_x"/>
                                          </p:val>
                                        </p:tav>
                                      </p:tavLst>
                                    </p:anim>
                                    <p:anim calcmode="lin" valueType="num">
                                      <p:cBhvr additive="base">
                                        <p:cTn id="13" dur="750" fill="hold"/>
                                        <p:tgtEl>
                                          <p:spTgt spid="13"/>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2"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750" fill="hold"/>
                                        <p:tgtEl>
                                          <p:spTgt spid="19"/>
                                        </p:tgtEl>
                                        <p:attrNameLst>
                                          <p:attrName>ppt_x</p:attrName>
                                        </p:attrNameLst>
                                      </p:cBhvr>
                                      <p:tavLst>
                                        <p:tav tm="0">
                                          <p:val>
                                            <p:strVal val="1+#ppt_w/2"/>
                                          </p:val>
                                        </p:tav>
                                        <p:tav tm="100000">
                                          <p:val>
                                            <p:strVal val="#ppt_x"/>
                                          </p:val>
                                        </p:tav>
                                      </p:tavLst>
                                    </p:anim>
                                    <p:anim calcmode="lin" valueType="num">
                                      <p:cBhvr additive="base">
                                        <p:cTn id="18" dur="75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组合 14"/>
          <p:cNvGrpSpPr/>
          <p:nvPr/>
        </p:nvGrpSpPr>
        <p:grpSpPr>
          <a:xfrm>
            <a:off x="-8121" y="1376772"/>
            <a:ext cx="6096000" cy="4104456"/>
            <a:chOff x="-8121" y="1376772"/>
            <a:chExt cx="6096000" cy="4104456"/>
          </a:xfrm>
        </p:grpSpPr>
        <p:sp>
          <p:nvSpPr>
            <p:cNvPr id="2" name="矩形 1"/>
            <p:cNvSpPr/>
            <p:nvPr/>
          </p:nvSpPr>
          <p:spPr>
            <a:xfrm>
              <a:off x="-8121" y="1376772"/>
              <a:ext cx="6096000" cy="410445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 name="TextBox 40"/>
            <p:cNvSpPr txBox="1"/>
            <p:nvPr/>
          </p:nvSpPr>
          <p:spPr>
            <a:xfrm>
              <a:off x="1774503" y="2565539"/>
              <a:ext cx="2428374" cy="521970"/>
            </a:xfrm>
            <a:prstGeom prst="rect">
              <a:avLst/>
            </a:prstGeom>
            <a:noFill/>
          </p:spPr>
          <p:txBody>
            <a:bodyPr wrap="square" rtlCol="0">
              <a:spAutoFit/>
            </a:bodyPr>
            <a:lstStyle/>
            <a:p>
              <a:pPr algn="ctr"/>
              <a:r>
                <a:rPr lang="en-US" altLang="zh-CN" sz="2800" dirty="0">
                  <a:solidFill>
                    <a:schemeClr val="bg1"/>
                  </a:solidFill>
                  <a:latin typeface="微软雅黑" panose="020B0503020204020204" charset="-122"/>
                  <a:ea typeface="微软雅黑" panose="020B0503020204020204" charset="-122"/>
                  <a:sym typeface="微软雅黑" panose="020B0503020204020204" charset="-122"/>
                </a:rPr>
                <a:t>Part 1</a:t>
              </a:r>
            </a:p>
          </p:txBody>
        </p:sp>
        <p:grpSp>
          <p:nvGrpSpPr>
            <p:cNvPr id="13" name="组合 12"/>
            <p:cNvGrpSpPr/>
            <p:nvPr/>
          </p:nvGrpSpPr>
          <p:grpSpPr>
            <a:xfrm>
              <a:off x="683590" y="3331677"/>
              <a:ext cx="4510682" cy="876399"/>
              <a:chOff x="784538" y="3488705"/>
              <a:chExt cx="4510682" cy="876399"/>
            </a:xfrm>
          </p:grpSpPr>
          <p:sp>
            <p:nvSpPr>
              <p:cNvPr id="5" name="TextBox 40"/>
              <p:cNvSpPr txBox="1"/>
              <p:nvPr/>
            </p:nvSpPr>
            <p:spPr>
              <a:xfrm>
                <a:off x="784538" y="3576790"/>
                <a:ext cx="4510682" cy="706755"/>
              </a:xfrm>
              <a:prstGeom prst="rect">
                <a:avLst/>
              </a:prstGeom>
              <a:noFill/>
            </p:spPr>
            <p:txBody>
              <a:bodyPr wrap="square" rtlCol="0">
                <a:spAutoFit/>
              </a:bodyPr>
              <a:lstStyle/>
              <a:p>
                <a:pPr algn="ctr"/>
                <a:r>
                  <a:rPr lang="zh-CN" altLang="en-US" sz="4000" dirty="0">
                    <a:solidFill>
                      <a:schemeClr val="bg1"/>
                    </a:solidFill>
                    <a:latin typeface="微软雅黑" panose="020B0503020204020204" charset="-122"/>
                    <a:ea typeface="微软雅黑" panose="020B0503020204020204" charset="-122"/>
                    <a:sym typeface="微软雅黑" panose="020B0503020204020204" charset="-122"/>
                  </a:rPr>
                  <a:t>项目背景</a:t>
                </a:r>
              </a:p>
            </p:txBody>
          </p:sp>
          <p:cxnSp>
            <p:nvCxnSpPr>
              <p:cNvPr id="11" name="直接连接符 10"/>
              <p:cNvCxnSpPr/>
              <p:nvPr/>
            </p:nvCxnSpPr>
            <p:spPr>
              <a:xfrm>
                <a:off x="1203675" y="4365104"/>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03675" y="3488705"/>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14" name="TextBox 40"/>
          <p:cNvSpPr txBox="1"/>
          <p:nvPr/>
        </p:nvSpPr>
        <p:spPr>
          <a:xfrm>
            <a:off x="6455032" y="1557036"/>
            <a:ext cx="5418943" cy="383095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solidFill>
                  <a:srgbClr val="194579"/>
                </a:solidFill>
                <a:latin typeface="微软雅黑" panose="020B0503020204020204" charset="-122"/>
                <a:ea typeface="微软雅黑" panose="020B0503020204020204" charset="-122"/>
                <a:sym typeface="微软雅黑" panose="020B0503020204020204" charset="-122"/>
              </a:rPr>
              <a:t>深度学习图像分类模型发展脉络</a:t>
            </a:r>
          </a:p>
          <a:p>
            <a:pPr indent="0">
              <a:lnSpc>
                <a:spcPct val="150000"/>
              </a:lnSpc>
              <a:buFont typeface="Wingdings" panose="05000000000000000000" pitchFamily="2" charset="2"/>
              <a:buNone/>
            </a:pP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t>
            </a:r>
          </a:p>
          <a:p>
            <a:pPr indent="0">
              <a:lnSpc>
                <a:spcPct val="150000"/>
              </a:lnSpc>
              <a:buFont typeface="Wingdings" panose="05000000000000000000" pitchFamily="2" charset="2"/>
              <a:buNone/>
            </a:pPr>
            <a:endParaRPr lang="en-US" altLang="zh-CN" dirty="0">
              <a:solidFill>
                <a:srgbClr val="194579"/>
              </a:solidFill>
              <a:latin typeface="微软雅黑" panose="020B0503020204020204" charset="-122"/>
              <a:ea typeface="微软雅黑" panose="020B0503020204020204" charset="-122"/>
              <a:sym typeface="微软雅黑" panose="020B0503020204020204" charset="-122"/>
            </a:endParaRPr>
          </a:p>
          <a:p>
            <a:pPr marL="285750" indent="-285750">
              <a:lnSpc>
                <a:spcPct val="150000"/>
              </a:lnSpc>
              <a:buFont typeface="Wingdings" panose="05000000000000000000" pitchFamily="2" charset="2"/>
              <a:buChar char="l"/>
            </a:pPr>
            <a:endParaRPr lang="en-US" altLang="zh-CN" dirty="0">
              <a:solidFill>
                <a:srgbClr val="194579"/>
              </a:solidFill>
              <a:latin typeface="微软雅黑" panose="020B0503020204020204" charset="-122"/>
              <a:ea typeface="微软雅黑" panose="020B0503020204020204" charset="-122"/>
              <a:sym typeface="微软雅黑" panose="020B0503020204020204" charset="-122"/>
            </a:endParaRPr>
          </a:p>
          <a:p>
            <a:pPr marL="285750" indent="-285750">
              <a:lnSpc>
                <a:spcPct val="150000"/>
              </a:lnSpc>
              <a:buFont typeface="Wingdings" panose="05000000000000000000" pitchFamily="2" charset="2"/>
              <a:buChar char="l"/>
            </a:pPr>
            <a:r>
              <a:rPr lang="zh-CN" altLang="en-US" dirty="0">
                <a:solidFill>
                  <a:srgbClr val="194579"/>
                </a:solidFill>
                <a:latin typeface="微软雅黑" panose="020B0503020204020204" charset="-122"/>
                <a:ea typeface="微软雅黑" panose="020B0503020204020204" charset="-122"/>
                <a:sym typeface="微软雅黑" panose="020B0503020204020204" charset="-122"/>
              </a:rPr>
              <a:t>数据集介绍</a:t>
            </a:r>
            <a:r>
              <a:rPr lang="en-US" altLang="zh-CN" dirty="0">
                <a:solidFill>
                  <a:srgbClr val="194579"/>
                </a:solidFill>
                <a:latin typeface="微软雅黑" panose="020B0503020204020204" charset="-122"/>
                <a:ea typeface="微软雅黑" panose="020B0503020204020204" charset="-122"/>
                <a:sym typeface="微软雅黑" panose="020B0503020204020204" charset="-122"/>
              </a:rPr>
              <a:t> &amp; </a:t>
            </a:r>
            <a:r>
              <a:rPr lang="zh-CN" altLang="en-US" dirty="0">
                <a:solidFill>
                  <a:srgbClr val="194579"/>
                </a:solidFill>
                <a:latin typeface="微软雅黑" panose="020B0503020204020204" charset="-122"/>
                <a:ea typeface="微软雅黑" panose="020B0503020204020204" charset="-122"/>
                <a:sym typeface="微软雅黑" panose="020B0503020204020204" charset="-122"/>
              </a:rPr>
              <a:t>问题动机</a:t>
            </a:r>
            <a:endParaRPr lang="en-US" altLang="zh-CN" dirty="0">
              <a:solidFill>
                <a:srgbClr val="194579"/>
              </a:solidFill>
              <a:latin typeface="微软雅黑" panose="020B0503020204020204" charset="-122"/>
              <a:ea typeface="微软雅黑" panose="020B0503020204020204" charset="-122"/>
              <a:sym typeface="微软雅黑" panose="020B0503020204020204" charset="-122"/>
            </a:endParaRPr>
          </a:p>
          <a:p>
            <a:pPr marL="285750" indent="-285750">
              <a:lnSpc>
                <a:spcPct val="150000"/>
              </a:lnSpc>
              <a:buFont typeface="Wingdings" panose="05000000000000000000" pitchFamily="2" charset="2"/>
              <a:buChar char="l"/>
            </a:pPr>
            <a:endParaRPr lang="en-US" altLang="zh-CN" dirty="0">
              <a:solidFill>
                <a:srgbClr val="194579"/>
              </a:solidFill>
              <a:latin typeface="微软雅黑" panose="020B0503020204020204" charset="-122"/>
              <a:ea typeface="微软雅黑" panose="020B0503020204020204" charset="-122"/>
              <a:sym typeface="微软雅黑" panose="020B0503020204020204" charset="-122"/>
            </a:endParaRPr>
          </a:p>
          <a:p>
            <a:pPr indent="0">
              <a:lnSpc>
                <a:spcPct val="150000"/>
              </a:lnSpc>
              <a:buFont typeface="Wingdings" panose="05000000000000000000" pitchFamily="2" charset="2"/>
              <a:buNone/>
            </a:pPr>
            <a:endParaRPr lang="zh-CN" altLang="en-US" dirty="0">
              <a:solidFill>
                <a:srgbClr val="194579"/>
              </a:solidFill>
              <a:latin typeface="微软雅黑" panose="020B0503020204020204" charset="-122"/>
              <a:ea typeface="微软雅黑" panose="020B0503020204020204" charset="-122"/>
              <a:sym typeface="微软雅黑" panose="020B0503020204020204" charset="-122"/>
            </a:endParaRPr>
          </a:p>
          <a:p>
            <a:pPr marL="285750" indent="-285750">
              <a:lnSpc>
                <a:spcPct val="150000"/>
              </a:lnSpc>
              <a:buFont typeface="Wingdings" panose="05000000000000000000" pitchFamily="2" charset="2"/>
              <a:buChar char="l"/>
            </a:pPr>
            <a:endParaRPr lang="zh-CN" altLang="en-US" dirty="0">
              <a:solidFill>
                <a:srgbClr val="194579"/>
              </a:solidFill>
              <a:latin typeface="微软雅黑" panose="020B0503020204020204" charset="-122"/>
              <a:ea typeface="微软雅黑" panose="020B0503020204020204" charset="-122"/>
              <a:sym typeface="微软雅黑" panose="020B0503020204020204" charset="-122"/>
            </a:endParaRPr>
          </a:p>
          <a:p>
            <a:pPr indent="0">
              <a:lnSpc>
                <a:spcPct val="150000"/>
              </a:lnSpc>
              <a:buFont typeface="Wingdings" panose="05000000000000000000" pitchFamily="2" charset="2"/>
              <a:buNone/>
            </a:pPr>
            <a:endParaRPr lang="zh-CN" altLang="en-US" dirty="0">
              <a:solidFill>
                <a:srgbClr val="194579"/>
              </a:solidFill>
              <a:latin typeface="微软雅黑" panose="020B0503020204020204" charset="-122"/>
              <a:ea typeface="微软雅黑" panose="020B0503020204020204" charset="-122"/>
              <a:sym typeface="微软雅黑" panose="020B0503020204020204" charset="-122"/>
            </a:endParaRPr>
          </a:p>
        </p:txBody>
      </p:sp>
      <p:sp>
        <p:nvSpPr>
          <p:cNvPr id="10" name="TextBox 40"/>
          <p:cNvSpPr txBox="1"/>
          <p:nvPr>
            <p:custDataLst>
              <p:tags r:id="rId1"/>
            </p:custDataLst>
          </p:nvPr>
        </p:nvSpPr>
        <p:spPr>
          <a:xfrm>
            <a:off x="6815455" y="2132965"/>
            <a:ext cx="5306060"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The development history of DL image classification models</a:t>
            </a:r>
          </a:p>
        </p:txBody>
      </p:sp>
      <p:sp>
        <p:nvSpPr>
          <p:cNvPr id="17" name="TextBox 40"/>
          <p:cNvSpPr txBox="1"/>
          <p:nvPr>
            <p:custDataLst>
              <p:tags r:id="rId2"/>
            </p:custDataLst>
          </p:nvPr>
        </p:nvSpPr>
        <p:spPr>
          <a:xfrm>
            <a:off x="6815455" y="3716655"/>
            <a:ext cx="5438140"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Dataset Introduction and Problem Motivation</a:t>
            </a: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50"/>
                                        <p:tgtEl>
                                          <p:spTgt spid="14"/>
                                        </p:tgtEl>
                                      </p:cBhvr>
                                    </p:animEffect>
                                    <p:anim calcmode="lin" valueType="num">
                                      <p:cBhvr>
                                        <p:cTn id="12" dur="750" fill="hold"/>
                                        <p:tgtEl>
                                          <p:spTgt spid="14"/>
                                        </p:tgtEl>
                                        <p:attrNameLst>
                                          <p:attrName>ppt_x</p:attrName>
                                        </p:attrNameLst>
                                      </p:cBhvr>
                                      <p:tavLst>
                                        <p:tav tm="0">
                                          <p:val>
                                            <p:strVal val="#ppt_x"/>
                                          </p:val>
                                        </p:tav>
                                        <p:tav tm="100000">
                                          <p:val>
                                            <p:strVal val="#ppt_x"/>
                                          </p:val>
                                        </p:tav>
                                      </p:tavLst>
                                    </p:anim>
                                    <p:anim calcmode="lin" valueType="num">
                                      <p:cBhvr>
                                        <p:cTn id="13"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60" name="组合 59"/>
          <p:cNvGrpSpPr/>
          <p:nvPr/>
        </p:nvGrpSpPr>
        <p:grpSpPr>
          <a:xfrm>
            <a:off x="838622" y="620688"/>
            <a:ext cx="9638665" cy="607201"/>
            <a:chOff x="550590" y="536707"/>
            <a:chExt cx="9638665" cy="607201"/>
          </a:xfrm>
        </p:grpSpPr>
        <p:sp>
          <p:nvSpPr>
            <p:cNvPr id="61" name="TextBox 40"/>
            <p:cNvSpPr txBox="1"/>
            <p:nvPr/>
          </p:nvSpPr>
          <p:spPr>
            <a:xfrm>
              <a:off x="1270680" y="609732"/>
              <a:ext cx="8918575" cy="46037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Part1-&gt; </a:t>
              </a:r>
              <a:r>
                <a:rPr lang="zh-CN" altLang="en-US" sz="2400" dirty="0">
                  <a:solidFill>
                    <a:srgbClr val="194579"/>
                  </a:solidFill>
                  <a:latin typeface="微软雅黑" panose="020B0503020204020204" charset="-122"/>
                  <a:ea typeface="微软雅黑" panose="020B0503020204020204" charset="-122"/>
                  <a:sym typeface="微软雅黑" panose="020B0503020204020204" charset="-122"/>
                </a:rPr>
                <a:t>图像分类模型的发展脉络</a:t>
              </a:r>
            </a:p>
          </p:txBody>
        </p:sp>
        <p:pic>
          <p:nvPicPr>
            <p:cNvPr id="62" name="图片 61"/>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8" name="椭圆 7"/>
          <p:cNvSpPr/>
          <p:nvPr>
            <p:custDataLst>
              <p:tags r:id="rId1"/>
            </p:custDataLst>
          </p:nvPr>
        </p:nvSpPr>
        <p:spPr>
          <a:xfrm>
            <a:off x="2524760" y="4830445"/>
            <a:ext cx="7142480" cy="1167130"/>
          </a:xfrm>
          <a:prstGeom prst="ellipse">
            <a:avLst/>
          </a:prstGeom>
          <a:gradFill>
            <a:gsLst>
              <a:gs pos="0">
                <a:schemeClr val="accent1">
                  <a:alpha val="0"/>
                </a:schemeClr>
              </a:gs>
              <a:gs pos="100000">
                <a:schemeClr val="accent1">
                  <a:alpha val="40000"/>
                </a:schemeClr>
              </a:gs>
            </a:gsLst>
            <a:lin ang="54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椭圆 8"/>
          <p:cNvSpPr/>
          <p:nvPr>
            <p:custDataLst>
              <p:tags r:id="rId2"/>
            </p:custDataLst>
          </p:nvPr>
        </p:nvSpPr>
        <p:spPr>
          <a:xfrm>
            <a:off x="1798320" y="4831715"/>
            <a:ext cx="8595360" cy="1358900"/>
          </a:xfrm>
          <a:prstGeom prst="ellipse">
            <a:avLst/>
          </a:prstGeom>
          <a:noFill/>
          <a:ln>
            <a:gradFill>
              <a:gsLst>
                <a:gs pos="0">
                  <a:schemeClr val="accent1">
                    <a:alpha val="0"/>
                  </a:schemeClr>
                </a:gs>
                <a:gs pos="100000">
                  <a:schemeClr val="accent1">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任意多边形: 形状 20"/>
          <p:cNvSpPr/>
          <p:nvPr>
            <p:custDataLst>
              <p:tags r:id="rId3"/>
            </p:custDataLst>
          </p:nvPr>
        </p:nvSpPr>
        <p:spPr>
          <a:xfrm>
            <a:off x="1910080" y="5715000"/>
            <a:ext cx="1346200" cy="490855"/>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1">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21"/>
          <p:cNvSpPr/>
          <p:nvPr>
            <p:custDataLst>
              <p:tags r:id="rId4"/>
            </p:custDataLst>
          </p:nvPr>
        </p:nvSpPr>
        <p:spPr>
          <a:xfrm>
            <a:off x="8324215" y="5679440"/>
            <a:ext cx="2500630" cy="609600"/>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1">
                  <a:lumMod val="60000"/>
                  <a:lumOff val="40000"/>
                  <a:alpha val="0"/>
                </a:schemeClr>
              </a:gs>
              <a:gs pos="100000">
                <a:schemeClr val="accent1">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t>   </a:t>
            </a:r>
          </a:p>
        </p:txBody>
      </p:sp>
      <p:sp>
        <p:nvSpPr>
          <p:cNvPr id="18" name="椭圆 17"/>
          <p:cNvSpPr/>
          <p:nvPr>
            <p:custDataLst>
              <p:tags r:id="rId5"/>
            </p:custDataLst>
          </p:nvPr>
        </p:nvSpPr>
        <p:spPr>
          <a:xfrm>
            <a:off x="1144905" y="4830445"/>
            <a:ext cx="9902190" cy="1548130"/>
          </a:xfrm>
          <a:prstGeom prst="ellipse">
            <a:avLst/>
          </a:prstGeom>
          <a:noFill/>
          <a:ln>
            <a:gradFill>
              <a:gsLst>
                <a:gs pos="66000">
                  <a:srgbClr val="376FFF">
                    <a:alpha val="0"/>
                  </a:srgbClr>
                </a:gs>
                <a:gs pos="14000">
                  <a:schemeClr val="accent1">
                    <a:alpha val="0"/>
                  </a:schemeClr>
                </a:gs>
                <a:gs pos="0">
                  <a:srgbClr val="376FFF">
                    <a:alpha val="16000"/>
                  </a:srgbClr>
                </a:gs>
                <a:gs pos="100000">
                  <a:schemeClr val="accent1">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42"/>
          <p:cNvSpPr/>
          <p:nvPr>
            <p:custDataLst>
              <p:tags r:id="rId6"/>
            </p:custDataLst>
          </p:nvPr>
        </p:nvSpPr>
        <p:spPr>
          <a:xfrm>
            <a:off x="1630680" y="1845315"/>
            <a:ext cx="8620452" cy="3413448"/>
          </a:xfrm>
          <a:custGeom>
            <a:avLst/>
            <a:gdLst>
              <a:gd name="connsiteX0" fmla="*/ 12201888 w 12201888"/>
              <a:gd name="connsiteY0" fmla="*/ 0 h 5242613"/>
              <a:gd name="connsiteX1" fmla="*/ 0 w 12201888"/>
              <a:gd name="connsiteY1" fmla="*/ 3507449 h 5242613"/>
              <a:gd name="connsiteX2" fmla="*/ 0 w 12201888"/>
              <a:gd name="connsiteY2" fmla="*/ 5242614 h 5242613"/>
              <a:gd name="connsiteX3" fmla="*/ 12201766 w 12201888"/>
              <a:gd name="connsiteY3" fmla="*/ 5242614 h 5242613"/>
              <a:gd name="connsiteX4" fmla="*/ 12201766 w 12201888"/>
              <a:gd name="connsiteY4" fmla="*/ 0 h 5242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888" h="5242613">
                <a:moveTo>
                  <a:pt x="12201888" y="0"/>
                </a:moveTo>
                <a:cubicBezTo>
                  <a:pt x="6100944" y="0"/>
                  <a:pt x="6100944" y="3507449"/>
                  <a:pt x="0" y="3507449"/>
                </a:cubicBezTo>
                <a:lnTo>
                  <a:pt x="0" y="5242614"/>
                </a:lnTo>
                <a:lnTo>
                  <a:pt x="12201766" y="5242614"/>
                </a:lnTo>
                <a:lnTo>
                  <a:pt x="12201766" y="0"/>
                </a:lnTo>
                <a:close/>
              </a:path>
            </a:pathLst>
          </a:custGeom>
          <a:gradFill flip="none" rotWithShape="1">
            <a:gsLst>
              <a:gs pos="0">
                <a:srgbClr val="F84949">
                  <a:lumMod val="35000"/>
                  <a:lumOff val="65000"/>
                  <a:alpha val="45000"/>
                </a:srgbClr>
              </a:gs>
              <a:gs pos="77000">
                <a:srgbClr val="F84949">
                  <a:lumMod val="60000"/>
                  <a:lumOff val="40000"/>
                  <a:alpha val="0"/>
                </a:srgbClr>
              </a:gs>
            </a:gsLst>
            <a:lin ang="4800000" scaled="0"/>
            <a:tileRect/>
          </a:gradFill>
          <a:ln w="31972" cap="flat">
            <a:noFill/>
            <a:prstDash val="solid"/>
            <a:miter/>
          </a:ln>
        </p:spPr>
        <p:txBody>
          <a:bodyPr rtlCol="0" anchor="ctr"/>
          <a:lstStyle/>
          <a:p>
            <a:endParaRPr lang="zh-CN" altLang="en-US"/>
          </a:p>
        </p:txBody>
      </p:sp>
      <p:sp>
        <p:nvSpPr>
          <p:cNvPr id="5" name="椭圆 4"/>
          <p:cNvSpPr/>
          <p:nvPr>
            <p:custDataLst>
              <p:tags r:id="rId7"/>
            </p:custDataLst>
          </p:nvPr>
        </p:nvSpPr>
        <p:spPr>
          <a:xfrm>
            <a:off x="2854797" y="3933864"/>
            <a:ext cx="152601" cy="152601"/>
          </a:xfrm>
          <a:prstGeom prst="ellipse">
            <a:avLst/>
          </a:prstGeom>
          <a:ln w="53975">
            <a:solidFill>
              <a:srgbClr val="FFFFFF"/>
            </a:solidFill>
          </a:ln>
          <a:effectLst>
            <a:outerShdw blurRad="76200" dist="38100" dir="2700000" algn="tl" rotWithShape="0">
              <a:srgbClr val="F84949">
                <a:alpha val="20000"/>
              </a:srgbClr>
            </a:outerShdw>
          </a:effectLst>
        </p:spPr>
        <p:style>
          <a:lnRef idx="2">
            <a:srgbClr val="F84949">
              <a:shade val="15000"/>
            </a:srgbClr>
          </a:lnRef>
          <a:fillRef idx="1">
            <a:srgbClr val="F84949"/>
          </a:fillRef>
          <a:effectRef idx="0">
            <a:srgbClr val="F84949"/>
          </a:effectRef>
          <a:fontRef idx="minor">
            <a:srgbClr val="FFFFFF"/>
          </a:fontRef>
        </p:style>
        <p:txBody>
          <a:bodyPr rtlCol="0" anchor="ctr"/>
          <a:lstStyle/>
          <a:p>
            <a:pPr algn="ctr"/>
            <a:endParaRPr lang="zh-CN" altLang="en-US"/>
          </a:p>
        </p:txBody>
      </p:sp>
      <p:sp>
        <p:nvSpPr>
          <p:cNvPr id="6" name="椭圆 5"/>
          <p:cNvSpPr/>
          <p:nvPr>
            <p:custDataLst>
              <p:tags r:id="rId8"/>
            </p:custDataLst>
          </p:nvPr>
        </p:nvSpPr>
        <p:spPr>
          <a:xfrm>
            <a:off x="4942677" y="3352839"/>
            <a:ext cx="152601" cy="152601"/>
          </a:xfrm>
          <a:prstGeom prst="ellipse">
            <a:avLst/>
          </a:prstGeom>
          <a:ln w="53975">
            <a:solidFill>
              <a:srgbClr val="FFFFFF"/>
            </a:solidFill>
          </a:ln>
          <a:effectLst>
            <a:outerShdw blurRad="76200" dist="38100" dir="2700000" algn="tl" rotWithShape="0">
              <a:srgbClr val="F84949">
                <a:alpha val="20000"/>
              </a:srgbClr>
            </a:outerShdw>
          </a:effectLst>
        </p:spPr>
        <p:style>
          <a:lnRef idx="2">
            <a:srgbClr val="F84949">
              <a:shade val="15000"/>
            </a:srgbClr>
          </a:lnRef>
          <a:fillRef idx="1">
            <a:srgbClr val="F84949"/>
          </a:fillRef>
          <a:effectRef idx="0">
            <a:srgbClr val="F84949"/>
          </a:effectRef>
          <a:fontRef idx="minor">
            <a:srgbClr val="FFFFFF"/>
          </a:fontRef>
        </p:style>
        <p:txBody>
          <a:bodyPr rtlCol="0" anchor="ctr"/>
          <a:lstStyle/>
          <a:p>
            <a:pPr algn="ctr"/>
            <a:endParaRPr lang="zh-CN" altLang="en-US"/>
          </a:p>
        </p:txBody>
      </p:sp>
      <p:sp>
        <p:nvSpPr>
          <p:cNvPr id="7" name="椭圆 6"/>
          <p:cNvSpPr/>
          <p:nvPr>
            <p:custDataLst>
              <p:tags r:id="rId9"/>
            </p:custDataLst>
          </p:nvPr>
        </p:nvSpPr>
        <p:spPr>
          <a:xfrm>
            <a:off x="6814657" y="2493049"/>
            <a:ext cx="152601" cy="152601"/>
          </a:xfrm>
          <a:prstGeom prst="ellipse">
            <a:avLst/>
          </a:prstGeom>
          <a:ln w="53975">
            <a:solidFill>
              <a:srgbClr val="FFFFFF"/>
            </a:solidFill>
          </a:ln>
          <a:effectLst>
            <a:outerShdw blurRad="76200" dist="38100" dir="2700000" algn="tl" rotWithShape="0">
              <a:srgbClr val="F84949">
                <a:alpha val="20000"/>
              </a:srgbClr>
            </a:outerShdw>
          </a:effectLst>
        </p:spPr>
        <p:style>
          <a:lnRef idx="2">
            <a:srgbClr val="F84949">
              <a:shade val="15000"/>
            </a:srgbClr>
          </a:lnRef>
          <a:fillRef idx="1">
            <a:srgbClr val="F84949"/>
          </a:fillRef>
          <a:effectRef idx="0">
            <a:srgbClr val="F84949"/>
          </a:effectRef>
          <a:fontRef idx="minor">
            <a:srgbClr val="FFFFFF"/>
          </a:fontRef>
        </p:style>
        <p:txBody>
          <a:bodyPr rtlCol="0" anchor="ctr"/>
          <a:lstStyle/>
          <a:p>
            <a:pPr algn="ctr"/>
            <a:endParaRPr lang="zh-CN" altLang="en-US"/>
          </a:p>
        </p:txBody>
      </p:sp>
      <p:sp>
        <p:nvSpPr>
          <p:cNvPr id="10" name="椭圆 9"/>
          <p:cNvSpPr/>
          <p:nvPr>
            <p:custDataLst>
              <p:tags r:id="rId10"/>
            </p:custDataLst>
          </p:nvPr>
        </p:nvSpPr>
        <p:spPr>
          <a:xfrm>
            <a:off x="8759027" y="1917104"/>
            <a:ext cx="152601" cy="152601"/>
          </a:xfrm>
          <a:prstGeom prst="ellipse">
            <a:avLst/>
          </a:prstGeom>
          <a:ln w="53975">
            <a:solidFill>
              <a:srgbClr val="FFFFFF"/>
            </a:solidFill>
          </a:ln>
          <a:effectLst>
            <a:outerShdw blurRad="76200" dist="38100" dir="2700000" algn="tl" rotWithShape="0">
              <a:srgbClr val="F84949">
                <a:alpha val="20000"/>
              </a:srgbClr>
            </a:outerShdw>
          </a:effectLst>
        </p:spPr>
        <p:style>
          <a:lnRef idx="2">
            <a:srgbClr val="F84949">
              <a:shade val="15000"/>
            </a:srgbClr>
          </a:lnRef>
          <a:fillRef idx="1">
            <a:srgbClr val="F84949"/>
          </a:fillRef>
          <a:effectRef idx="0">
            <a:srgbClr val="F84949"/>
          </a:effectRef>
          <a:fontRef idx="minor">
            <a:srgbClr val="FFFFFF"/>
          </a:fontRef>
        </p:style>
        <p:txBody>
          <a:bodyPr rtlCol="0" anchor="ctr"/>
          <a:lstStyle/>
          <a:p>
            <a:pPr algn="ctr"/>
            <a:endParaRPr lang="zh-CN" altLang="en-US"/>
          </a:p>
        </p:txBody>
      </p:sp>
      <p:sp>
        <p:nvSpPr>
          <p:cNvPr id="11" name="文本框 10"/>
          <p:cNvSpPr txBox="1"/>
          <p:nvPr>
            <p:custDataLst>
              <p:tags r:id="rId11"/>
            </p:custDataLst>
          </p:nvPr>
        </p:nvSpPr>
        <p:spPr>
          <a:xfrm>
            <a:off x="2273300" y="2291080"/>
            <a:ext cx="1360805" cy="232410"/>
          </a:xfrm>
          <a:prstGeom prst="rect">
            <a:avLst/>
          </a:prstGeom>
          <a:noFill/>
        </p:spPr>
        <p:txBody>
          <a:bodyPr wrap="square" lIns="0" tIns="0" rIns="0" bIns="0" rtlCol="0" anchor="ctr" anchorCtr="0">
            <a:noAutofit/>
          </a:bodyPr>
          <a:lstStyle/>
          <a:p>
            <a:pPr algn="ctr"/>
            <a:r>
              <a:rPr lang="en-US" altLang="zh-CN" sz="2000" b="1" spc="100" dirty="0">
                <a:solidFill>
                  <a:srgbClr val="F84949"/>
                </a:solidFill>
                <a:latin typeface="微软雅黑" panose="020B0503020204020204" charset="-122"/>
                <a:ea typeface="微软雅黑" panose="020B0503020204020204" charset="-122"/>
                <a:cs typeface="微软雅黑" panose="020B0503020204020204" charset="-122"/>
                <a:sym typeface="+mn-ea"/>
              </a:rPr>
              <a:t>CNN</a:t>
            </a:r>
          </a:p>
        </p:txBody>
      </p:sp>
      <p:sp>
        <p:nvSpPr>
          <p:cNvPr id="28" name="文本框 27"/>
          <p:cNvSpPr txBox="1"/>
          <p:nvPr>
            <p:custDataLst>
              <p:tags r:id="rId12"/>
            </p:custDataLst>
          </p:nvPr>
        </p:nvSpPr>
        <p:spPr>
          <a:xfrm>
            <a:off x="1764665" y="2734945"/>
            <a:ext cx="2378075" cy="453390"/>
          </a:xfrm>
          <a:prstGeom prst="rect">
            <a:avLst/>
          </a:prstGeom>
          <a:noFill/>
        </p:spPr>
        <p:txBody>
          <a:bodyPr wrap="square" lIns="0" tIns="0" rIns="0" bIns="0" rtlCol="0" anchor="t" anchorCtr="0">
            <a:noAutofit/>
          </a:bodyPr>
          <a:lstStyle/>
          <a:p>
            <a:pPr marL="285750" indent="-285750" algn="l">
              <a:lnSpc>
                <a:spcPct val="150000"/>
              </a:lnSpc>
              <a:buFont typeface="Wingdings" panose="05000000000000000000" charset="0"/>
              <a:buChar char="l"/>
            </a:pPr>
            <a:r>
              <a:rPr lang="zh-CN" altLang="en-US" sz="1200">
                <a:solidFill>
                  <a:srgbClr val="000000">
                    <a:lumMod val="85000"/>
                    <a:lumOff val="15000"/>
                  </a:srgbClr>
                </a:solidFill>
                <a:latin typeface="微软雅黑" panose="020B0503020204020204" charset="-122"/>
                <a:ea typeface="微软雅黑" panose="020B0503020204020204" charset="-122"/>
              </a:rPr>
              <a:t>局部感受野</a:t>
            </a:r>
            <a:r>
              <a:rPr lang="en-US" altLang="zh-CN" sz="1200">
                <a:solidFill>
                  <a:srgbClr val="000000">
                    <a:lumMod val="85000"/>
                    <a:lumOff val="15000"/>
                  </a:srgbClr>
                </a:solidFill>
                <a:latin typeface="微软雅黑" panose="020B0503020204020204" charset="-122"/>
                <a:ea typeface="微软雅黑" panose="020B0503020204020204" charset="-122"/>
              </a:rPr>
              <a:t> + </a:t>
            </a:r>
            <a:r>
              <a:rPr lang="zh-CN" altLang="en-US" sz="1200">
                <a:solidFill>
                  <a:srgbClr val="000000">
                    <a:lumMod val="85000"/>
                    <a:lumOff val="15000"/>
                  </a:srgbClr>
                </a:solidFill>
                <a:latin typeface="微软雅黑" panose="020B0503020204020204" charset="-122"/>
                <a:ea typeface="微软雅黑" panose="020B0503020204020204" charset="-122"/>
              </a:rPr>
              <a:t>参数共享</a:t>
            </a:r>
          </a:p>
          <a:p>
            <a:pPr marL="285750" indent="-285750" algn="l">
              <a:lnSpc>
                <a:spcPct val="150000"/>
              </a:lnSpc>
              <a:buFont typeface="Wingdings" panose="05000000000000000000" charset="0"/>
              <a:buChar char="l"/>
            </a:pPr>
            <a:r>
              <a:rPr lang="zh-CN" altLang="en-US" sz="1200">
                <a:solidFill>
                  <a:srgbClr val="000000">
                    <a:lumMod val="85000"/>
                    <a:lumOff val="15000"/>
                  </a:srgbClr>
                </a:solidFill>
                <a:latin typeface="微软雅黑" panose="020B0503020204020204" charset="-122"/>
                <a:ea typeface="微软雅黑" panose="020B0503020204020204" charset="-122"/>
              </a:rPr>
              <a:t>适合小规模数据，但表达能力有限</a:t>
            </a:r>
          </a:p>
          <a:p>
            <a:pPr algn="l">
              <a:lnSpc>
                <a:spcPct val="150000"/>
              </a:lnSpc>
            </a:pPr>
            <a:endParaRPr lang="zh-CN" altLang="en-US" sz="1200" dirty="0">
              <a:solidFill>
                <a:srgbClr val="000000">
                  <a:lumMod val="85000"/>
                  <a:lumOff val="15000"/>
                </a:srgbClr>
              </a:solidFill>
              <a:latin typeface="微软雅黑" panose="020B0503020204020204" charset="-122"/>
              <a:ea typeface="微软雅黑" panose="020B0503020204020204" charset="-122"/>
            </a:endParaRPr>
          </a:p>
        </p:txBody>
      </p:sp>
      <p:sp>
        <p:nvSpPr>
          <p:cNvPr id="32" name="文本框 32"/>
          <p:cNvSpPr txBox="1"/>
          <p:nvPr>
            <p:custDataLst>
              <p:tags r:id="rId13"/>
            </p:custDataLst>
          </p:nvPr>
        </p:nvSpPr>
        <p:spPr>
          <a:xfrm>
            <a:off x="2475267" y="4725066"/>
            <a:ext cx="911731" cy="188748"/>
          </a:xfrm>
          <a:prstGeom prst="rect">
            <a:avLst/>
          </a:prstGeom>
          <a:noFill/>
        </p:spPr>
        <p:txBody>
          <a:bodyPr wrap="none" lIns="0" tIns="0" rIns="0" bIns="0" rtlCol="0" anchor="t" anchorCtr="0">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600" b="1" spc="100" dirty="0">
                <a:solidFill>
                  <a:srgbClr val="000000">
                    <a:lumMod val="50000"/>
                    <a:lumOff val="50000"/>
                  </a:srgbClr>
                </a:solidFill>
              </a:rPr>
              <a:t>2012</a:t>
            </a:r>
            <a:endParaRPr lang="zh-CN" altLang="en-US" sz="1600" b="1" spc="100" dirty="0">
              <a:solidFill>
                <a:srgbClr val="000000">
                  <a:lumMod val="50000"/>
                  <a:lumOff val="50000"/>
                </a:srgbClr>
              </a:solidFill>
            </a:endParaRPr>
          </a:p>
        </p:txBody>
      </p:sp>
      <p:sp>
        <p:nvSpPr>
          <p:cNvPr id="33" name="文本框 33"/>
          <p:cNvSpPr txBox="1"/>
          <p:nvPr>
            <p:custDataLst>
              <p:tags r:id="rId14"/>
            </p:custDataLst>
          </p:nvPr>
        </p:nvSpPr>
        <p:spPr>
          <a:xfrm>
            <a:off x="4511054" y="4725701"/>
            <a:ext cx="911731" cy="188748"/>
          </a:xfrm>
          <a:prstGeom prst="rect">
            <a:avLst/>
          </a:prstGeom>
          <a:noFill/>
        </p:spPr>
        <p:txBody>
          <a:bodyPr wrap="none" lIns="0" tIns="0" rIns="0" bIns="0" rtlCol="0" anchor="t" anchorCtr="0">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600" b="1" spc="100" dirty="0">
                <a:solidFill>
                  <a:srgbClr val="000000">
                    <a:lumMod val="50000"/>
                    <a:lumOff val="50000"/>
                  </a:srgbClr>
                </a:solidFill>
              </a:rPr>
              <a:t>2015</a:t>
            </a:r>
            <a:endParaRPr lang="zh-CN" altLang="en-US" sz="1600" b="1" spc="100" dirty="0">
              <a:solidFill>
                <a:srgbClr val="000000">
                  <a:lumMod val="50000"/>
                  <a:lumOff val="50000"/>
                </a:srgbClr>
              </a:solidFill>
            </a:endParaRPr>
          </a:p>
        </p:txBody>
      </p:sp>
      <p:sp>
        <p:nvSpPr>
          <p:cNvPr id="34" name="文本框 34"/>
          <p:cNvSpPr txBox="1"/>
          <p:nvPr>
            <p:custDataLst>
              <p:tags r:id="rId15"/>
            </p:custDataLst>
          </p:nvPr>
        </p:nvSpPr>
        <p:spPr>
          <a:xfrm>
            <a:off x="6455400" y="4725701"/>
            <a:ext cx="911731" cy="188748"/>
          </a:xfrm>
          <a:prstGeom prst="rect">
            <a:avLst/>
          </a:prstGeom>
          <a:noFill/>
        </p:spPr>
        <p:txBody>
          <a:bodyPr wrap="none" lIns="0" tIns="0" rIns="0" bIns="0" rtlCol="0" anchor="t" anchorCtr="0">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600" b="1" spc="100" dirty="0">
                <a:solidFill>
                  <a:srgbClr val="000000">
                    <a:lumMod val="50000"/>
                    <a:lumOff val="50000"/>
                  </a:srgbClr>
                </a:solidFill>
              </a:rPr>
              <a:t>2018</a:t>
            </a:r>
            <a:endParaRPr lang="zh-CN" altLang="en-US" sz="1600" b="1" spc="100" dirty="0">
              <a:solidFill>
                <a:srgbClr val="000000">
                  <a:lumMod val="50000"/>
                  <a:lumOff val="50000"/>
                </a:srgbClr>
              </a:solidFill>
            </a:endParaRPr>
          </a:p>
        </p:txBody>
      </p:sp>
      <p:sp>
        <p:nvSpPr>
          <p:cNvPr id="12" name="文本框 34"/>
          <p:cNvSpPr txBox="1"/>
          <p:nvPr>
            <p:custDataLst>
              <p:tags r:id="rId16"/>
            </p:custDataLst>
          </p:nvPr>
        </p:nvSpPr>
        <p:spPr>
          <a:xfrm>
            <a:off x="8399748" y="4725701"/>
            <a:ext cx="911731" cy="188748"/>
          </a:xfrm>
          <a:prstGeom prst="rect">
            <a:avLst/>
          </a:prstGeom>
          <a:noFill/>
        </p:spPr>
        <p:txBody>
          <a:bodyPr wrap="none" lIns="0" tIns="0" rIns="0" bIns="0" rtlCol="0" anchor="t" anchorCtr="0">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600" b="1" spc="100" dirty="0">
                <a:solidFill>
                  <a:srgbClr val="000000">
                    <a:lumMod val="50000"/>
                    <a:lumOff val="50000"/>
                  </a:srgbClr>
                </a:solidFill>
              </a:rPr>
              <a:t>2021</a:t>
            </a:r>
            <a:endParaRPr lang="zh-CN" altLang="en-US" sz="1600" b="1" spc="100" dirty="0">
              <a:solidFill>
                <a:srgbClr val="000000">
                  <a:lumMod val="50000"/>
                  <a:lumOff val="50000"/>
                </a:srgbClr>
              </a:solidFill>
            </a:endParaRPr>
          </a:p>
        </p:txBody>
      </p:sp>
      <p:sp>
        <p:nvSpPr>
          <p:cNvPr id="25" name="文本框 24"/>
          <p:cNvSpPr txBox="1"/>
          <p:nvPr>
            <p:custDataLst>
              <p:tags r:id="rId17"/>
            </p:custDataLst>
          </p:nvPr>
        </p:nvSpPr>
        <p:spPr>
          <a:xfrm>
            <a:off x="4264660" y="1701165"/>
            <a:ext cx="1508125" cy="445770"/>
          </a:xfrm>
          <a:prstGeom prst="rect">
            <a:avLst/>
          </a:prstGeom>
          <a:noFill/>
        </p:spPr>
        <p:txBody>
          <a:bodyPr wrap="square" lIns="0" tIns="0" rIns="0" bIns="0" rtlCol="0" anchor="ctr" anchorCtr="0">
            <a:noAutofit/>
          </a:bodyPr>
          <a:lstStyle/>
          <a:p>
            <a:pPr algn="ctr"/>
            <a:r>
              <a:rPr lang="en-US" altLang="zh-CN" sz="2000" b="1" spc="100" dirty="0">
                <a:solidFill>
                  <a:srgbClr val="F84949"/>
                </a:solidFill>
                <a:latin typeface="微软雅黑" panose="020B0503020204020204" charset="-122"/>
                <a:ea typeface="微软雅黑" panose="020B0503020204020204" charset="-122"/>
                <a:cs typeface="微软雅黑" panose="020B0503020204020204" charset="-122"/>
                <a:sym typeface="+mn-ea"/>
              </a:rPr>
              <a:t>ResNet</a:t>
            </a:r>
          </a:p>
        </p:txBody>
      </p:sp>
      <p:sp>
        <p:nvSpPr>
          <p:cNvPr id="26" name="文本框 25"/>
          <p:cNvSpPr txBox="1"/>
          <p:nvPr>
            <p:custDataLst>
              <p:tags r:id="rId18"/>
            </p:custDataLst>
          </p:nvPr>
        </p:nvSpPr>
        <p:spPr>
          <a:xfrm>
            <a:off x="4142740" y="2227580"/>
            <a:ext cx="1799590" cy="265430"/>
          </a:xfrm>
          <a:prstGeom prst="rect">
            <a:avLst/>
          </a:prstGeom>
          <a:noFill/>
        </p:spPr>
        <p:txBody>
          <a:bodyPr wrap="square" lIns="0" tIns="0" rIns="0" bIns="0" rtlCol="0" anchor="t" anchorCtr="0">
            <a:noAutofit/>
          </a:bodyPr>
          <a:lstStyle/>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rPr>
              <a:t>引入残差连接，解决深层网络退化问题</a:t>
            </a:r>
          </a:p>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rPr>
              <a:t>成为视觉任务的经典</a:t>
            </a:r>
            <a:r>
              <a:rPr lang="en-US" altLang="zh-CN" sz="1200" dirty="0">
                <a:solidFill>
                  <a:srgbClr val="000000">
                    <a:lumMod val="85000"/>
                    <a:lumOff val="15000"/>
                  </a:srgbClr>
                </a:solidFill>
                <a:latin typeface="微软雅黑" panose="020B0503020204020204" charset="-122"/>
                <a:ea typeface="微软雅黑" panose="020B0503020204020204" charset="-122"/>
              </a:rPr>
              <a:t> backbone</a:t>
            </a:r>
          </a:p>
        </p:txBody>
      </p:sp>
      <p:sp>
        <p:nvSpPr>
          <p:cNvPr id="29" name="文本框 28"/>
          <p:cNvSpPr txBox="1"/>
          <p:nvPr>
            <p:custDataLst>
              <p:tags r:id="rId19"/>
            </p:custDataLst>
          </p:nvPr>
        </p:nvSpPr>
        <p:spPr>
          <a:xfrm>
            <a:off x="6094730" y="2997200"/>
            <a:ext cx="1714500" cy="260985"/>
          </a:xfrm>
          <a:prstGeom prst="rect">
            <a:avLst/>
          </a:prstGeom>
          <a:noFill/>
        </p:spPr>
        <p:txBody>
          <a:bodyPr wrap="square" lIns="0" tIns="0" rIns="0" bIns="0" rtlCol="0" anchor="ctr" anchorCtr="0">
            <a:noAutofit/>
          </a:bodyPr>
          <a:lstStyle/>
          <a:p>
            <a:pPr algn="ctr"/>
            <a:r>
              <a:rPr lang="zh-CN" altLang="en-US" sz="2000" b="1" spc="100" dirty="0">
                <a:solidFill>
                  <a:srgbClr val="F84949"/>
                </a:solidFill>
                <a:latin typeface="微软雅黑" panose="020B0503020204020204" charset="-122"/>
                <a:ea typeface="微软雅黑" panose="020B0503020204020204" charset="-122"/>
                <a:sym typeface="+mn-ea"/>
              </a:rPr>
              <a:t>预训练模型</a:t>
            </a:r>
          </a:p>
        </p:txBody>
      </p:sp>
      <p:sp>
        <p:nvSpPr>
          <p:cNvPr id="30" name="文本框 29"/>
          <p:cNvSpPr txBox="1"/>
          <p:nvPr>
            <p:custDataLst>
              <p:tags r:id="rId20"/>
            </p:custDataLst>
          </p:nvPr>
        </p:nvSpPr>
        <p:spPr>
          <a:xfrm>
            <a:off x="6095365" y="3514090"/>
            <a:ext cx="1909445" cy="406400"/>
          </a:xfrm>
          <a:prstGeom prst="rect">
            <a:avLst/>
          </a:prstGeom>
          <a:noFill/>
        </p:spPr>
        <p:txBody>
          <a:bodyPr wrap="square" lIns="0" tIns="0" rIns="0" bIns="0" rtlCol="0" anchor="t" anchorCtr="0">
            <a:noAutofit/>
          </a:bodyPr>
          <a:lstStyle/>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rPr>
              <a:t>利用大规模数据学习通用特征</a:t>
            </a:r>
            <a:endParaRPr lang="en-US" altLang="zh-CN" sz="1200" dirty="0">
              <a:solidFill>
                <a:srgbClr val="000000">
                  <a:lumMod val="85000"/>
                  <a:lumOff val="15000"/>
                </a:srgbClr>
              </a:solidFill>
              <a:latin typeface="微软雅黑" panose="020B0503020204020204" charset="-122"/>
              <a:ea typeface="微软雅黑" panose="020B0503020204020204" charset="-122"/>
            </a:endParaRPr>
          </a:p>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rPr>
              <a:t>下游任务只需少量训练</a:t>
            </a:r>
          </a:p>
        </p:txBody>
      </p:sp>
      <p:sp>
        <p:nvSpPr>
          <p:cNvPr id="13" name="文本框 12"/>
          <p:cNvSpPr txBox="1"/>
          <p:nvPr>
            <p:custDataLst>
              <p:tags r:id="rId21"/>
            </p:custDataLst>
          </p:nvPr>
        </p:nvSpPr>
        <p:spPr>
          <a:xfrm>
            <a:off x="8039100" y="2324735"/>
            <a:ext cx="1628140" cy="260985"/>
          </a:xfrm>
          <a:prstGeom prst="rect">
            <a:avLst/>
          </a:prstGeom>
          <a:noFill/>
        </p:spPr>
        <p:txBody>
          <a:bodyPr wrap="square" lIns="0" tIns="0" rIns="0" bIns="0" rtlCol="0" anchor="ctr" anchorCtr="0">
            <a:noAutofit/>
          </a:bodyPr>
          <a:lstStyle/>
          <a:p>
            <a:pPr algn="ctr"/>
            <a:r>
              <a:rPr lang="en-US" altLang="zh-CN" sz="2000" b="1" spc="100" dirty="0">
                <a:solidFill>
                  <a:srgbClr val="F84949"/>
                </a:solidFill>
                <a:latin typeface="微软雅黑" panose="020B0503020204020204" charset="-122"/>
                <a:ea typeface="微软雅黑" panose="020B0503020204020204" charset="-122"/>
                <a:cs typeface="微软雅黑" panose="020B0503020204020204" charset="-122"/>
                <a:sym typeface="+mn-ea"/>
              </a:rPr>
              <a:t>CLIP / M3V</a:t>
            </a:r>
          </a:p>
        </p:txBody>
      </p:sp>
      <p:sp>
        <p:nvSpPr>
          <p:cNvPr id="14" name="文本框 13"/>
          <p:cNvSpPr txBox="1"/>
          <p:nvPr>
            <p:custDataLst>
              <p:tags r:id="rId22"/>
            </p:custDataLst>
          </p:nvPr>
        </p:nvSpPr>
        <p:spPr>
          <a:xfrm>
            <a:off x="8039735" y="2875280"/>
            <a:ext cx="1940560" cy="405130"/>
          </a:xfrm>
          <a:prstGeom prst="rect">
            <a:avLst/>
          </a:prstGeom>
          <a:noFill/>
        </p:spPr>
        <p:txBody>
          <a:bodyPr wrap="square" lIns="0" tIns="0" rIns="0" bIns="0" rtlCol="0" anchor="t" anchorCtr="0">
            <a:noAutofit/>
          </a:bodyPr>
          <a:lstStyle/>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cs typeface="微软雅黑" panose="020B0503020204020204" charset="-122"/>
              </a:rPr>
              <a:t>融合图像与语义信息</a:t>
            </a:r>
            <a:endParaRPr lang="en-US" altLang="zh-CN" sz="1200" dirty="0">
              <a:solidFill>
                <a:srgbClr val="000000">
                  <a:lumMod val="85000"/>
                  <a:lumOff val="15000"/>
                </a:srgbClr>
              </a:solidFill>
              <a:latin typeface="微软雅黑" panose="020B0503020204020204" charset="-122"/>
              <a:ea typeface="微软雅黑" panose="020B0503020204020204" charset="-122"/>
              <a:cs typeface="微软雅黑" panose="020B0503020204020204" charset="-122"/>
            </a:endParaRPr>
          </a:p>
          <a:p>
            <a:pPr marL="285750" indent="-285750" algn="l">
              <a:lnSpc>
                <a:spcPct val="150000"/>
              </a:lnSpc>
              <a:buFont typeface="Wingdings" panose="05000000000000000000" charset="0"/>
              <a:buChar char="l"/>
            </a:pPr>
            <a:r>
              <a:rPr lang="zh-CN" altLang="en-US" sz="1200" dirty="0">
                <a:solidFill>
                  <a:srgbClr val="000000">
                    <a:lumMod val="85000"/>
                    <a:lumOff val="15000"/>
                  </a:srgbClr>
                </a:solidFill>
                <a:latin typeface="微软雅黑" panose="020B0503020204020204" charset="-122"/>
                <a:ea typeface="微软雅黑" panose="020B0503020204020204" charset="-122"/>
                <a:cs typeface="微软雅黑" panose="020B0503020204020204" charset="-122"/>
              </a:rPr>
              <a:t>在小样本或不均衡数据上更鲁棒</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7" name="TextBox 7"/>
          <p:cNvSpPr>
            <a:spLocks noChangeArrowheads="1"/>
          </p:cNvSpPr>
          <p:nvPr>
            <p:custDataLst>
              <p:tags r:id="rId1"/>
            </p:custDataLst>
          </p:nvPr>
        </p:nvSpPr>
        <p:spPr bwMode="auto">
          <a:xfrm>
            <a:off x="5447030" y="1701165"/>
            <a:ext cx="6133465" cy="143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indent="0">
              <a:lnSpc>
                <a:spcPct val="130000"/>
              </a:lnSpc>
              <a:spcBef>
                <a:spcPct val="0"/>
              </a:spcBef>
              <a:buFont typeface="Wingdings" panose="05000000000000000000" charset="0"/>
              <a:buNone/>
            </a:pPr>
            <a:r>
              <a:rPr lang="zh-CN" altLang="en-US" dirty="0">
                <a:solidFill>
                  <a:schemeClr val="tx2">
                    <a:lumMod val="60000"/>
                    <a:lumOff val="40000"/>
                  </a:schemeClr>
                </a:solidFill>
                <a:latin typeface="微软雅黑" panose="020B0503020204020204" charset="-122"/>
                <a:ea typeface="微软雅黑" panose="020B0503020204020204" charset="-122"/>
                <a:cs typeface="+mj-ea"/>
                <a:sym typeface="微软雅黑" panose="020B0503020204020204" charset="-122"/>
              </a:rPr>
              <a:t>数据集介绍：</a:t>
            </a:r>
            <a:endParaRPr lang="en-US" altLang="zh-CN" dirty="0">
              <a:solidFill>
                <a:schemeClr val="tx2">
                  <a:lumMod val="60000"/>
                  <a:lumOff val="40000"/>
                </a:schemeClr>
              </a:solidFill>
              <a:latin typeface="微软雅黑" panose="020B0503020204020204" charset="-122"/>
              <a:ea typeface="微软雅黑" panose="020B0503020204020204" charset="-122"/>
              <a:cs typeface="+mj-ea"/>
              <a:sym typeface="微软雅黑" panose="020B0503020204020204" charset="-122"/>
            </a:endParaRPr>
          </a:p>
          <a:p>
            <a:pPr marL="285750" indent="-285750">
              <a:lnSpc>
                <a:spcPct val="130000"/>
              </a:lnSpc>
              <a:spcBef>
                <a:spcPct val="0"/>
              </a:spcBef>
              <a:buFont typeface="Wingdings" panose="05000000000000000000" charset="0"/>
              <a:buChar char="l"/>
            </a:pP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Animal-10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包含</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10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类动物图像</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总计约</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2.6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万张图像，按</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8:1:1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划分</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类别之间样本数量存在明显不均衡</a:t>
            </a:r>
          </a:p>
        </p:txBody>
      </p:sp>
      <p:sp>
        <p:nvSpPr>
          <p:cNvPr id="24" name="TextBox 7"/>
          <p:cNvSpPr>
            <a:spLocks noChangeArrowheads="1"/>
          </p:cNvSpPr>
          <p:nvPr>
            <p:custDataLst>
              <p:tags r:id="rId2"/>
            </p:custDataLst>
          </p:nvPr>
        </p:nvSpPr>
        <p:spPr bwMode="auto">
          <a:xfrm>
            <a:off x="5375275" y="4221480"/>
            <a:ext cx="6527165" cy="143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indent="0">
              <a:lnSpc>
                <a:spcPct val="130000"/>
              </a:lnSpc>
              <a:spcBef>
                <a:spcPct val="0"/>
              </a:spcBef>
              <a:buFont typeface="Wingdings" panose="05000000000000000000" charset="0"/>
              <a:buNone/>
            </a:pPr>
            <a:r>
              <a:rPr lang="zh-CN" altLang="en-US" dirty="0">
                <a:solidFill>
                  <a:schemeClr val="tx2">
                    <a:lumMod val="60000"/>
                    <a:lumOff val="40000"/>
                  </a:schemeClr>
                </a:solidFill>
                <a:latin typeface="微软雅黑" panose="020B0503020204020204" charset="-122"/>
                <a:ea typeface="微软雅黑" panose="020B0503020204020204" charset="-122"/>
                <a:sym typeface="微软雅黑" panose="020B0503020204020204" charset="-122"/>
              </a:rPr>
              <a:t>问题观察：</a:t>
            </a: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rPr>
              <a:t>猫、狗等外观相似类别容易混淆</a:t>
            </a:r>
            <a:endParaRPr lang="en-US" altLang="zh-CN"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rPr>
              <a:t>猫类样本数量相对较少</a:t>
            </a:r>
            <a:endParaRPr lang="en-US" altLang="zh-CN"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rPr>
              <a:t>直接训练模型时，分类效果不理想</a:t>
            </a:r>
          </a:p>
        </p:txBody>
      </p:sp>
      <p:grpSp>
        <p:nvGrpSpPr>
          <p:cNvPr id="26" name="组合 25"/>
          <p:cNvGrpSpPr/>
          <p:nvPr/>
        </p:nvGrpSpPr>
        <p:grpSpPr>
          <a:xfrm>
            <a:off x="838622" y="620688"/>
            <a:ext cx="9333230" cy="902970"/>
            <a:chOff x="550590" y="536707"/>
            <a:chExt cx="9333230" cy="902970"/>
          </a:xfrm>
        </p:grpSpPr>
        <p:sp>
          <p:nvSpPr>
            <p:cNvPr id="27" name="TextBox 40"/>
            <p:cNvSpPr txBox="1"/>
            <p:nvPr/>
          </p:nvSpPr>
          <p:spPr>
            <a:xfrm>
              <a:off x="1270680" y="609732"/>
              <a:ext cx="861314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Part1-&gt; </a:t>
              </a:r>
              <a:r>
                <a:rPr lang="zh-CN" altLang="en-US" sz="2400" dirty="0">
                  <a:solidFill>
                    <a:srgbClr val="194579"/>
                  </a:solidFill>
                  <a:latin typeface="微软雅黑" panose="020B0503020204020204" charset="-122"/>
                  <a:ea typeface="微软雅黑" panose="020B0503020204020204" charset="-122"/>
                  <a:sym typeface="微软雅黑" panose="020B0503020204020204" charset="-122"/>
                </a:rPr>
                <a:t>数据集介绍</a:t>
              </a:r>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 &amp; </a:t>
              </a:r>
              <a:r>
                <a:rPr lang="zh-CN" altLang="en-US" sz="2400" dirty="0">
                  <a:solidFill>
                    <a:srgbClr val="194579"/>
                  </a:solidFill>
                  <a:latin typeface="微软雅黑" panose="020B0503020204020204" charset="-122"/>
                  <a:ea typeface="微软雅黑" panose="020B0503020204020204" charset="-122"/>
                  <a:sym typeface="微软雅黑" panose="020B0503020204020204" charset="-122"/>
                </a:rPr>
                <a:t>问题动机</a:t>
              </a:r>
              <a:endParaRPr lang="en-US" altLang="zh-CN" sz="2400" dirty="0">
                <a:solidFill>
                  <a:srgbClr val="194579"/>
                </a:solidFill>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pic>
        <p:nvPicPr>
          <p:cNvPr id="3" name="图片 2"/>
          <p:cNvPicPr>
            <a:picLocks noChangeAspect="1"/>
          </p:cNvPicPr>
          <p:nvPr/>
        </p:nvPicPr>
        <p:blipFill>
          <a:blip r:embed="rId6"/>
          <a:stretch>
            <a:fillRect/>
          </a:stretch>
        </p:blipFill>
        <p:spPr>
          <a:xfrm>
            <a:off x="1445895" y="1485265"/>
            <a:ext cx="3465195" cy="1858645"/>
          </a:xfrm>
          <a:prstGeom prst="rect">
            <a:avLst/>
          </a:prstGeom>
        </p:spPr>
      </p:pic>
      <p:pic>
        <p:nvPicPr>
          <p:cNvPr id="4" name="图片 3"/>
          <p:cNvPicPr>
            <a:picLocks noChangeAspect="1"/>
          </p:cNvPicPr>
          <p:nvPr/>
        </p:nvPicPr>
        <p:blipFill>
          <a:blip r:embed="rId7"/>
          <a:stretch>
            <a:fillRect/>
          </a:stretch>
        </p:blipFill>
        <p:spPr>
          <a:xfrm>
            <a:off x="1445895" y="3740785"/>
            <a:ext cx="3464560" cy="2075180"/>
          </a:xfrm>
          <a:prstGeom prst="rect">
            <a:avLst/>
          </a:prstGeom>
        </p:spPr>
      </p:pic>
    </p:spTree>
  </p:cSld>
  <p:clrMapOvr>
    <a:masterClrMapping/>
  </p:clrMapOvr>
  <p:transition spd="slow" advTm="300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22598" y="548680"/>
            <a:ext cx="10945216" cy="5760640"/>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 </a:t>
            </a:r>
          </a:p>
        </p:txBody>
      </p:sp>
      <p:grpSp>
        <p:nvGrpSpPr>
          <p:cNvPr id="20" name="组合 19"/>
          <p:cNvGrpSpPr/>
          <p:nvPr/>
        </p:nvGrpSpPr>
        <p:grpSpPr>
          <a:xfrm>
            <a:off x="2169946" y="1258580"/>
            <a:ext cx="7569294" cy="720070"/>
            <a:chOff x="2278531" y="2708920"/>
            <a:chExt cx="7569294" cy="720070"/>
          </a:xfrm>
        </p:grpSpPr>
        <p:sp>
          <p:nvSpPr>
            <p:cNvPr id="3" name="TextBox 40"/>
            <p:cNvSpPr txBox="1"/>
            <p:nvPr/>
          </p:nvSpPr>
          <p:spPr>
            <a:xfrm>
              <a:off x="2371436" y="2817796"/>
              <a:ext cx="7445127" cy="521970"/>
            </a:xfrm>
            <a:prstGeom prst="rect">
              <a:avLst/>
            </a:prstGeom>
            <a:noFill/>
          </p:spPr>
          <p:txBody>
            <a:bodyPr wrap="square" rtlCol="0">
              <a:spAutoFit/>
            </a:bodyPr>
            <a:lstStyle/>
            <a:p>
              <a:pPr algn="ctr"/>
              <a:r>
                <a:rPr lang="zh-CN" altLang="en-US" sz="2800" b="1" dirty="0">
                  <a:solidFill>
                    <a:srgbClr val="194579"/>
                  </a:solidFill>
                  <a:latin typeface="微软雅黑" panose="020B0503020204020204" charset="-122"/>
                  <a:ea typeface="微软雅黑" panose="020B0503020204020204" charset="-122"/>
                  <a:sym typeface="微软雅黑" panose="020B0503020204020204" charset="-122"/>
                </a:rPr>
                <a:t>运行环境</a:t>
              </a:r>
            </a:p>
          </p:txBody>
        </p:sp>
        <p:cxnSp>
          <p:nvCxnSpPr>
            <p:cNvPr id="11" name="直接连接符 10"/>
            <p:cNvCxnSpPr/>
            <p:nvPr/>
          </p:nvCxnSpPr>
          <p:spPr>
            <a:xfrm>
              <a:off x="2278531" y="270892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6880" y="3428990"/>
              <a:ext cx="7560945" cy="0"/>
            </a:xfrm>
            <a:prstGeom prst="line">
              <a:avLst/>
            </a:prstGeom>
            <a:ln w="25400">
              <a:solidFill>
                <a:srgbClr val="194579"/>
              </a:solidFill>
            </a:ln>
          </p:spPr>
          <p:style>
            <a:lnRef idx="1">
              <a:schemeClr val="accent1"/>
            </a:lnRef>
            <a:fillRef idx="0">
              <a:schemeClr val="accent1"/>
            </a:fillRef>
            <a:effectRef idx="0">
              <a:schemeClr val="accent1"/>
            </a:effectRef>
            <a:fontRef idx="minor">
              <a:schemeClr val="tx1"/>
            </a:fontRef>
          </p:style>
        </p:cxnSp>
      </p:grpSp>
      <p:graphicFrame>
        <p:nvGraphicFramePr>
          <p:cNvPr id="7" name="表格 6"/>
          <p:cNvGraphicFramePr/>
          <p:nvPr/>
        </p:nvGraphicFramePr>
        <p:xfrm>
          <a:off x="1864360" y="2410460"/>
          <a:ext cx="8532495" cy="2667000"/>
        </p:xfrm>
        <a:graphic>
          <a:graphicData uri="http://schemas.openxmlformats.org/drawingml/2006/table">
            <a:tbl>
              <a:tblPr firstRow="1" bandRow="1">
                <a:tableStyleId>{5C22544A-7EE6-4342-B048-85BDC9FD1C3A}</a:tableStyleId>
              </a:tblPr>
              <a:tblGrid>
                <a:gridCol w="2781935">
                  <a:extLst>
                    <a:ext uri="{9D8B030D-6E8A-4147-A177-3AD203B41FA5}">
                      <a16:colId xmlns:a16="http://schemas.microsoft.com/office/drawing/2014/main" val="20000"/>
                    </a:ext>
                  </a:extLst>
                </a:gridCol>
                <a:gridCol w="5749925">
                  <a:extLst>
                    <a:ext uri="{9D8B030D-6E8A-4147-A177-3AD203B41FA5}">
                      <a16:colId xmlns:a16="http://schemas.microsoft.com/office/drawing/2014/main" val="20001"/>
                    </a:ext>
                  </a:extLst>
                </a:gridCol>
              </a:tblGrid>
              <a:tr h="381000">
                <a:tc>
                  <a:txBody>
                    <a:bodyPr/>
                    <a:lstStyle/>
                    <a:p>
                      <a:pPr algn="ctr">
                        <a:buNone/>
                      </a:pPr>
                      <a:r>
                        <a:rPr lang="zh-CN" altLang="en-US">
                          <a:latin typeface="微软雅黑" panose="020B0503020204020204" charset="-122"/>
                          <a:ea typeface="微软雅黑" panose="020B0503020204020204" charset="-122"/>
                        </a:rPr>
                        <a:t>类别</a:t>
                      </a:r>
                    </a:p>
                  </a:txBody>
                  <a:tcPr/>
                </a:tc>
                <a:tc>
                  <a:txBody>
                    <a:bodyPr/>
                    <a:lstStyle/>
                    <a:p>
                      <a:pPr algn="ctr">
                        <a:buNone/>
                      </a:pPr>
                      <a:r>
                        <a:rPr lang="zh-CN" altLang="en-US">
                          <a:latin typeface="微软雅黑" panose="020B0503020204020204" charset="-122"/>
                          <a:ea typeface="微软雅黑" panose="020B0503020204020204" charset="-122"/>
                        </a:rPr>
                        <a:t>配置</a:t>
                      </a:r>
                    </a:p>
                  </a:txBody>
                  <a:tcPr/>
                </a:tc>
                <a:extLst>
                  <a:ext uri="{0D108BD9-81ED-4DB2-BD59-A6C34878D82A}">
                    <a16:rowId xmlns:a16="http://schemas.microsoft.com/office/drawing/2014/main" val="10000"/>
                  </a:ext>
                </a:extLst>
              </a:tr>
              <a:tr h="381000">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GPU</a:t>
                      </a:r>
                      <a:endParaRPr lang="zh-CN" altLang="en-US"/>
                    </a:p>
                  </a:txBody>
                  <a:tcPr/>
                </a:tc>
                <a:tc>
                  <a:txBody>
                    <a:bodyPr/>
                    <a:lstStyle/>
                    <a:p>
                      <a:pPr>
                        <a:buNone/>
                      </a:pPr>
                      <a:r>
                        <a:rPr lang="en-US" altLang="zh-CN" dirty="0">
                          <a:solidFill>
                            <a:srgbClr val="194579"/>
                          </a:solidFill>
                          <a:latin typeface="微软雅黑" panose="020B0503020204020204" charset="-122"/>
                          <a:ea typeface="微软雅黑" panose="020B0503020204020204" charset="-122"/>
                        </a:rPr>
                        <a:t>RTX 5090（32GB）</a:t>
                      </a:r>
                      <a:endParaRPr lang="zh-CN" altLang="en-US"/>
                    </a:p>
                  </a:txBody>
                  <a:tcPr/>
                </a:tc>
                <a:extLst>
                  <a:ext uri="{0D108BD9-81ED-4DB2-BD59-A6C34878D82A}">
                    <a16:rowId xmlns:a16="http://schemas.microsoft.com/office/drawing/2014/main" val="10001"/>
                  </a:ext>
                </a:extLst>
              </a:tr>
              <a:tr h="381000">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CPU</a:t>
                      </a:r>
                      <a:endParaRPr lang="zh-CN" altLang="en-US"/>
                    </a:p>
                  </a:txBody>
                  <a:tcPr/>
                </a:tc>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Xeon(R) Platinum 8470Q </a:t>
                      </a:r>
                      <a:endParaRPr lang="zh-CN" altLang="en-US"/>
                    </a:p>
                  </a:txBody>
                  <a:tcPr/>
                </a:tc>
                <a:extLst>
                  <a:ext uri="{0D108BD9-81ED-4DB2-BD59-A6C34878D82A}">
                    <a16:rowId xmlns:a16="http://schemas.microsoft.com/office/drawing/2014/main" val="10002"/>
                  </a:ext>
                </a:extLst>
              </a:tr>
              <a:tr h="381000">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PyTorch</a:t>
                      </a:r>
                      <a:endParaRPr lang="zh-CN" altLang="en-US"/>
                    </a:p>
                  </a:txBody>
                  <a:tcPr/>
                </a:tc>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2.8.0</a:t>
                      </a:r>
                      <a:endParaRPr lang="zh-CN" altLang="en-US"/>
                    </a:p>
                  </a:txBody>
                  <a:tcPr/>
                </a:tc>
                <a:extLst>
                  <a:ext uri="{0D108BD9-81ED-4DB2-BD59-A6C34878D82A}">
                    <a16:rowId xmlns:a16="http://schemas.microsoft.com/office/drawing/2014/main" val="10003"/>
                  </a:ext>
                </a:extLst>
              </a:tr>
              <a:tr h="381000">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CUDA</a:t>
                      </a:r>
                      <a:endParaRPr lang="zh-CN" altLang="en-US"/>
                    </a:p>
                  </a:txBody>
                  <a:tcPr/>
                </a:tc>
                <a:tc>
                  <a:txBody>
                    <a:bodyPr/>
                    <a:lstStyle/>
                    <a:p>
                      <a:pPr>
                        <a:buNone/>
                      </a:pPr>
                      <a:r>
                        <a:rPr lang="en-US" sz="1800" dirty="0">
                          <a:solidFill>
                            <a:srgbClr val="194579"/>
                          </a:solidFill>
                          <a:latin typeface="微软雅黑" panose="020B0503020204020204" charset="-122"/>
                          <a:ea typeface="微软雅黑" panose="020B0503020204020204" charset="-122"/>
                          <a:sym typeface="微软雅黑" panose="020B0503020204020204" charset="-122"/>
                        </a:rPr>
                        <a:t>12.8</a:t>
                      </a:r>
                      <a:endParaRPr lang="en-US"/>
                    </a:p>
                  </a:txBody>
                  <a:tcPr/>
                </a:tc>
                <a:extLst>
                  <a:ext uri="{0D108BD9-81ED-4DB2-BD59-A6C34878D82A}">
                    <a16:rowId xmlns:a16="http://schemas.microsoft.com/office/drawing/2014/main" val="10004"/>
                  </a:ext>
                </a:extLst>
              </a:tr>
              <a:tr h="381000">
                <a:tc>
                  <a:txBody>
                    <a:bodyPr/>
                    <a:lstStyle/>
                    <a:p>
                      <a:pPr>
                        <a:buNone/>
                      </a:pPr>
                      <a:r>
                        <a:rPr lang="en-US" altLang="zh-CN" sz="1800" dirty="0">
                          <a:solidFill>
                            <a:srgbClr val="194579"/>
                          </a:solidFill>
                          <a:latin typeface="微软雅黑" panose="020B0503020204020204" charset="-122"/>
                          <a:ea typeface="微软雅黑" panose="020B0503020204020204" charset="-122"/>
                          <a:sym typeface="微软雅黑" panose="020B0503020204020204" charset="-122"/>
                        </a:rPr>
                        <a:t>Platform</a:t>
                      </a:r>
                    </a:p>
                  </a:txBody>
                  <a:tcPr/>
                </a:tc>
                <a:tc>
                  <a:txBody>
                    <a:bodyPr/>
                    <a:lstStyle/>
                    <a:p>
                      <a:pPr>
                        <a:buNone/>
                      </a:pPr>
                      <a:r>
                        <a:rPr lang="en-US" sz="1800" dirty="0">
                          <a:solidFill>
                            <a:srgbClr val="194579"/>
                          </a:solidFill>
                          <a:latin typeface="微软雅黑" panose="020B0503020204020204" charset="-122"/>
                          <a:ea typeface="微软雅黑" panose="020B0503020204020204" charset="-122"/>
                          <a:sym typeface="微软雅黑" panose="020B0503020204020204" charset="-122"/>
                        </a:rPr>
                        <a:t>AutoDL</a:t>
                      </a:r>
                      <a:endParaRPr lang="en-US"/>
                    </a:p>
                  </a:txBody>
                  <a:tcPr/>
                </a:tc>
                <a:extLst>
                  <a:ext uri="{0D108BD9-81ED-4DB2-BD59-A6C34878D82A}">
                    <a16:rowId xmlns:a16="http://schemas.microsoft.com/office/drawing/2014/main" val="10005"/>
                  </a:ext>
                </a:extLst>
              </a:tr>
            </a:tbl>
          </a:graphicData>
        </a:graphic>
      </p:graphicFrame>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7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组合 14"/>
          <p:cNvGrpSpPr/>
          <p:nvPr/>
        </p:nvGrpSpPr>
        <p:grpSpPr>
          <a:xfrm>
            <a:off x="-8121" y="1376772"/>
            <a:ext cx="6096000" cy="4104456"/>
            <a:chOff x="-8121" y="1376772"/>
            <a:chExt cx="6096000" cy="4104456"/>
          </a:xfrm>
        </p:grpSpPr>
        <p:sp>
          <p:nvSpPr>
            <p:cNvPr id="2" name="矩形 1"/>
            <p:cNvSpPr/>
            <p:nvPr/>
          </p:nvSpPr>
          <p:spPr>
            <a:xfrm>
              <a:off x="-8121" y="1376772"/>
              <a:ext cx="6096000" cy="410445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 name="TextBox 40"/>
            <p:cNvSpPr txBox="1"/>
            <p:nvPr/>
          </p:nvSpPr>
          <p:spPr>
            <a:xfrm>
              <a:off x="1703383" y="2564904"/>
              <a:ext cx="2428374"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rPr>
                <a:t>Part 2</a:t>
              </a:r>
            </a:p>
          </p:txBody>
        </p:sp>
        <p:grpSp>
          <p:nvGrpSpPr>
            <p:cNvPr id="13" name="组合 12"/>
            <p:cNvGrpSpPr/>
            <p:nvPr/>
          </p:nvGrpSpPr>
          <p:grpSpPr>
            <a:xfrm>
              <a:off x="118440" y="3331677"/>
              <a:ext cx="5829935" cy="876399"/>
              <a:chOff x="219388" y="3488705"/>
              <a:chExt cx="5829935" cy="876399"/>
            </a:xfrm>
          </p:grpSpPr>
          <p:sp>
            <p:nvSpPr>
              <p:cNvPr id="5" name="TextBox 40"/>
              <p:cNvSpPr txBox="1"/>
              <p:nvPr/>
            </p:nvSpPr>
            <p:spPr>
              <a:xfrm>
                <a:off x="219388" y="3604910"/>
                <a:ext cx="5829935" cy="7067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rPr>
                  <a:t>模型演进与实验分析</a:t>
                </a:r>
              </a:p>
            </p:txBody>
          </p:sp>
          <p:cxnSp>
            <p:nvCxnSpPr>
              <p:cNvPr id="11" name="直接连接符 10"/>
              <p:cNvCxnSpPr/>
              <p:nvPr/>
            </p:nvCxnSpPr>
            <p:spPr>
              <a:xfrm>
                <a:off x="1203675" y="4365104"/>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03675" y="3488705"/>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14" name="TextBox 40"/>
          <p:cNvSpPr txBox="1"/>
          <p:nvPr/>
        </p:nvSpPr>
        <p:spPr>
          <a:xfrm>
            <a:off x="6441062" y="1950101"/>
            <a:ext cx="5418943" cy="4246245"/>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整体实验流程</a:t>
            </a: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CNN </a:t>
            </a:r>
            <a:r>
              <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模型：基线模型的改进</a:t>
            </a: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ResNet</a:t>
            </a:r>
            <a:r>
              <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模型：</a:t>
            </a:r>
            <a:r>
              <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 </a:t>
            </a:r>
            <a:r>
              <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更强大的特征提取能力</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CLIP/M3V</a:t>
            </a:r>
            <a:r>
              <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模型：更现代的对比模型</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TextBox 40"/>
          <p:cNvSpPr txBox="1"/>
          <p:nvPr>
            <p:custDataLst>
              <p:tags r:id="rId1"/>
            </p:custDataLst>
          </p:nvPr>
        </p:nvSpPr>
        <p:spPr>
          <a:xfrm>
            <a:off x="6815213" y="2493320"/>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The overall experimental process</a:t>
            </a:r>
          </a:p>
        </p:txBody>
      </p:sp>
      <p:sp>
        <p:nvSpPr>
          <p:cNvPr id="17" name="TextBox 40"/>
          <p:cNvSpPr txBox="1"/>
          <p:nvPr>
            <p:custDataLst>
              <p:tags r:id="rId2"/>
            </p:custDataLst>
          </p:nvPr>
        </p:nvSpPr>
        <p:spPr>
          <a:xfrm>
            <a:off x="6815213" y="3332155"/>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Improvements to Baseline model CNN</a:t>
            </a:r>
          </a:p>
        </p:txBody>
      </p:sp>
      <p:sp>
        <p:nvSpPr>
          <p:cNvPr id="18" name="TextBox 40"/>
          <p:cNvSpPr txBox="1"/>
          <p:nvPr>
            <p:custDataLst>
              <p:tags r:id="rId3"/>
            </p:custDataLst>
          </p:nvPr>
        </p:nvSpPr>
        <p:spPr>
          <a:xfrm>
            <a:off x="6812673" y="4077010"/>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ResNet model: Stronger feature extraction capability</a:t>
            </a:r>
          </a:p>
        </p:txBody>
      </p:sp>
      <p:sp>
        <p:nvSpPr>
          <p:cNvPr id="4" name="TextBox 40"/>
          <p:cNvSpPr txBox="1"/>
          <p:nvPr>
            <p:custDataLst>
              <p:tags r:id="rId4"/>
            </p:custDataLst>
          </p:nvPr>
        </p:nvSpPr>
        <p:spPr>
          <a:xfrm>
            <a:off x="6812038" y="5013000"/>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CLIP/M3V model: A more modern contrast model</a:t>
            </a: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50"/>
                                        <p:tgtEl>
                                          <p:spTgt spid="14"/>
                                        </p:tgtEl>
                                      </p:cBhvr>
                                    </p:animEffect>
                                    <p:anim calcmode="lin" valueType="num">
                                      <p:cBhvr>
                                        <p:cTn id="12" dur="750" fill="hold"/>
                                        <p:tgtEl>
                                          <p:spTgt spid="14"/>
                                        </p:tgtEl>
                                        <p:attrNameLst>
                                          <p:attrName>ppt_x</p:attrName>
                                        </p:attrNameLst>
                                      </p:cBhvr>
                                      <p:tavLst>
                                        <p:tav tm="0">
                                          <p:val>
                                            <p:strVal val="#ppt_x"/>
                                          </p:val>
                                        </p:tav>
                                        <p:tav tm="100000">
                                          <p:val>
                                            <p:strVal val="#ppt_x"/>
                                          </p:val>
                                        </p:tav>
                                      </p:tavLst>
                                    </p:anim>
                                    <p:anim calcmode="lin" valueType="num">
                                      <p:cBhvr>
                                        <p:cTn id="13"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9" name="组合 28"/>
          <p:cNvGrpSpPr/>
          <p:nvPr/>
        </p:nvGrpSpPr>
        <p:grpSpPr>
          <a:xfrm>
            <a:off x="838622" y="620688"/>
            <a:ext cx="5206365" cy="607201"/>
            <a:chOff x="550590" y="536707"/>
            <a:chExt cx="5206365" cy="607201"/>
          </a:xfrm>
        </p:grpSpPr>
        <p:sp>
          <p:nvSpPr>
            <p:cNvPr id="30" name="TextBox 40"/>
            <p:cNvSpPr txBox="1"/>
            <p:nvPr/>
          </p:nvSpPr>
          <p:spPr>
            <a:xfrm>
              <a:off x="1270680" y="609732"/>
              <a:ext cx="4486275" cy="46037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zh-CN" altLang="en-US" sz="2400" dirty="0">
                  <a:solidFill>
                    <a:srgbClr val="194579"/>
                  </a:solidFill>
                  <a:latin typeface="微软雅黑" panose="020B0503020204020204" charset="-122"/>
                  <a:ea typeface="微软雅黑" panose="020B0503020204020204" charset="-122"/>
                  <a:sym typeface="微软雅黑" panose="020B0503020204020204" charset="-122"/>
                </a:rPr>
                <a:t>整体实验流程</a:t>
              </a:r>
            </a:p>
          </p:txBody>
        </p:sp>
        <p:pic>
          <p:nvPicPr>
            <p:cNvPr id="31" name="图片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4" name="TextBox 7"/>
          <p:cNvSpPr>
            <a:spLocks noChangeArrowheads="1"/>
          </p:cNvSpPr>
          <p:nvPr>
            <p:custDataLst>
              <p:tags r:id="rId1"/>
            </p:custDataLst>
          </p:nvPr>
        </p:nvSpPr>
        <p:spPr bwMode="auto">
          <a:xfrm>
            <a:off x="1558925" y="1733550"/>
            <a:ext cx="9740265" cy="140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p>
            <a:pPr marL="285750" indent="-285750">
              <a:lnSpc>
                <a:spcPct val="130000"/>
              </a:lnSpc>
              <a:spcBef>
                <a:spcPct val="0"/>
              </a:spcBef>
              <a:buFont typeface="Wingdings" panose="05000000000000000000" charset="0"/>
              <a:buChar char="l"/>
            </a:pP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CNN </a:t>
            </a:r>
            <a:r>
              <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模型作为性能基线，初步认识数据集的难度。</a:t>
            </a:r>
          </a:p>
          <a:p>
            <a:pPr indent="0">
              <a:lnSpc>
                <a:spcPct val="130000"/>
              </a:lnSpc>
              <a:spcBef>
                <a:spcPct val="0"/>
              </a:spcBef>
              <a:buFont typeface="Wingdings" panose="05000000000000000000" charset="0"/>
              <a:buNone/>
            </a:pPr>
            <a:endPar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CNN </a:t>
            </a:r>
            <a:r>
              <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对部分类别区分能力有限，引入更深的</a:t>
            </a:r>
            <a:r>
              <a:rPr lang="en-US" altLang="zh-CN"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a:t>
            </a:r>
            <a:r>
              <a:rPr lang="en-US" altLang="zh-CN"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网络并围绕是否预训练、是否冻结等关键因素进行了系统的消融实验。</a:t>
            </a:r>
          </a:p>
          <a:p>
            <a:pPr marL="285750" indent="-285750">
              <a:lnSpc>
                <a:spcPct val="130000"/>
              </a:lnSpc>
              <a:spcBef>
                <a:spcPct val="0"/>
              </a:spcBef>
              <a:buFont typeface="Wingdings" panose="05000000000000000000" charset="0"/>
              <a:buChar char="l"/>
            </a:pPr>
            <a:endPar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a:t>
            </a:r>
            <a:r>
              <a:rPr lang="en-US" altLang="zh-CN"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与</a:t>
            </a:r>
            <a:r>
              <a:rPr lang="en-US" altLang="zh-CN"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CLIP</a:t>
            </a:r>
            <a:r>
              <a:rPr lang="zh-CN" altLang="en-US"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altLang="zh-CN" sz="14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M3V</a:t>
            </a:r>
            <a:r>
              <a:rPr lang="en-US" altLang="zh-CN"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4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等更现代的模型进行对比，分析不同模型在该任务上的性能差异。</a:t>
            </a:r>
          </a:p>
        </p:txBody>
      </p:sp>
      <p:pic>
        <p:nvPicPr>
          <p:cNvPr id="5" name="图片 4"/>
          <p:cNvPicPr>
            <a:picLocks noChangeAspect="1"/>
          </p:cNvPicPr>
          <p:nvPr/>
        </p:nvPicPr>
        <p:blipFill>
          <a:blip r:embed="rId5"/>
          <a:stretch>
            <a:fillRect/>
          </a:stretch>
        </p:blipFill>
        <p:spPr>
          <a:xfrm>
            <a:off x="1126490" y="3860800"/>
            <a:ext cx="10108565" cy="1047115"/>
          </a:xfrm>
          <a:prstGeom prst="rect">
            <a:avLst/>
          </a:prstGeom>
        </p:spPr>
      </p:pic>
    </p:spTree>
  </p:cSld>
  <p:clrMapOvr>
    <a:masterClrMapping/>
  </p:clrMapOvr>
  <p:transition spd="slow" advTm="300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模型流程</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TextBox 7"/>
          <p:cNvSpPr>
            <a:spLocks noChangeArrowheads="1"/>
          </p:cNvSpPr>
          <p:nvPr>
            <p:custDataLst>
              <p:tags r:id="rId1"/>
            </p:custDataLst>
          </p:nvPr>
        </p:nvSpPr>
        <p:spPr bwMode="auto">
          <a:xfrm>
            <a:off x="910590" y="4293235"/>
            <a:ext cx="6527165" cy="1078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285750" indent="-285750">
              <a:lnSpc>
                <a:spcPct val="130000"/>
              </a:lnSpc>
              <a:spcBef>
                <a:spcPct val="0"/>
              </a:spcBef>
              <a:buFont typeface="Wingdings" panose="05000000000000000000" charset="0"/>
              <a:buChar char="l"/>
            </a:pP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CNN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是经典图像分类模型，适合验证基本可行性</a:t>
            </a: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对部分类别有较好区分能力</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猫</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狗等相似类别混淆严重</a:t>
            </a:r>
          </a:p>
        </p:txBody>
      </p:sp>
      <p:pic>
        <p:nvPicPr>
          <p:cNvPr id="3" name="图片 2"/>
          <p:cNvPicPr>
            <a:picLocks noChangeAspect="1"/>
          </p:cNvPicPr>
          <p:nvPr/>
        </p:nvPicPr>
        <p:blipFill>
          <a:blip r:embed="rId5"/>
          <a:stretch>
            <a:fillRect/>
          </a:stretch>
        </p:blipFill>
        <p:spPr>
          <a:xfrm>
            <a:off x="1486535" y="1412875"/>
            <a:ext cx="8611235" cy="1181735"/>
          </a:xfrm>
          <a:prstGeom prst="rect">
            <a:avLst/>
          </a:prstGeom>
        </p:spPr>
      </p:pic>
      <p:pic>
        <p:nvPicPr>
          <p:cNvPr id="10" name="图片 9"/>
          <p:cNvPicPr>
            <a:picLocks noChangeAspect="1"/>
          </p:cNvPicPr>
          <p:nvPr/>
        </p:nvPicPr>
        <p:blipFill>
          <a:blip r:embed="rId6"/>
          <a:stretch>
            <a:fillRect/>
          </a:stretch>
        </p:blipFill>
        <p:spPr>
          <a:xfrm>
            <a:off x="2789555" y="2885440"/>
            <a:ext cx="7308215" cy="1398270"/>
          </a:xfrm>
          <a:prstGeom prst="rect">
            <a:avLst/>
          </a:prstGeom>
        </p:spPr>
      </p:pic>
      <p:cxnSp>
        <p:nvCxnSpPr>
          <p:cNvPr id="11" name="肘形连接符 10"/>
          <p:cNvCxnSpPr/>
          <p:nvPr/>
        </p:nvCxnSpPr>
        <p:spPr>
          <a:xfrm rot="10800000" flipV="1">
            <a:off x="1773555" y="1986915"/>
            <a:ext cx="8160385" cy="650240"/>
          </a:xfrm>
          <a:prstGeom prst="bentConnector3">
            <a:avLst>
              <a:gd name="adj1" fmla="val -9563"/>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肘形连接符 11"/>
          <p:cNvCxnSpPr/>
          <p:nvPr/>
        </p:nvCxnSpPr>
        <p:spPr>
          <a:xfrm>
            <a:off x="1774190" y="2637155"/>
            <a:ext cx="1080770" cy="791845"/>
          </a:xfrm>
          <a:prstGeom prst="bentConnector3">
            <a:avLst>
              <a:gd name="adj1" fmla="val 646"/>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pic>
        <p:nvPicPr>
          <p:cNvPr id="7" name="图片 6"/>
          <p:cNvPicPr>
            <a:picLocks noChangeAspect="1"/>
          </p:cNvPicPr>
          <p:nvPr/>
        </p:nvPicPr>
        <p:blipFill>
          <a:blip r:embed="rId7"/>
          <a:stretch>
            <a:fillRect/>
          </a:stretch>
        </p:blipFill>
        <p:spPr>
          <a:xfrm>
            <a:off x="1630680" y="5483225"/>
            <a:ext cx="8970645" cy="1042035"/>
          </a:xfrm>
          <a:prstGeom prst="rect">
            <a:avLst/>
          </a:prstGeom>
        </p:spPr>
      </p:pic>
    </p:spTree>
  </p:cSld>
  <p:clrMapOvr>
    <a:masterClrMapping/>
  </p:clrMapOvr>
  <p:transition spd="slow" advTm="300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模型：基线模型改进流程图</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pic>
        <p:nvPicPr>
          <p:cNvPr id="7" name="图片 6"/>
          <p:cNvPicPr>
            <a:picLocks noChangeAspect="1"/>
          </p:cNvPicPr>
          <p:nvPr/>
        </p:nvPicPr>
        <p:blipFill>
          <a:blip r:embed="rId4"/>
          <a:stretch>
            <a:fillRect/>
          </a:stretch>
        </p:blipFill>
        <p:spPr>
          <a:xfrm>
            <a:off x="982345" y="2994025"/>
            <a:ext cx="10100310" cy="1134745"/>
          </a:xfrm>
          <a:prstGeom prst="rect">
            <a:avLst/>
          </a:prstGeom>
        </p:spPr>
      </p:pic>
      <p:pic>
        <p:nvPicPr>
          <p:cNvPr id="8" name="图片 7"/>
          <p:cNvPicPr>
            <a:picLocks noChangeAspect="1"/>
          </p:cNvPicPr>
          <p:nvPr/>
        </p:nvPicPr>
        <p:blipFill>
          <a:blip r:embed="rId5"/>
          <a:stretch>
            <a:fillRect/>
          </a:stretch>
        </p:blipFill>
        <p:spPr>
          <a:xfrm>
            <a:off x="1014095" y="1484630"/>
            <a:ext cx="10161270" cy="1245870"/>
          </a:xfrm>
          <a:prstGeom prst="rect">
            <a:avLst/>
          </a:prstGeom>
        </p:spPr>
      </p:pic>
      <p:pic>
        <p:nvPicPr>
          <p:cNvPr id="10" name="图片 9"/>
          <p:cNvPicPr>
            <a:picLocks noChangeAspect="1"/>
          </p:cNvPicPr>
          <p:nvPr/>
        </p:nvPicPr>
        <p:blipFill>
          <a:blip r:embed="rId6"/>
          <a:stretch>
            <a:fillRect/>
          </a:stretch>
        </p:blipFill>
        <p:spPr>
          <a:xfrm>
            <a:off x="1014095" y="4509135"/>
            <a:ext cx="10227310" cy="1303655"/>
          </a:xfrm>
          <a:prstGeom prst="rect">
            <a:avLst/>
          </a:prstGeom>
        </p:spPr>
      </p:pic>
      <p:cxnSp>
        <p:nvCxnSpPr>
          <p:cNvPr id="11" name="肘形连接符 10"/>
          <p:cNvCxnSpPr/>
          <p:nvPr/>
        </p:nvCxnSpPr>
        <p:spPr>
          <a:xfrm rot="10800000">
            <a:off x="620395" y="2780665"/>
            <a:ext cx="9506585" cy="288290"/>
          </a:xfrm>
          <a:prstGeom prst="bentConnector3">
            <a:avLst>
              <a:gd name="adj1" fmla="val -46"/>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 name="肘形连接符 2"/>
          <p:cNvCxnSpPr/>
          <p:nvPr/>
        </p:nvCxnSpPr>
        <p:spPr>
          <a:xfrm rot="16200000">
            <a:off x="505460" y="2205990"/>
            <a:ext cx="694690" cy="403860"/>
          </a:xfrm>
          <a:prstGeom prst="bentConnector3">
            <a:avLst>
              <a:gd name="adj1" fmla="val 99817"/>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9" name="肘形连接符 8"/>
          <p:cNvCxnSpPr/>
          <p:nvPr/>
        </p:nvCxnSpPr>
        <p:spPr>
          <a:xfrm rot="5400000" flipV="1">
            <a:off x="10517505" y="2462530"/>
            <a:ext cx="1492250" cy="688340"/>
          </a:xfrm>
          <a:prstGeom prst="bentConnector3">
            <a:avLst>
              <a:gd name="adj1" fmla="val 893"/>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H="1">
            <a:off x="10887710" y="3573145"/>
            <a:ext cx="720090" cy="0"/>
          </a:xfrm>
          <a:prstGeom prst="straightConnector1">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肘形连接符 12"/>
          <p:cNvCxnSpPr/>
          <p:nvPr/>
        </p:nvCxnSpPr>
        <p:spPr>
          <a:xfrm rot="10800000" flipV="1">
            <a:off x="694690" y="4001770"/>
            <a:ext cx="9432290" cy="435610"/>
          </a:xfrm>
          <a:prstGeom prst="bentConnector3">
            <a:avLst>
              <a:gd name="adj1" fmla="val 6"/>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4" name="肘形连接符 13"/>
          <p:cNvCxnSpPr/>
          <p:nvPr/>
        </p:nvCxnSpPr>
        <p:spPr>
          <a:xfrm rot="5400000" flipV="1">
            <a:off x="549910" y="4580890"/>
            <a:ext cx="720090" cy="432435"/>
          </a:xfrm>
          <a:prstGeom prst="bentConnector3">
            <a:avLst>
              <a:gd name="adj1" fmla="val 99955"/>
            </a:avLst>
          </a:prstGeom>
          <a:ln w="3175">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advTm="300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模型：模型改进措施</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054735" y="1268730"/>
            <a:ext cx="9739630" cy="922020"/>
          </a:xfrm>
          <a:prstGeom prst="rect">
            <a:avLst/>
          </a:prstGeom>
          <a:noFill/>
        </p:spPr>
        <p:txBody>
          <a:bodyPr wrap="square" rtlCol="0">
            <a:spAutoFit/>
          </a:bodyPr>
          <a:lstStyle/>
          <a:p>
            <a:pPr>
              <a:lnSpc>
                <a:spcPct val="150000"/>
              </a:lnSpc>
            </a:pPr>
            <a:r>
              <a:rPr lang="en-US" altLang="zh-CN">
                <a:latin typeface="微软雅黑" panose="020B0503020204020204" charset="-122"/>
                <a:ea typeface="微软雅黑" panose="020B0503020204020204" charset="-122"/>
                <a:cs typeface="微软雅黑" panose="020B0503020204020204" charset="-122"/>
              </a:rPr>
              <a:t>CNN</a:t>
            </a:r>
            <a:r>
              <a:rPr lang="zh-CN" altLang="en-US">
                <a:latin typeface="微软雅黑" panose="020B0503020204020204" charset="-122"/>
                <a:ea typeface="微软雅黑" panose="020B0503020204020204" charset="-122"/>
                <a:cs typeface="微软雅黑" panose="020B0503020204020204" charset="-122"/>
              </a:rPr>
              <a:t>模型是最基本，也是很成熟的神经网络模型，除了调参以外很难在做别的高效优化。所以本小组在基础的</a:t>
            </a:r>
            <a:r>
              <a:rPr lang="en-US" altLang="zh-CN">
                <a:latin typeface="微软雅黑" panose="020B0503020204020204" charset="-122"/>
                <a:ea typeface="微软雅黑" panose="020B0503020204020204" charset="-122"/>
                <a:cs typeface="微软雅黑" panose="020B0503020204020204" charset="-122"/>
              </a:rPr>
              <a:t>CNN</a:t>
            </a:r>
            <a:r>
              <a:rPr lang="zh-CN" altLang="en-US">
                <a:latin typeface="微软雅黑" panose="020B0503020204020204" charset="-122"/>
                <a:ea typeface="微软雅黑" panose="020B0503020204020204" charset="-122"/>
                <a:cs typeface="微软雅黑" panose="020B0503020204020204" charset="-122"/>
              </a:rPr>
              <a:t>模型上引入了我们自己的思考结果：</a:t>
            </a:r>
          </a:p>
        </p:txBody>
      </p:sp>
      <p:sp>
        <p:nvSpPr>
          <p:cNvPr id="8" name="文本框 7"/>
          <p:cNvSpPr txBox="1"/>
          <p:nvPr/>
        </p:nvSpPr>
        <p:spPr>
          <a:xfrm>
            <a:off x="1217930" y="2348865"/>
            <a:ext cx="6907530" cy="368300"/>
          </a:xfrm>
          <a:prstGeom prst="rect">
            <a:avLst/>
          </a:prstGeom>
          <a:noFill/>
        </p:spPr>
        <p:txBody>
          <a:bodyPr wrap="square" rtlCol="0">
            <a:spAutoFit/>
          </a:bodyPr>
          <a:lstStyle/>
          <a:p>
            <a:r>
              <a:rPr lang="en-US" altLang="zh-CN">
                <a:latin typeface="微软雅黑" panose="020B0503020204020204" charset="-122"/>
                <a:ea typeface="微软雅黑" panose="020B0503020204020204" charset="-122"/>
                <a:cs typeface="微软雅黑" panose="020B0503020204020204" charset="-122"/>
              </a:rPr>
              <a:t>   1. </a:t>
            </a:r>
            <a:r>
              <a:rPr lang="zh-CN" altLang="en-US">
                <a:latin typeface="微软雅黑" panose="020B0503020204020204" charset="-122"/>
                <a:ea typeface="微软雅黑" panose="020B0503020204020204" charset="-122"/>
                <a:cs typeface="微软雅黑" panose="020B0503020204020204" charset="-122"/>
              </a:rPr>
              <a:t>改变</a:t>
            </a:r>
            <a:r>
              <a:rPr lang="en-US" altLang="zh-CN">
                <a:latin typeface="微软雅黑" panose="020B0503020204020204" charset="-122"/>
                <a:ea typeface="微软雅黑" panose="020B0503020204020204" charset="-122"/>
                <a:cs typeface="微软雅黑" panose="020B0503020204020204" charset="-122"/>
              </a:rPr>
              <a:t>Loss</a:t>
            </a:r>
            <a:r>
              <a:rPr lang="zh-CN" altLang="en-US">
                <a:latin typeface="微软雅黑" panose="020B0503020204020204" charset="-122"/>
                <a:ea typeface="微软雅黑" panose="020B0503020204020204" charset="-122"/>
                <a:cs typeface="微软雅黑" panose="020B0503020204020204" charset="-122"/>
              </a:rPr>
              <a:t>损失函数与</a:t>
            </a:r>
            <a:r>
              <a:rPr lang="en-US" altLang="zh-CN">
                <a:latin typeface="微软雅黑" panose="020B0503020204020204" charset="-122"/>
                <a:ea typeface="微软雅黑" panose="020B0503020204020204" charset="-122"/>
                <a:cs typeface="微软雅黑" panose="020B0503020204020204" charset="-122"/>
              </a:rPr>
              <a:t>Dataloader</a:t>
            </a:r>
            <a:r>
              <a:rPr lang="zh-CN" altLang="en-US">
                <a:latin typeface="微软雅黑" panose="020B0503020204020204" charset="-122"/>
                <a:ea typeface="微软雅黑" panose="020B0503020204020204" charset="-122"/>
                <a:cs typeface="微软雅黑" panose="020B0503020204020204" charset="-122"/>
              </a:rPr>
              <a:t>的参数（</a:t>
            </a:r>
            <a:r>
              <a:rPr lang="en-US" altLang="zh-CN">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加权）</a:t>
            </a:r>
          </a:p>
        </p:txBody>
      </p:sp>
      <p:sp>
        <p:nvSpPr>
          <p:cNvPr id="10" name="文本框 9"/>
          <p:cNvSpPr txBox="1"/>
          <p:nvPr/>
        </p:nvSpPr>
        <p:spPr>
          <a:xfrm>
            <a:off x="1486535" y="2708910"/>
            <a:ext cx="9160510" cy="1348740"/>
          </a:xfrm>
          <a:prstGeom prst="rect">
            <a:avLst/>
          </a:prstGeom>
          <a:noFill/>
        </p:spPr>
        <p:txBody>
          <a:bodyPr wrap="square" rtlCol="0">
            <a:noAutofit/>
          </a:bodyPr>
          <a:lstStyle/>
          <a:p>
            <a:pPr>
              <a:lnSpc>
                <a:spcPct val="150000"/>
              </a:lnSpc>
            </a:pPr>
            <a:r>
              <a:rPr lang="zh-CN" altLang="en-US" sz="1600">
                <a:latin typeface="微软雅黑" panose="020B0503020204020204" charset="-122"/>
                <a:ea typeface="微软雅黑" panose="020B0503020204020204" charset="-122"/>
              </a:rPr>
              <a:t>为什么这么做：因为默认的参数就是各种类的权重相等，但是我们发现数据集中各类别的数量并不一致，所以默认给相同的权重是不合理的，于是我们在数据加载的时候就给不同类别相应的权重来进行优化。</a:t>
            </a:r>
          </a:p>
        </p:txBody>
      </p:sp>
      <p:pic>
        <p:nvPicPr>
          <p:cNvPr id="11" name="图片 10"/>
          <p:cNvPicPr>
            <a:picLocks noChangeAspect="1"/>
          </p:cNvPicPr>
          <p:nvPr/>
        </p:nvPicPr>
        <p:blipFill>
          <a:blip r:embed="rId4"/>
          <a:stretch>
            <a:fillRect/>
          </a:stretch>
        </p:blipFill>
        <p:spPr>
          <a:xfrm>
            <a:off x="1414780" y="3882390"/>
            <a:ext cx="7046595" cy="770890"/>
          </a:xfrm>
          <a:prstGeom prst="rect">
            <a:avLst/>
          </a:prstGeom>
        </p:spPr>
      </p:pic>
      <p:pic>
        <p:nvPicPr>
          <p:cNvPr id="12" name="图片 11"/>
          <p:cNvPicPr>
            <a:picLocks noChangeAspect="1"/>
          </p:cNvPicPr>
          <p:nvPr/>
        </p:nvPicPr>
        <p:blipFill>
          <a:blip r:embed="rId5"/>
          <a:stretch>
            <a:fillRect/>
          </a:stretch>
        </p:blipFill>
        <p:spPr>
          <a:xfrm>
            <a:off x="1217930" y="4708525"/>
            <a:ext cx="4667885" cy="393065"/>
          </a:xfrm>
          <a:prstGeom prst="rect">
            <a:avLst/>
          </a:prstGeom>
        </p:spPr>
      </p:pic>
      <p:sp>
        <p:nvSpPr>
          <p:cNvPr id="13" name="文本框 12"/>
          <p:cNvSpPr txBox="1"/>
          <p:nvPr/>
        </p:nvSpPr>
        <p:spPr>
          <a:xfrm>
            <a:off x="1414780" y="5156835"/>
            <a:ext cx="7404100" cy="1281430"/>
          </a:xfrm>
          <a:prstGeom prst="rect">
            <a:avLst/>
          </a:prstGeom>
          <a:noFill/>
        </p:spPr>
        <p:txBody>
          <a:bodyPr wrap="square" rtlCol="0">
            <a:noAutofit/>
          </a:bodyPr>
          <a:lstStyle/>
          <a:p>
            <a:pPr>
              <a:lnSpc>
                <a:spcPct val="120000"/>
              </a:lnSpc>
              <a:spcBef>
                <a:spcPts val="0"/>
              </a:spcBef>
              <a:spcAft>
                <a:spcPts val="0"/>
              </a:spcAft>
            </a:pPr>
            <a:r>
              <a:rPr lang="zh-CN" altLang="en-US" sz="1600">
                <a:solidFill>
                  <a:srgbClr val="FF0000"/>
                </a:solidFill>
                <a:latin typeface="微软雅黑" panose="020B0503020204020204" charset="-122"/>
                <a:ea typeface="微软雅黑" panose="020B0503020204020204" charset="-122"/>
                <a:cs typeface="微软雅黑" panose="020B0503020204020204" charset="-122"/>
              </a:rPr>
              <a:t>因为我们对数据的读取是以</a:t>
            </a:r>
            <a:r>
              <a:rPr lang="en-US" altLang="zh-CN" sz="1600">
                <a:solidFill>
                  <a:srgbClr val="FF0000"/>
                </a:solidFill>
                <a:latin typeface="微软雅黑" panose="020B0503020204020204" charset="-122"/>
                <a:ea typeface="微软雅黑" panose="020B0503020204020204" charset="-122"/>
                <a:cs typeface="微软雅黑" panose="020B0503020204020204" charset="-122"/>
              </a:rPr>
              <a:t>128</a:t>
            </a:r>
            <a:r>
              <a:rPr lang="zh-CN" altLang="en-US" sz="1600">
                <a:solidFill>
                  <a:srgbClr val="FF0000"/>
                </a:solidFill>
                <a:latin typeface="微软雅黑" panose="020B0503020204020204" charset="-122"/>
                <a:ea typeface="微软雅黑" panose="020B0503020204020204" charset="-122"/>
                <a:cs typeface="微软雅黑" panose="020B0503020204020204" charset="-122"/>
              </a:rPr>
              <a:t>个照片为一组，每组进行一次训练，以这样的循环重复多次得到最终训练结果，所以如果一个类别的数量很少，很有可能出现一组里不出现该类别的照片，所以我们需要一开始给一个权重，实现不仅让一个组里的各种类的照片数量接近，同时还能增大数量少的种类的惩罚力度。</a:t>
            </a:r>
          </a:p>
        </p:txBody>
      </p:sp>
      <p:pic>
        <p:nvPicPr>
          <p:cNvPr id="14" name="图片 13"/>
          <p:cNvPicPr>
            <a:picLocks noChangeAspect="1"/>
          </p:cNvPicPr>
          <p:nvPr/>
        </p:nvPicPr>
        <p:blipFill>
          <a:blip r:embed="rId6"/>
          <a:stretch>
            <a:fillRect/>
          </a:stretch>
        </p:blipFill>
        <p:spPr>
          <a:xfrm>
            <a:off x="8818880" y="4708525"/>
            <a:ext cx="2696845" cy="1609090"/>
          </a:xfrm>
          <a:prstGeom prst="rect">
            <a:avLst/>
          </a:prstGeom>
        </p:spPr>
      </p:pic>
      <p:pic>
        <p:nvPicPr>
          <p:cNvPr id="15" name="图片 14">
            <a:extLst>
              <a:ext uri="{FF2B5EF4-FFF2-40B4-BE49-F238E27FC236}">
                <a16:creationId xmlns:a16="http://schemas.microsoft.com/office/drawing/2014/main" id="{C2BBB8BE-60D6-E44C-9D1E-F98A6044D3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9300" y="2272449"/>
            <a:ext cx="905661" cy="556691"/>
          </a:xfrm>
          <a:prstGeom prst="rect">
            <a:avLst/>
          </a:prstGeom>
        </p:spPr>
      </p:pic>
    </p:spTree>
  </p:cSld>
  <p:clrMapOvr>
    <a:masterClrMapping/>
  </p:clrMapOvr>
  <p:transition spd="slow" advTm="300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模型：模型改进措施</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8" name="文本框 7"/>
          <p:cNvSpPr txBox="1"/>
          <p:nvPr/>
        </p:nvSpPr>
        <p:spPr>
          <a:xfrm>
            <a:off x="1342390" y="1228090"/>
            <a:ext cx="5720080" cy="368300"/>
          </a:xfrm>
          <a:prstGeom prst="rect">
            <a:avLst/>
          </a:prstGeom>
          <a:noFill/>
        </p:spPr>
        <p:txBody>
          <a:bodyPr wrap="square" rtlCol="0">
            <a:spAutoFit/>
          </a:bodyPr>
          <a:lstStyle/>
          <a:p>
            <a:r>
              <a:rPr lang="en-US" altLang="zh-CN">
                <a:latin typeface="微软雅黑" panose="020B0503020204020204" charset="-122"/>
                <a:ea typeface="微软雅黑" panose="020B0503020204020204" charset="-122"/>
                <a:cs typeface="微软雅黑" panose="020B0503020204020204" charset="-122"/>
              </a:rPr>
              <a:t>  2. </a:t>
            </a:r>
            <a:r>
              <a:rPr lang="zh-CN" altLang="en-US">
                <a:latin typeface="微软雅黑" panose="020B0503020204020204" charset="-122"/>
                <a:ea typeface="微软雅黑" panose="020B0503020204020204" charset="-122"/>
                <a:cs typeface="微软雅黑" panose="020B0503020204020204" charset="-122"/>
              </a:rPr>
              <a:t>数据预处理</a:t>
            </a:r>
          </a:p>
        </p:txBody>
      </p:sp>
      <p:sp>
        <p:nvSpPr>
          <p:cNvPr id="10" name="文本框 9"/>
          <p:cNvSpPr txBox="1"/>
          <p:nvPr/>
        </p:nvSpPr>
        <p:spPr>
          <a:xfrm>
            <a:off x="1558925" y="2853055"/>
            <a:ext cx="9611995" cy="1348740"/>
          </a:xfrm>
          <a:prstGeom prst="rect">
            <a:avLst/>
          </a:prstGeom>
          <a:noFill/>
        </p:spPr>
        <p:txBody>
          <a:bodyPr wrap="square" rtlCol="0">
            <a:noAutofit/>
          </a:bodyPr>
          <a:lstStyle/>
          <a:p>
            <a:pPr>
              <a:lnSpc>
                <a:spcPct val="120000"/>
              </a:lnSpc>
              <a:spcBef>
                <a:spcPts val="0"/>
              </a:spcBef>
              <a:spcAft>
                <a:spcPts val="0"/>
              </a:spcAft>
            </a:pPr>
            <a:r>
              <a:rPr lang="zh-CN" altLang="en-US" sz="1600">
                <a:latin typeface="微软雅黑" panose="020B0503020204020204" charset="-122"/>
                <a:ea typeface="微软雅黑" panose="020B0503020204020204" charset="-122"/>
              </a:rPr>
              <a:t>为什么这么做：因为考虑到如果一个类别的照片，比如猫的照片猫脸大多数都是朝向一个方向的，那就很难获取另一个朝向的特征，或图像的亮度不同，对比度不同等等，所以我们采用随机的</a:t>
            </a:r>
            <a:r>
              <a:rPr lang="zh-CN" altLang="en-US" sz="1600">
                <a:solidFill>
                  <a:srgbClr val="FF0000"/>
                </a:solidFill>
                <a:latin typeface="微软雅黑" panose="020B0503020204020204" charset="-122"/>
                <a:ea typeface="微软雅黑" panose="020B0503020204020204" charset="-122"/>
              </a:rPr>
              <a:t>变异</a:t>
            </a:r>
            <a:r>
              <a:rPr lang="zh-CN" altLang="en-US" sz="1600">
                <a:solidFill>
                  <a:schemeClr val="tx1"/>
                </a:solidFill>
                <a:latin typeface="微软雅黑" panose="020B0503020204020204" charset="-122"/>
                <a:ea typeface="微软雅黑" panose="020B0503020204020204" charset="-122"/>
              </a:rPr>
              <a:t>以便于尽量获取更多特征且减少干扰因素。</a:t>
            </a:r>
          </a:p>
        </p:txBody>
      </p:sp>
      <p:pic>
        <p:nvPicPr>
          <p:cNvPr id="3" name="图片 2"/>
          <p:cNvPicPr>
            <a:picLocks noChangeAspect="1"/>
          </p:cNvPicPr>
          <p:nvPr/>
        </p:nvPicPr>
        <p:blipFill>
          <a:blip r:embed="rId4"/>
          <a:stretch>
            <a:fillRect/>
          </a:stretch>
        </p:blipFill>
        <p:spPr>
          <a:xfrm>
            <a:off x="1630680" y="1628775"/>
            <a:ext cx="7014845" cy="1345565"/>
          </a:xfrm>
          <a:prstGeom prst="rect">
            <a:avLst/>
          </a:prstGeom>
        </p:spPr>
      </p:pic>
      <p:sp>
        <p:nvSpPr>
          <p:cNvPr id="17" name="文本框 16"/>
          <p:cNvSpPr txBox="1"/>
          <p:nvPr/>
        </p:nvSpPr>
        <p:spPr>
          <a:xfrm>
            <a:off x="1486535" y="3933190"/>
            <a:ext cx="6681470" cy="368300"/>
          </a:xfrm>
          <a:prstGeom prst="rect">
            <a:avLst/>
          </a:prstGeom>
          <a:noFill/>
        </p:spPr>
        <p:txBody>
          <a:bodyPr wrap="square" rtlCol="0">
            <a:spAutoFit/>
          </a:bodyPr>
          <a:lstStyle/>
          <a:p>
            <a:r>
              <a:rPr lang="en-US" altLang="zh-CN">
                <a:latin typeface="微软雅黑" panose="020B0503020204020204" charset="-122"/>
                <a:ea typeface="微软雅黑" panose="020B0503020204020204" charset="-122"/>
                <a:cs typeface="微软雅黑" panose="020B0503020204020204" charset="-122"/>
              </a:rPr>
              <a:t>3. </a:t>
            </a:r>
            <a:r>
              <a:rPr lang="zh-CN" altLang="en-US">
                <a:latin typeface="微软雅黑" panose="020B0503020204020204" charset="-122"/>
                <a:ea typeface="微软雅黑" panose="020B0503020204020204" charset="-122"/>
                <a:cs typeface="微软雅黑" panose="020B0503020204020204" charset="-122"/>
              </a:rPr>
              <a:t>对每次训练的参数结果进行加权平均作为下一次训练的参数</a:t>
            </a:r>
          </a:p>
        </p:txBody>
      </p:sp>
      <p:pic>
        <p:nvPicPr>
          <p:cNvPr id="18" name="图片 17"/>
          <p:cNvPicPr>
            <a:picLocks noChangeAspect="1"/>
          </p:cNvPicPr>
          <p:nvPr/>
        </p:nvPicPr>
        <p:blipFill>
          <a:blip r:embed="rId5"/>
          <a:stretch>
            <a:fillRect/>
          </a:stretch>
        </p:blipFill>
        <p:spPr>
          <a:xfrm>
            <a:off x="1702435" y="4301490"/>
            <a:ext cx="5208905" cy="1276985"/>
          </a:xfrm>
          <a:prstGeom prst="rect">
            <a:avLst/>
          </a:prstGeom>
        </p:spPr>
      </p:pic>
      <p:sp>
        <p:nvSpPr>
          <p:cNvPr id="19" name="文本框 18"/>
          <p:cNvSpPr txBox="1"/>
          <p:nvPr/>
        </p:nvSpPr>
        <p:spPr>
          <a:xfrm>
            <a:off x="1630680" y="5531485"/>
            <a:ext cx="9338310" cy="583565"/>
          </a:xfrm>
          <a:prstGeom prst="rect">
            <a:avLst/>
          </a:prstGeom>
          <a:noFill/>
        </p:spPr>
        <p:txBody>
          <a:bodyPr wrap="square" rtlCol="0">
            <a:spAutoFit/>
          </a:bodyPr>
          <a:lstStyle/>
          <a:p>
            <a:r>
              <a:rPr lang="zh-CN" altLang="en-US" sz="1600">
                <a:latin typeface="微软雅黑" panose="020B0503020204020204" charset="-122"/>
                <a:ea typeface="微软雅黑" panose="020B0503020204020204" charset="-122"/>
              </a:rPr>
              <a:t>为什么这么做：因为我们提出一个思想，有没有可能上一次准确率高的参数与当前轮准确率下降的参数通过加权得到的新参数会使结果更好？</a:t>
            </a:r>
          </a:p>
        </p:txBody>
      </p:sp>
    </p:spTree>
  </p:cSld>
  <p:clrMapOvr>
    <a:masterClrMapping/>
  </p:clrMapOvr>
  <p:transition spd="slow" advTm="300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模型：模型改进措施</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8" name="文本框 7"/>
          <p:cNvSpPr txBox="1"/>
          <p:nvPr/>
        </p:nvSpPr>
        <p:spPr>
          <a:xfrm>
            <a:off x="1342390" y="1228090"/>
            <a:ext cx="5720080" cy="368300"/>
          </a:xfrm>
          <a:prstGeom prst="rect">
            <a:avLst/>
          </a:prstGeom>
          <a:noFill/>
        </p:spPr>
        <p:txBody>
          <a:bodyPr wrap="square" rtlCol="0">
            <a:spAutoFit/>
          </a:bodyPr>
          <a:lstStyle/>
          <a:p>
            <a:r>
              <a:rPr lang="en-US" altLang="zh-CN">
                <a:latin typeface="微软雅黑" panose="020B0503020204020204" charset="-122"/>
                <a:ea typeface="微软雅黑" panose="020B0503020204020204" charset="-122"/>
                <a:cs typeface="微软雅黑" panose="020B0503020204020204" charset="-122"/>
              </a:rPr>
              <a:t>   4. </a:t>
            </a:r>
            <a:r>
              <a:rPr lang="zh-CN" altLang="en-US">
                <a:latin typeface="微软雅黑" panose="020B0503020204020204" charset="-122"/>
                <a:ea typeface="微软雅黑" panose="020B0503020204020204" charset="-122"/>
                <a:cs typeface="微软雅黑" panose="020B0503020204020204" charset="-122"/>
              </a:rPr>
              <a:t>引入余弦退火学习率调度器</a:t>
            </a:r>
          </a:p>
        </p:txBody>
      </p:sp>
      <p:pic>
        <p:nvPicPr>
          <p:cNvPr id="7" name="图片 6"/>
          <p:cNvPicPr>
            <a:picLocks noChangeAspect="1"/>
          </p:cNvPicPr>
          <p:nvPr/>
        </p:nvPicPr>
        <p:blipFill>
          <a:blip r:embed="rId4"/>
          <a:stretch>
            <a:fillRect/>
          </a:stretch>
        </p:blipFill>
        <p:spPr>
          <a:xfrm>
            <a:off x="1558925" y="1700530"/>
            <a:ext cx="6641465" cy="1048385"/>
          </a:xfrm>
          <a:prstGeom prst="rect">
            <a:avLst/>
          </a:prstGeom>
        </p:spPr>
      </p:pic>
      <p:sp>
        <p:nvSpPr>
          <p:cNvPr id="9" name="文本框 8"/>
          <p:cNvSpPr txBox="1"/>
          <p:nvPr/>
        </p:nvSpPr>
        <p:spPr>
          <a:xfrm>
            <a:off x="1607185" y="2974340"/>
            <a:ext cx="7967980" cy="829945"/>
          </a:xfrm>
          <a:prstGeom prst="rect">
            <a:avLst/>
          </a:prstGeom>
          <a:noFill/>
        </p:spPr>
        <p:txBody>
          <a:bodyPr wrap="square" rtlCol="0">
            <a:spAutoFit/>
          </a:bodyPr>
          <a:lstStyle/>
          <a:p>
            <a:pPr>
              <a:lnSpc>
                <a:spcPct val="150000"/>
              </a:lnSpc>
            </a:pPr>
            <a:r>
              <a:rPr lang="zh-CN" altLang="en-US" sz="1600">
                <a:latin typeface="微软雅黑" panose="020B0503020204020204" charset="-122"/>
                <a:ea typeface="微软雅黑" panose="020B0503020204020204" charset="-122"/>
              </a:rPr>
              <a:t>为什么这么做：通过引用该学习率调度器可以逐渐的降低我们的学习率，实现初期快速收敛，中期进行更精细的调整，最后达到一个稳定收敛状态</a:t>
            </a:r>
          </a:p>
        </p:txBody>
      </p:sp>
    </p:spTree>
  </p:cSld>
  <p:clrMapOvr>
    <a:masterClrMapping/>
  </p:clrMapOvr>
  <p:transition spd="slow" advTm="3000">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pic>
        <p:nvPicPr>
          <p:cNvPr id="3" name="图片 2" descr="5b5f9e789720898aa97db230dc2755c7"/>
          <p:cNvPicPr>
            <a:picLocks noChangeAspect="1"/>
          </p:cNvPicPr>
          <p:nvPr/>
        </p:nvPicPr>
        <p:blipFill>
          <a:blip r:embed="rId4"/>
          <a:stretch>
            <a:fillRect/>
          </a:stretch>
        </p:blipFill>
        <p:spPr>
          <a:xfrm>
            <a:off x="1414780" y="1228090"/>
            <a:ext cx="2686685" cy="2014855"/>
          </a:xfrm>
          <a:prstGeom prst="rect">
            <a:avLst/>
          </a:prstGeom>
        </p:spPr>
      </p:pic>
      <p:sp>
        <p:nvSpPr>
          <p:cNvPr id="7" name="文本框 6"/>
          <p:cNvSpPr txBox="1"/>
          <p:nvPr/>
        </p:nvSpPr>
        <p:spPr>
          <a:xfrm>
            <a:off x="1845310" y="3429000"/>
            <a:ext cx="2025650" cy="306705"/>
          </a:xfrm>
          <a:prstGeom prst="rect">
            <a:avLst/>
          </a:prstGeom>
          <a:noFill/>
        </p:spPr>
        <p:txBody>
          <a:bodyPr wrap="square" rtlCol="0">
            <a:spAutoFit/>
          </a:bodyPr>
          <a:lstStyle/>
          <a:p>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模型一混淆矩阵结果</a:t>
            </a:r>
          </a:p>
        </p:txBody>
      </p:sp>
      <p:pic>
        <p:nvPicPr>
          <p:cNvPr id="11" name="图片 10" descr="training_curves "/>
          <p:cNvPicPr>
            <a:picLocks noChangeAspect="1"/>
          </p:cNvPicPr>
          <p:nvPr/>
        </p:nvPicPr>
        <p:blipFill>
          <a:blip r:embed="rId5"/>
          <a:stretch>
            <a:fillRect/>
          </a:stretch>
        </p:blipFill>
        <p:spPr>
          <a:xfrm>
            <a:off x="4222750" y="1268730"/>
            <a:ext cx="3463290" cy="1731645"/>
          </a:xfrm>
          <a:prstGeom prst="rect">
            <a:avLst/>
          </a:prstGeom>
        </p:spPr>
      </p:pic>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rPr>
              <a:t>模型一损失率与准确率结果</a:t>
            </a:r>
          </a:p>
        </p:txBody>
      </p:sp>
      <p:pic>
        <p:nvPicPr>
          <p:cNvPr id="14" name="图片 13" descr="training_curves  (1)"/>
          <p:cNvPicPr>
            <a:picLocks noChangeAspect="1"/>
          </p:cNvPicPr>
          <p:nvPr/>
        </p:nvPicPr>
        <p:blipFill>
          <a:blip r:embed="rId6"/>
          <a:stretch>
            <a:fillRect/>
          </a:stretch>
        </p:blipFill>
        <p:spPr>
          <a:xfrm>
            <a:off x="4294505" y="3789045"/>
            <a:ext cx="3463200" cy="1731600"/>
          </a:xfrm>
          <a:prstGeom prst="rect">
            <a:avLst/>
          </a:prstGeom>
        </p:spPr>
      </p:pic>
      <p:pic>
        <p:nvPicPr>
          <p:cNvPr id="15" name="图片 14" descr="confusion_matrix "/>
          <p:cNvPicPr>
            <a:picLocks noChangeAspect="1"/>
          </p:cNvPicPr>
          <p:nvPr/>
        </p:nvPicPr>
        <p:blipFill>
          <a:blip r:embed="rId7"/>
          <a:stretch>
            <a:fillRect/>
          </a:stretch>
        </p:blipFill>
        <p:spPr>
          <a:xfrm>
            <a:off x="1414780" y="3797300"/>
            <a:ext cx="2688000" cy="2016000"/>
          </a:xfrm>
          <a:prstGeom prst="rect">
            <a:avLst/>
          </a:prstGeom>
        </p:spPr>
      </p:pic>
      <p:sp>
        <p:nvSpPr>
          <p:cNvPr id="16" name="文本框 15"/>
          <p:cNvSpPr txBox="1"/>
          <p:nvPr/>
        </p:nvSpPr>
        <p:spPr>
          <a:xfrm>
            <a:off x="1846580" y="5949315"/>
            <a:ext cx="1910080" cy="306705"/>
          </a:xfrm>
          <a:prstGeom prst="rect">
            <a:avLst/>
          </a:prstGeom>
          <a:noFill/>
        </p:spPr>
        <p:txBody>
          <a:bodyPr wrap="square" rtlCol="0">
            <a:spAutoFit/>
          </a:bodyPr>
          <a:lstStyle/>
          <a:p>
            <a:r>
              <a:rPr lang="zh-CN" altLang="en-US" sz="1400">
                <a:latin typeface="微软雅黑" panose="020B0503020204020204" charset="-122"/>
                <a:ea typeface="微软雅黑" panose="020B0503020204020204" charset="-122"/>
              </a:rPr>
              <a:t>模型二混淆矩阵结果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模型二加权损失率与准确率结果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32065" y="795020"/>
            <a:ext cx="4098925" cy="5267960"/>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基于改进措施我们尝试了两种不同的模型（主要区别在于是否有参数加权）</a:t>
            </a: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Loss</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函数与</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Dataloader</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参数初始化</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准确率最好为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76.37%</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通过损失函数权重直接解决类别不</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平衡问题</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有过拟合现象产生</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Loss</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函数与</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Dataloader</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参数初始化</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结果参数加权</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准确率最好为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69.73%</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（效果较差）</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说明这样的简单的加权可能不会使结果更优</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也可能是跑的次数太少，但根据准确率结果曲线看，思想错误的可能更大</a:t>
            </a:r>
          </a:p>
          <a:p>
            <a:pPr lvl="1" indent="0">
              <a:lnSpc>
                <a:spcPct val="150000"/>
              </a:lnSpc>
              <a:spcBef>
                <a:spcPct val="0"/>
              </a:spcBef>
              <a:buFont typeface="Wingdings" panose="05000000000000000000" charset="0"/>
              <a:buNone/>
            </a:pP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advTm="300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模型：模型改进措施（强化版）</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3" name="文本框 2"/>
          <p:cNvSpPr txBox="1"/>
          <p:nvPr/>
        </p:nvSpPr>
        <p:spPr>
          <a:xfrm>
            <a:off x="1624965" y="1124585"/>
            <a:ext cx="8590280" cy="3830955"/>
          </a:xfrm>
          <a:prstGeom prst="rect">
            <a:avLst/>
          </a:prstGeom>
          <a:noFill/>
        </p:spPr>
        <p:txBody>
          <a:bodyPr wrap="square" rtlCol="0">
            <a:spAutoFit/>
          </a:bodyPr>
          <a:lstStyle/>
          <a:p>
            <a:pPr>
              <a:lnSpc>
                <a:spcPct val="150000"/>
              </a:lnSpc>
            </a:pPr>
            <a:r>
              <a:rPr lang="zh-CN" altLang="en-US">
                <a:latin typeface="微软雅黑" panose="020B0503020204020204" charset="-122"/>
                <a:ea typeface="微软雅黑" panose="020B0503020204020204" charset="-122"/>
                <a:sym typeface="+mn-ea"/>
              </a:rPr>
              <a:t>将我们的想法付诸实际发现实际效果并不好，但本组认为并不是想法不好，而是我们没有采用正确的方法将其巧妙的结合起来，所以在我们原来的想法基础上进一步完善得到以下优化方式：</a:t>
            </a:r>
          </a:p>
          <a:p>
            <a:pPr>
              <a:lnSpc>
                <a:spcPct val="150000"/>
              </a:lnSpc>
            </a:pPr>
            <a:r>
              <a:rPr lang="en-US" altLang="zh-CN">
                <a:latin typeface="微软雅黑" panose="020B0503020204020204" charset="-122"/>
                <a:ea typeface="微软雅黑" panose="020B0503020204020204" charset="-122"/>
                <a:sym typeface="+mn-ea"/>
              </a:rPr>
              <a:t>1. </a:t>
            </a:r>
            <a:r>
              <a:rPr lang="zh-CN" altLang="en-US">
                <a:latin typeface="微软雅黑" panose="020B0503020204020204" charset="-122"/>
                <a:ea typeface="微软雅黑" panose="020B0503020204020204" charset="-122"/>
              </a:rPr>
              <a:t>利用数学逻辑进行参数初始化</a:t>
            </a:r>
          </a:p>
          <a:p>
            <a:pPr>
              <a:lnSpc>
                <a:spcPct val="150000"/>
              </a:lnSpc>
            </a:pPr>
            <a:endParaRPr lang="zh-CN" altLang="en-US">
              <a:latin typeface="微软雅黑" panose="020B0503020204020204" charset="-122"/>
              <a:ea typeface="微软雅黑" panose="020B0503020204020204" charset="-122"/>
            </a:endParaRPr>
          </a:p>
          <a:p>
            <a:pPr>
              <a:lnSpc>
                <a:spcPct val="150000"/>
              </a:lnSpc>
            </a:pPr>
            <a:endParaRPr lang="zh-CN" altLang="en-US">
              <a:latin typeface="微软雅黑" panose="020B0503020204020204" charset="-122"/>
              <a:ea typeface="微软雅黑" panose="020B0503020204020204" charset="-122"/>
            </a:endParaRPr>
          </a:p>
          <a:p>
            <a:pPr>
              <a:lnSpc>
                <a:spcPct val="150000"/>
              </a:lnSpc>
            </a:pPr>
            <a:r>
              <a:rPr lang="en-US" altLang="zh-CN">
                <a:latin typeface="微软雅黑" panose="020B0503020204020204" charset="-122"/>
                <a:ea typeface="微软雅黑" panose="020B0503020204020204" charset="-122"/>
              </a:rPr>
              <a:t>2. </a:t>
            </a:r>
            <a:r>
              <a:rPr lang="zh-CN" altLang="en-US">
                <a:latin typeface="微软雅黑" panose="020B0503020204020204" charset="-122"/>
                <a:ea typeface="微软雅黑" panose="020B0503020204020204" charset="-122"/>
              </a:rPr>
              <a:t>将</a:t>
            </a:r>
            <a:r>
              <a:rPr lang="en-US" altLang="zh-CN">
                <a:latin typeface="微软雅黑" panose="020B0503020204020204" charset="-122"/>
                <a:ea typeface="微软雅黑" panose="020B0503020204020204" charset="-122"/>
              </a:rPr>
              <a:t>dropout</a:t>
            </a:r>
            <a:r>
              <a:rPr lang="zh-CN" altLang="en-US">
                <a:latin typeface="微软雅黑" panose="020B0503020204020204" charset="-122"/>
                <a:ea typeface="微软雅黑" panose="020B0503020204020204" charset="-122"/>
              </a:rPr>
              <a:t>参数调的更高，随机丧失神经元的活性，防止过拟合</a:t>
            </a:r>
          </a:p>
          <a:p>
            <a:pPr>
              <a:lnSpc>
                <a:spcPct val="150000"/>
              </a:lnSpc>
            </a:pPr>
            <a:endParaRPr lang="zh-CN" altLang="en-US">
              <a:latin typeface="微软雅黑" panose="020B0503020204020204" charset="-122"/>
              <a:ea typeface="微软雅黑" panose="020B0503020204020204" charset="-122"/>
            </a:endParaRPr>
          </a:p>
          <a:p>
            <a:pPr>
              <a:lnSpc>
                <a:spcPct val="150000"/>
              </a:lnSpc>
            </a:pPr>
            <a:r>
              <a:rPr lang="en-US" altLang="zh-CN">
                <a:latin typeface="微软雅黑" panose="020B0503020204020204" charset="-122"/>
                <a:ea typeface="微软雅黑" panose="020B0503020204020204" charset="-122"/>
              </a:rPr>
              <a:t>3. </a:t>
            </a:r>
            <a:r>
              <a:rPr lang="zh-CN" altLang="en-US">
                <a:latin typeface="微软雅黑" panose="020B0503020204020204" charset="-122"/>
                <a:ea typeface="微软雅黑" panose="020B0503020204020204" charset="-122"/>
              </a:rPr>
              <a:t>在参数加权的思想上，将正确率加权改为固定权重</a:t>
            </a:r>
          </a:p>
        </p:txBody>
      </p:sp>
      <p:pic>
        <p:nvPicPr>
          <p:cNvPr id="10" name="图片 9"/>
          <p:cNvPicPr>
            <a:picLocks noChangeAspect="1"/>
          </p:cNvPicPr>
          <p:nvPr/>
        </p:nvPicPr>
        <p:blipFill>
          <a:blip r:embed="rId4"/>
          <a:stretch>
            <a:fillRect/>
          </a:stretch>
        </p:blipFill>
        <p:spPr>
          <a:xfrm>
            <a:off x="1702435" y="2924810"/>
            <a:ext cx="8829675" cy="681990"/>
          </a:xfrm>
          <a:prstGeom prst="rect">
            <a:avLst/>
          </a:prstGeom>
        </p:spPr>
      </p:pic>
      <p:pic>
        <p:nvPicPr>
          <p:cNvPr id="11" name="图片 10"/>
          <p:cNvPicPr>
            <a:picLocks noChangeAspect="1"/>
          </p:cNvPicPr>
          <p:nvPr/>
        </p:nvPicPr>
        <p:blipFill>
          <a:blip r:embed="rId5"/>
          <a:stretch>
            <a:fillRect/>
          </a:stretch>
        </p:blipFill>
        <p:spPr>
          <a:xfrm>
            <a:off x="1558925" y="4076700"/>
            <a:ext cx="7421245" cy="394970"/>
          </a:xfrm>
          <a:prstGeom prst="rect">
            <a:avLst/>
          </a:prstGeom>
        </p:spPr>
      </p:pic>
      <p:pic>
        <p:nvPicPr>
          <p:cNvPr id="12" name="图片 11"/>
          <p:cNvPicPr>
            <a:picLocks noChangeAspect="1"/>
          </p:cNvPicPr>
          <p:nvPr/>
        </p:nvPicPr>
        <p:blipFill>
          <a:blip r:embed="rId6"/>
          <a:stretch>
            <a:fillRect/>
          </a:stretch>
        </p:blipFill>
        <p:spPr>
          <a:xfrm>
            <a:off x="2005965" y="4940935"/>
            <a:ext cx="5511800" cy="1396365"/>
          </a:xfrm>
          <a:prstGeom prst="rect">
            <a:avLst/>
          </a:prstGeom>
        </p:spPr>
      </p:pic>
    </p:spTree>
  </p:cSld>
  <p:clrMapOvr>
    <a:masterClrMapping/>
  </p:clrMapOvr>
  <p:transition spd="slow" advTm="300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模型：结果分析（强化版）</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0256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微软雅黑" panose="020B0503020204020204" charset="-122"/>
                <a:ea typeface="微软雅黑" panose="020B0503020204020204" charset="-122"/>
                <a:cs typeface="+mj-ea"/>
              </a:rPr>
              <a:t>init</a:t>
            </a:r>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en-US" altLang="zh-CN" sz="1400">
                <a:latin typeface="微软雅黑" panose="020B0503020204020204" charset="-122"/>
                <a:ea typeface="微软雅黑" panose="020B0503020204020204" charset="-122"/>
                <a:cs typeface="+mn-ea"/>
              </a:rPr>
              <a:t>init</a:t>
            </a:r>
            <a:r>
              <a:rPr lang="zh-CN" altLang="en-US" sz="1400">
                <a:latin typeface="微软雅黑" panose="020B0503020204020204" charset="-122"/>
                <a:ea typeface="微软雅黑" panose="020B0503020204020204" charset="-122"/>
                <a:cs typeface="+mn-ea"/>
              </a:rPr>
              <a:t>损失率与准确率结果</a:t>
            </a:r>
          </a:p>
        </p:txBody>
      </p:sp>
      <p:sp>
        <p:nvSpPr>
          <p:cNvPr id="16" name="文本框 15"/>
          <p:cNvSpPr txBox="1"/>
          <p:nvPr/>
        </p:nvSpPr>
        <p:spPr>
          <a:xfrm>
            <a:off x="1846580" y="5949315"/>
            <a:ext cx="2024380" cy="306705"/>
          </a:xfrm>
          <a:prstGeom prst="rect">
            <a:avLst/>
          </a:prstGeom>
          <a:noFill/>
        </p:spPr>
        <p:txBody>
          <a:bodyPr wrap="square" rtlCol="0">
            <a:spAutoFit/>
          </a:bodyPr>
          <a:lstStyle/>
          <a:p>
            <a:r>
              <a:rPr lang="zh-CN" altLang="en-US" sz="1400">
                <a:latin typeface="微软雅黑" panose="020B0503020204020204" charset="-122"/>
                <a:ea typeface="微软雅黑" panose="020B0503020204020204" charset="-122"/>
              </a:rPr>
              <a:t>防过拟合混淆矩阵结果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防过拟合加权损失率与准确率结果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79055" y="549275"/>
            <a:ext cx="4098925" cy="6228080"/>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endPar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数学逻辑参数初始化</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准确率最好为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80.01%</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a:t>
            </a:r>
            <a:r>
              <a:rPr 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Kaiming</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方法进行参数初始化，可以根据每层的具体结构自动计算</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std</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值保证信号强度在深层网络中的稳定</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有过拟合现象产生</a:t>
            </a:r>
          </a:p>
          <a:p>
            <a:pPr marL="285750" indent="-285750">
              <a:lnSpc>
                <a:spcPct val="150000"/>
              </a:lnSpc>
              <a:spcBef>
                <a:spcPct val="0"/>
              </a:spcBef>
              <a:buFont typeface="Wingdings" panose="05000000000000000000" charset="0"/>
              <a:buChar char="l"/>
            </a:pPr>
            <a:r>
              <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防过拟合</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准确率最好为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84.01%</a:t>
            </a:r>
          </a:p>
          <a:p>
            <a:pPr marL="742950" lvl="1" indent="-285750">
              <a:lnSpc>
                <a:spcPct val="15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dropout</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过低可能导致不同的神经元总是一起集合，他们学会一个特定模式就可能导致过拟合，但以不同的概率出现就更可能独立的工作可以学习更通用的特征</a:t>
            </a:r>
          </a:p>
        </p:txBody>
      </p:sp>
      <p:pic>
        <p:nvPicPr>
          <p:cNvPr id="9" name="图片 8" descr="confusion_matrix (1)"/>
          <p:cNvPicPr>
            <a:picLocks noChangeAspect="1"/>
          </p:cNvPicPr>
          <p:nvPr/>
        </p:nvPicPr>
        <p:blipFill>
          <a:blip r:embed="rId4"/>
          <a:stretch>
            <a:fillRect/>
          </a:stretch>
        </p:blipFill>
        <p:spPr>
          <a:xfrm>
            <a:off x="1486535" y="1196975"/>
            <a:ext cx="2688000" cy="2016000"/>
          </a:xfrm>
          <a:prstGeom prst="rect">
            <a:avLst/>
          </a:prstGeom>
        </p:spPr>
      </p:pic>
      <p:pic>
        <p:nvPicPr>
          <p:cNvPr id="10" name="图片 9" descr="training_curves (1)"/>
          <p:cNvPicPr>
            <a:picLocks noChangeAspect="1"/>
          </p:cNvPicPr>
          <p:nvPr/>
        </p:nvPicPr>
        <p:blipFill>
          <a:blip r:embed="rId5"/>
          <a:stretch>
            <a:fillRect/>
          </a:stretch>
        </p:blipFill>
        <p:spPr>
          <a:xfrm>
            <a:off x="4524375" y="1628775"/>
            <a:ext cx="3028950" cy="1514475"/>
          </a:xfrm>
          <a:prstGeom prst="rect">
            <a:avLst/>
          </a:prstGeom>
        </p:spPr>
      </p:pic>
      <p:pic>
        <p:nvPicPr>
          <p:cNvPr id="13" name="图片 12" descr="confusion_matrix (2)"/>
          <p:cNvPicPr>
            <a:picLocks noChangeAspect="1"/>
          </p:cNvPicPr>
          <p:nvPr/>
        </p:nvPicPr>
        <p:blipFill>
          <a:blip r:embed="rId6"/>
          <a:stretch>
            <a:fillRect/>
          </a:stretch>
        </p:blipFill>
        <p:spPr>
          <a:xfrm>
            <a:off x="1445895" y="3860800"/>
            <a:ext cx="2688000" cy="2016000"/>
          </a:xfrm>
          <a:prstGeom prst="rect">
            <a:avLst/>
          </a:prstGeom>
        </p:spPr>
      </p:pic>
      <p:pic>
        <p:nvPicPr>
          <p:cNvPr id="18" name="图片 17" descr="training_curves (2)"/>
          <p:cNvPicPr>
            <a:picLocks noChangeAspect="1"/>
          </p:cNvPicPr>
          <p:nvPr/>
        </p:nvPicPr>
        <p:blipFill>
          <a:blip r:embed="rId7"/>
          <a:stretch>
            <a:fillRect/>
          </a:stretch>
        </p:blipFill>
        <p:spPr>
          <a:xfrm>
            <a:off x="4798695" y="4364990"/>
            <a:ext cx="2592000" cy="1296000"/>
          </a:xfrm>
          <a:prstGeom prst="rect">
            <a:avLst/>
          </a:prstGeom>
        </p:spPr>
      </p:pic>
    </p:spTree>
  </p:cSld>
  <p:clrMapOvr>
    <a:masterClrMapping/>
  </p:clrMapOvr>
  <p:transition spd="slow" advTm="300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CNN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模型：结果分析（强化版）</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321435" y="4436745"/>
            <a:ext cx="20256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微软雅黑" panose="020B0503020204020204" charset="-122"/>
                <a:ea typeface="微软雅黑" panose="020B0503020204020204" charset="-122"/>
                <a:cs typeface="+mj-ea"/>
              </a:rPr>
              <a:t>static</a:t>
            </a:r>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混淆矩阵结果</a:t>
            </a:r>
          </a:p>
        </p:txBody>
      </p:sp>
      <p:sp>
        <p:nvSpPr>
          <p:cNvPr id="12" name="文本框 11"/>
          <p:cNvSpPr txBox="1"/>
          <p:nvPr/>
        </p:nvSpPr>
        <p:spPr>
          <a:xfrm>
            <a:off x="3691890" y="4436745"/>
            <a:ext cx="4063365" cy="306705"/>
          </a:xfrm>
          <a:prstGeom prst="rect">
            <a:avLst/>
          </a:prstGeom>
          <a:noFill/>
        </p:spPr>
        <p:txBody>
          <a:bodyPr wrap="square" rtlCol="0">
            <a:spAutoFit/>
          </a:bodyPr>
          <a:lstStyle/>
          <a:p>
            <a:pPr algn="ctr"/>
            <a:r>
              <a:rPr lang="en-US" altLang="zh-CN" sz="1400">
                <a:latin typeface="微软雅黑" panose="020B0503020204020204" charset="-122"/>
                <a:ea typeface="微软雅黑" panose="020B0503020204020204" charset="-122"/>
                <a:cs typeface="+mn-ea"/>
              </a:rPr>
              <a:t>static</a:t>
            </a:r>
            <a:r>
              <a:rPr lang="zh-CN" altLang="en-US" sz="1400">
                <a:latin typeface="微软雅黑" panose="020B0503020204020204" charset="-122"/>
                <a:ea typeface="微软雅黑" panose="020B0503020204020204" charset="-122"/>
                <a:cs typeface="+mn-ea"/>
              </a:rPr>
              <a:t>损失率与准确率结果</a:t>
            </a:r>
          </a:p>
        </p:txBody>
      </p:sp>
      <p:sp>
        <p:nvSpPr>
          <p:cNvPr id="8" name="文本框 7"/>
          <p:cNvSpPr txBox="1"/>
          <p:nvPr/>
        </p:nvSpPr>
        <p:spPr>
          <a:xfrm>
            <a:off x="7632065" y="1556385"/>
            <a:ext cx="4098925" cy="377888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endPar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静态参数加权</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准确率最好为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82.6%</a:t>
            </a: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前</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40</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个</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epoch</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不启用加权，只在验证准确率下降的时候出发，触发后总是以（</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0.3,0.7</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）的比例融合，这样可以减少训练的波动，同时对历史的模型更加强调，避免激进的更新（合理推测）</a:t>
            </a:r>
            <a:r>
              <a:rPr lang="zh-CN" altLang="en-US" sz="18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 name="图片 2" descr="confusion_matrix (2)"/>
          <p:cNvPicPr>
            <a:picLocks noChangeAspect="1"/>
          </p:cNvPicPr>
          <p:nvPr/>
        </p:nvPicPr>
        <p:blipFill>
          <a:blip r:embed="rId4"/>
          <a:stretch>
            <a:fillRect/>
          </a:stretch>
        </p:blipFill>
        <p:spPr>
          <a:xfrm>
            <a:off x="910590" y="2060575"/>
            <a:ext cx="2847340" cy="2136140"/>
          </a:xfrm>
          <a:prstGeom prst="rect">
            <a:avLst/>
          </a:prstGeom>
        </p:spPr>
      </p:pic>
      <p:pic>
        <p:nvPicPr>
          <p:cNvPr id="11" name="图片 10" descr="training_curves (2)"/>
          <p:cNvPicPr>
            <a:picLocks noChangeAspect="1"/>
          </p:cNvPicPr>
          <p:nvPr/>
        </p:nvPicPr>
        <p:blipFill>
          <a:blip r:embed="rId5"/>
          <a:stretch>
            <a:fillRect/>
          </a:stretch>
        </p:blipFill>
        <p:spPr>
          <a:xfrm>
            <a:off x="3863340" y="2336165"/>
            <a:ext cx="3720465" cy="1860550"/>
          </a:xfrm>
          <a:prstGeom prst="rect">
            <a:avLst/>
          </a:prstGeom>
        </p:spPr>
      </p:pic>
    </p:spTree>
  </p:cSld>
  <p:clrMapOvr>
    <a:masterClrMapping/>
  </p:clrMapOvr>
  <p:transition spd="slow" advTm="300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936865" cy="1271905"/>
            <a:chOff x="550590" y="536707"/>
            <a:chExt cx="7936865" cy="1271905"/>
          </a:xfrm>
        </p:grpSpPr>
        <p:sp>
          <p:nvSpPr>
            <p:cNvPr id="4" name="TextBox 40"/>
            <p:cNvSpPr txBox="1"/>
            <p:nvPr/>
          </p:nvSpPr>
          <p:spPr>
            <a:xfrm>
              <a:off x="1270680" y="609732"/>
              <a:ext cx="7216775" cy="1198880"/>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更强大的特征提取能力</a:t>
              </a:r>
              <a:endPar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TextBox 7"/>
          <p:cNvSpPr>
            <a:spLocks noChangeArrowheads="1"/>
          </p:cNvSpPr>
          <p:nvPr>
            <p:custDataLst>
              <p:tags r:id="rId1"/>
            </p:custDataLst>
          </p:nvPr>
        </p:nvSpPr>
        <p:spPr bwMode="auto">
          <a:xfrm>
            <a:off x="7463155" y="1917065"/>
            <a:ext cx="6527165" cy="2678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CNN -&gt; ResNet  </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引入</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ResNet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：更深层的特征表达</a:t>
            </a: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CNN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随深度增加</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容易退化</a:t>
            </a: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ResNet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残差连接</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解决该问题</a:t>
            </a:r>
          </a:p>
          <a:p>
            <a:pPr lvl="1" indent="0">
              <a:lnSpc>
                <a:spcPct val="130000"/>
              </a:lnSpc>
              <a:spcBef>
                <a:spcPct val="0"/>
              </a:spcBef>
              <a:buFont typeface="Wingdings" panose="05000000000000000000" charset="0"/>
              <a:buNone/>
            </a:pP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Our Choice</a:t>
            </a: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ResNet18 / ResNet50</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作为更强的</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backbone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网络</a:t>
            </a:r>
          </a:p>
        </p:txBody>
      </p:sp>
      <p:pic>
        <p:nvPicPr>
          <p:cNvPr id="10" name="图片 9"/>
          <p:cNvPicPr>
            <a:picLocks noChangeAspect="1"/>
          </p:cNvPicPr>
          <p:nvPr/>
        </p:nvPicPr>
        <p:blipFill>
          <a:blip r:embed="rId5"/>
          <a:stretch>
            <a:fillRect/>
          </a:stretch>
        </p:blipFill>
        <p:spPr>
          <a:xfrm>
            <a:off x="478155" y="1772920"/>
            <a:ext cx="3669030" cy="3625215"/>
          </a:xfrm>
          <a:prstGeom prst="rect">
            <a:avLst/>
          </a:prstGeom>
        </p:spPr>
      </p:pic>
      <p:pic>
        <p:nvPicPr>
          <p:cNvPr id="11" name="图片 10"/>
          <p:cNvPicPr>
            <a:picLocks noChangeAspect="1"/>
          </p:cNvPicPr>
          <p:nvPr/>
        </p:nvPicPr>
        <p:blipFill>
          <a:blip r:embed="rId6"/>
          <a:stretch>
            <a:fillRect/>
          </a:stretch>
        </p:blipFill>
        <p:spPr>
          <a:xfrm>
            <a:off x="3790315" y="1965325"/>
            <a:ext cx="3234690" cy="3432810"/>
          </a:xfrm>
          <a:prstGeom prst="rect">
            <a:avLst/>
          </a:prstGeom>
        </p:spPr>
      </p:pic>
    </p:spTree>
  </p:cSld>
  <p:clrMapOvr>
    <a:masterClrMapping/>
  </p:clrMapOvr>
  <p:transition spd="slow" advTm="3000">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7936865" cy="1271905"/>
            <a:chOff x="550590" y="536707"/>
            <a:chExt cx="7936865" cy="1271905"/>
          </a:xfrm>
        </p:grpSpPr>
        <p:sp>
          <p:nvSpPr>
            <p:cNvPr id="4" name="TextBox 40"/>
            <p:cNvSpPr txBox="1"/>
            <p:nvPr/>
          </p:nvSpPr>
          <p:spPr>
            <a:xfrm>
              <a:off x="1270680" y="609732"/>
              <a:ext cx="7216775" cy="1198880"/>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更强大的特征提取能力</a:t>
              </a:r>
              <a:endPar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TextBox 7"/>
          <p:cNvSpPr>
            <a:spLocks noChangeArrowheads="1"/>
          </p:cNvSpPr>
          <p:nvPr>
            <p:custDataLst>
              <p:tags r:id="rId1"/>
            </p:custDataLst>
          </p:nvPr>
        </p:nvSpPr>
        <p:spPr bwMode="auto">
          <a:xfrm>
            <a:off x="7463155" y="1917065"/>
            <a:ext cx="6527165" cy="2678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CNN -&gt; ResNet  </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引入</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ResNet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：更深层的特征表达</a:t>
            </a: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CNN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随深度增加</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容易退化</a:t>
            </a: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ResNet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a:t>
            </a:r>
            <a:r>
              <a:rPr lang="zh-CN" altLang="en-US" sz="1600" dirty="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残差连接</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解决该问题</a:t>
            </a:r>
          </a:p>
          <a:p>
            <a:pPr lvl="1" indent="0">
              <a:lnSpc>
                <a:spcPct val="130000"/>
              </a:lnSpc>
              <a:spcBef>
                <a:spcPct val="0"/>
              </a:spcBef>
              <a:buFont typeface="Wingdings" panose="05000000000000000000" charset="0"/>
              <a:buNone/>
            </a:pPr>
            <a:endPar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Our Choice</a:t>
            </a: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ResNet18 / ResNet50</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作为更强的</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backbone </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网络</a:t>
            </a:r>
          </a:p>
        </p:txBody>
      </p:sp>
      <p:pic>
        <p:nvPicPr>
          <p:cNvPr id="7" name="图片 6" descr="ResNet"/>
          <p:cNvPicPr>
            <a:picLocks noChangeAspect="1"/>
          </p:cNvPicPr>
          <p:nvPr/>
        </p:nvPicPr>
        <p:blipFill>
          <a:blip r:embed="rId5"/>
          <a:stretch>
            <a:fillRect/>
          </a:stretch>
        </p:blipFill>
        <p:spPr>
          <a:xfrm>
            <a:off x="550545" y="1700530"/>
            <a:ext cx="6819265" cy="3816985"/>
          </a:xfrm>
          <a:prstGeom prst="rect">
            <a:avLst/>
          </a:prstGeom>
        </p:spPr>
      </p:pic>
    </p:spTree>
  </p:cSld>
  <p:clrMapOvr>
    <a:masterClrMapping/>
  </p:clrMapOvr>
  <p:transition spd="slow" advTm="300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143"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sym typeface="微软雅黑" panose="020B0503020204020204" charset="-122"/>
            </a:endParaRPr>
          </a:p>
        </p:txBody>
      </p:sp>
      <p:grpSp>
        <p:nvGrpSpPr>
          <p:cNvPr id="6" name="组合 5"/>
          <p:cNvGrpSpPr/>
          <p:nvPr/>
        </p:nvGrpSpPr>
        <p:grpSpPr>
          <a:xfrm>
            <a:off x="838622" y="620688"/>
            <a:ext cx="8361045" cy="607201"/>
            <a:chOff x="550590" y="536707"/>
            <a:chExt cx="8361045" cy="607201"/>
          </a:xfrm>
        </p:grpSpPr>
        <p:sp>
          <p:nvSpPr>
            <p:cNvPr id="4" name="TextBox 40"/>
            <p:cNvSpPr txBox="1"/>
            <p:nvPr/>
          </p:nvSpPr>
          <p:spPr>
            <a:xfrm>
              <a:off x="1270680" y="609732"/>
              <a:ext cx="7640955" cy="46037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 </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更强大的特征提取能力</a:t>
              </a:r>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17" name="矩形 16"/>
          <p:cNvSpPr/>
          <p:nvPr>
            <p:custDataLst>
              <p:tags r:id="rId1"/>
            </p:custDataLst>
          </p:nvPr>
        </p:nvSpPr>
        <p:spPr>
          <a:xfrm>
            <a:off x="3934460" y="1340485"/>
            <a:ext cx="3568700" cy="356870"/>
          </a:xfrm>
          <a:prstGeom prst="rect">
            <a:avLst/>
          </a:prstGeom>
          <a:noFill/>
        </p:spPr>
        <p:txBody>
          <a:bodyPr wrap="square" rtlCol="0" anchor="b" anchorCtr="0">
            <a:noAutofit/>
          </a:bodyPr>
          <a:lstStyle/>
          <a:p>
            <a:pPr algn="ctr">
              <a:spcBef>
                <a:spcPct val="0"/>
              </a:spcBef>
              <a:spcAft>
                <a:spcPct val="0"/>
              </a:spcAft>
            </a:pPr>
            <a:r>
              <a:rPr lang="en-US" altLang="zh-CN" sz="2400" b="1" dirty="0">
                <a:ln w="0">
                  <a:noFill/>
                </a:ln>
                <a:solidFill>
                  <a:srgbClr val="397AF3"/>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 </a:t>
            </a:r>
            <a:r>
              <a:rPr lang="zh-CN" altLang="en-US" sz="2400" b="1" dirty="0">
                <a:ln w="0">
                  <a:noFill/>
                </a:ln>
                <a:solidFill>
                  <a:srgbClr val="397AF3"/>
                </a:solidFill>
                <a:latin typeface="微软雅黑" panose="020B0503020204020204" charset="-122"/>
                <a:ea typeface="微软雅黑" panose="020B0503020204020204" charset="-122"/>
                <a:cs typeface="微软雅黑" panose="020B0503020204020204" charset="-122"/>
                <a:sym typeface="微软雅黑" panose="020B0503020204020204" charset="-122"/>
              </a:rPr>
              <a:t>消融实验设计</a:t>
            </a:r>
          </a:p>
        </p:txBody>
      </p:sp>
      <p:graphicFrame>
        <p:nvGraphicFramePr>
          <p:cNvPr id="8" name="表格 7"/>
          <p:cNvGraphicFramePr/>
          <p:nvPr>
            <p:custDataLst>
              <p:tags r:id="rId2"/>
            </p:custDataLst>
            <p:extLst>
              <p:ext uri="{D42A27DB-BD31-4B8C-83A1-F6EECF244321}">
                <p14:modId xmlns:p14="http://schemas.microsoft.com/office/powerpoint/2010/main" val="79594139"/>
              </p:ext>
            </p:extLst>
          </p:nvPr>
        </p:nvGraphicFramePr>
        <p:xfrm>
          <a:off x="2986405" y="1825625"/>
          <a:ext cx="5901690" cy="3434080"/>
        </p:xfrm>
        <a:graphic>
          <a:graphicData uri="http://schemas.openxmlformats.org/drawingml/2006/table">
            <a:tbl>
              <a:tblPr firstRow="1" bandRow="1">
                <a:tableStyleId>{CEFB82AE-A899-4ADF-91E6-DA161BCDE534}</a:tableStyleId>
              </a:tblPr>
              <a:tblGrid>
                <a:gridCol w="311277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429260">
                <a:tc>
                  <a:txBody>
                    <a:bodyPr/>
                    <a:lstStyle/>
                    <a:p>
                      <a:pPr algn="ctr" fontAlgn="ctr"/>
                      <a:r>
                        <a:rPr lang="zh-CN" altLang="en-US" sz="1400"/>
                        <a:t>设置项</a:t>
                      </a:r>
                    </a:p>
                  </a:txBody>
                  <a:tcPr marL="6667" marR="6667" marT="6667" marB="0" anchor="ctr"/>
                </a:tc>
                <a:tc>
                  <a:txBody>
                    <a:bodyPr/>
                    <a:lstStyle/>
                    <a:p>
                      <a:pPr algn="ctr" fontAlgn="ctr"/>
                      <a:r>
                        <a:rPr lang="zh-CN" altLang="en-US" sz="1400"/>
                        <a:t>可选配置</a:t>
                      </a:r>
                    </a:p>
                  </a:txBody>
                  <a:tcPr marL="6667" marR="6667" marT="6667" marB="0" anchor="ctr"/>
                </a:tc>
                <a:extLst>
                  <a:ext uri="{0D108BD9-81ED-4DB2-BD59-A6C34878D82A}">
                    <a16:rowId xmlns:a16="http://schemas.microsoft.com/office/drawing/2014/main" val="10000"/>
                  </a:ext>
                </a:extLst>
              </a:tr>
              <a:tr h="429260">
                <a:tc>
                  <a:txBody>
                    <a:bodyPr/>
                    <a:lstStyle/>
                    <a:p>
                      <a:pPr algn="ctr" fontAlgn="ctr"/>
                      <a:r>
                        <a:rPr lang="zh-CN" altLang="en-US" sz="1400"/>
                        <a:t>网络深度</a:t>
                      </a:r>
                    </a:p>
                  </a:txBody>
                  <a:tcPr marL="6667" marR="6667" marT="6667" marB="0" anchor="ctr"/>
                </a:tc>
                <a:tc>
                  <a:txBody>
                    <a:bodyPr/>
                    <a:lstStyle/>
                    <a:p>
                      <a:pPr algn="ctr" fontAlgn="ctr"/>
                      <a:r>
                        <a:rPr lang="en-US" altLang="zh-CN" sz="1400"/>
                        <a:t>ResNet18 / ResNet50</a:t>
                      </a:r>
                    </a:p>
                  </a:txBody>
                  <a:tcPr marL="6667" marR="6667" marT="6667" marB="0" anchor="ctr"/>
                </a:tc>
                <a:extLst>
                  <a:ext uri="{0D108BD9-81ED-4DB2-BD59-A6C34878D82A}">
                    <a16:rowId xmlns:a16="http://schemas.microsoft.com/office/drawing/2014/main" val="10001"/>
                  </a:ext>
                </a:extLst>
              </a:tr>
              <a:tr h="429260">
                <a:tc>
                  <a:txBody>
                    <a:bodyPr/>
                    <a:lstStyle/>
                    <a:p>
                      <a:pPr algn="ctr" fontAlgn="ctr"/>
                      <a:r>
                        <a:rPr lang="zh-CN" altLang="en-US" sz="1400"/>
                        <a:t>是否预训练</a:t>
                      </a:r>
                    </a:p>
                  </a:txBody>
                  <a:tcPr marL="6667" marR="6667" marT="6667" marB="0" anchor="ctr"/>
                </a:tc>
                <a:tc>
                  <a:txBody>
                    <a:bodyPr/>
                    <a:lstStyle/>
                    <a:p>
                      <a:pPr algn="ctr" fontAlgn="ctr"/>
                      <a:r>
                        <a:rPr lang="zh-CN" altLang="en-US" sz="1400"/>
                        <a:t>是 </a:t>
                      </a:r>
                      <a:r>
                        <a:rPr lang="en-US" altLang="zh-CN" sz="1400"/>
                        <a:t>/ </a:t>
                      </a:r>
                      <a:r>
                        <a:rPr lang="zh-CN" altLang="en-US" sz="1400"/>
                        <a:t>否</a:t>
                      </a:r>
                    </a:p>
                  </a:txBody>
                  <a:tcPr marL="6667" marR="6667" marT="6667" marB="0" anchor="ctr"/>
                </a:tc>
                <a:extLst>
                  <a:ext uri="{0D108BD9-81ED-4DB2-BD59-A6C34878D82A}">
                    <a16:rowId xmlns:a16="http://schemas.microsoft.com/office/drawing/2014/main" val="10002"/>
                  </a:ext>
                </a:extLst>
              </a:tr>
              <a:tr h="429260">
                <a:tc>
                  <a:txBody>
                    <a:bodyPr/>
                    <a:lstStyle/>
                    <a:p>
                      <a:pPr algn="ctr" fontAlgn="ctr"/>
                      <a:r>
                        <a:rPr lang="zh-CN" altLang="en-US" sz="1400"/>
                        <a:t>是否冻结参数</a:t>
                      </a:r>
                    </a:p>
                  </a:txBody>
                  <a:tcPr marL="6667" marR="6667" marT="6667" marB="0" anchor="ctr"/>
                </a:tc>
                <a:tc>
                  <a:txBody>
                    <a:bodyPr/>
                    <a:lstStyle/>
                    <a:p>
                      <a:pPr algn="ctr" fontAlgn="ctr"/>
                      <a:r>
                        <a:rPr lang="zh-CN" altLang="en-US" sz="1400"/>
                        <a:t>冻结 </a:t>
                      </a:r>
                      <a:r>
                        <a:rPr lang="en-US" altLang="zh-CN" sz="1400"/>
                        <a:t>/ </a:t>
                      </a:r>
                      <a:r>
                        <a:rPr lang="zh-CN" altLang="en-US" sz="1400"/>
                        <a:t>不冻结</a:t>
                      </a:r>
                    </a:p>
                  </a:txBody>
                  <a:tcPr marL="6667" marR="6667" marT="6667" marB="0" anchor="ctr"/>
                </a:tc>
                <a:extLst>
                  <a:ext uri="{0D108BD9-81ED-4DB2-BD59-A6C34878D82A}">
                    <a16:rowId xmlns:a16="http://schemas.microsoft.com/office/drawing/2014/main" val="10003"/>
                  </a:ext>
                </a:extLst>
              </a:tr>
              <a:tr h="429260">
                <a:tc>
                  <a:txBody>
                    <a:bodyPr/>
                    <a:lstStyle/>
                    <a:p>
                      <a:pPr algn="ctr" fontAlgn="ctr"/>
                      <a:r>
                        <a:rPr lang="zh-CN" altLang="en-US" sz="1400"/>
                        <a:t>训练数据量</a:t>
                      </a:r>
                    </a:p>
                  </a:txBody>
                  <a:tcPr marL="6667" marR="6667" marT="6667" marB="0" anchor="ctr"/>
                </a:tc>
                <a:tc>
                  <a:txBody>
                    <a:bodyPr/>
                    <a:lstStyle/>
                    <a:p>
                      <a:pPr algn="ctr" fontAlgn="ctr"/>
                      <a:r>
                        <a:rPr lang="zh-CN" altLang="en-US" sz="1400"/>
                        <a:t>子采样 </a:t>
                      </a:r>
                      <a:r>
                        <a:rPr lang="en-US" altLang="zh-CN" sz="1400"/>
                        <a:t>/ </a:t>
                      </a:r>
                      <a:r>
                        <a:rPr lang="zh-CN" altLang="en-US" sz="1400"/>
                        <a:t>全量</a:t>
                      </a:r>
                    </a:p>
                  </a:txBody>
                  <a:tcPr marL="6667" marR="6667" marT="6667" marB="0" anchor="ctr"/>
                </a:tc>
                <a:extLst>
                  <a:ext uri="{0D108BD9-81ED-4DB2-BD59-A6C34878D82A}">
                    <a16:rowId xmlns:a16="http://schemas.microsoft.com/office/drawing/2014/main" val="10004"/>
                  </a:ext>
                </a:extLst>
              </a:tr>
              <a:tr h="429260">
                <a:tc>
                  <a:txBody>
                    <a:bodyPr/>
                    <a:lstStyle/>
                    <a:p>
                      <a:pPr algn="ctr" fontAlgn="ctr"/>
                      <a:r>
                        <a:rPr lang="zh-CN" altLang="en-US" sz="1400" dirty="0"/>
                        <a:t>类别加权（</a:t>
                      </a:r>
                      <a:r>
                        <a:rPr lang="en-US" altLang="zh-CN" sz="1400" dirty="0"/>
                        <a:t>                       </a:t>
                      </a:r>
                      <a:r>
                        <a:rPr lang="zh-CN" altLang="en-US" sz="1400" dirty="0"/>
                        <a:t>加权）</a:t>
                      </a:r>
                    </a:p>
                  </a:txBody>
                  <a:tcPr marL="6667" marR="6667" marT="6667" marB="0" anchor="ctr"/>
                </a:tc>
                <a:tc>
                  <a:txBody>
                    <a:bodyPr/>
                    <a:lstStyle/>
                    <a:p>
                      <a:pPr algn="ctr" fontAlgn="ctr"/>
                      <a:r>
                        <a:rPr lang="zh-CN" altLang="en-US" sz="1400"/>
                        <a:t>是 </a:t>
                      </a:r>
                      <a:r>
                        <a:rPr lang="en-US" altLang="zh-CN" sz="1400"/>
                        <a:t>/ </a:t>
                      </a:r>
                      <a:r>
                        <a:rPr lang="zh-CN" altLang="en-US" sz="1400"/>
                        <a:t>否</a:t>
                      </a:r>
                    </a:p>
                  </a:txBody>
                  <a:tcPr marL="6667" marR="6667" marT="6667" marB="0" anchor="ctr"/>
                </a:tc>
                <a:extLst>
                  <a:ext uri="{0D108BD9-81ED-4DB2-BD59-A6C34878D82A}">
                    <a16:rowId xmlns:a16="http://schemas.microsoft.com/office/drawing/2014/main" val="10005"/>
                  </a:ext>
                </a:extLst>
              </a:tr>
              <a:tr h="429260">
                <a:tc>
                  <a:txBody>
                    <a:bodyPr/>
                    <a:lstStyle/>
                    <a:p>
                      <a:pPr algn="ctr" fontAlgn="ctr"/>
                      <a:r>
                        <a:rPr lang="zh-CN" altLang="en-US" sz="1400"/>
                        <a:t>训练轮数（</a:t>
                      </a:r>
                      <a:r>
                        <a:rPr lang="en-US" altLang="zh-CN" sz="1400"/>
                        <a:t>Epoch</a:t>
                      </a:r>
                      <a:r>
                        <a:rPr lang="zh-CN" altLang="en-US" sz="1400"/>
                        <a:t>）</a:t>
                      </a:r>
                    </a:p>
                  </a:txBody>
                  <a:tcPr marL="6667" marR="6667" marT="6667" marB="0" anchor="ctr"/>
                </a:tc>
                <a:tc>
                  <a:txBody>
                    <a:bodyPr/>
                    <a:lstStyle/>
                    <a:p>
                      <a:pPr algn="ctr" fontAlgn="ctr"/>
                      <a:r>
                        <a:rPr lang="zh-CN" altLang="en-US" sz="1400"/>
                        <a:t>不同设置</a:t>
                      </a:r>
                    </a:p>
                  </a:txBody>
                  <a:tcPr marL="6667" marR="6667" marT="6667" marB="0" anchor="ctr"/>
                </a:tc>
                <a:extLst>
                  <a:ext uri="{0D108BD9-81ED-4DB2-BD59-A6C34878D82A}">
                    <a16:rowId xmlns:a16="http://schemas.microsoft.com/office/drawing/2014/main" val="10006"/>
                  </a:ext>
                </a:extLst>
              </a:tr>
              <a:tr h="429260">
                <a:tc>
                  <a:txBody>
                    <a:bodyPr/>
                    <a:lstStyle/>
                    <a:p>
                      <a:pPr algn="ctr" fontAlgn="ctr">
                        <a:buClrTx/>
                        <a:buSzTx/>
                        <a:buFontTx/>
                      </a:pPr>
                      <a:r>
                        <a:rPr lang="zh-CN" altLang="en-US" sz="1400" b="0" i="0">
                          <a:solidFill>
                            <a:srgbClr val="000000"/>
                          </a:solidFill>
                        </a:rPr>
                        <a:t>学习率</a:t>
                      </a:r>
                    </a:p>
                  </a:txBody>
                  <a:tcPr marL="6667" marR="6667" marT="6667" marB="0" anchor="ctr"/>
                </a:tc>
                <a:tc>
                  <a:txBody>
                    <a:bodyPr/>
                    <a:lstStyle/>
                    <a:p>
                      <a:pPr algn="ctr" fontAlgn="ctr">
                        <a:buClrTx/>
                        <a:buSzTx/>
                        <a:buFontTx/>
                      </a:pPr>
                      <a:r>
                        <a:rPr lang="zh-CN" altLang="en-US" sz="1400" b="0" i="0" dirty="0">
                          <a:solidFill>
                            <a:srgbClr val="000000"/>
                          </a:solidFill>
                        </a:rPr>
                        <a:t>不下降/余弦下降</a:t>
                      </a:r>
                    </a:p>
                  </a:txBody>
                  <a:tcPr marL="6667" marR="6667" marT="6667" marB="0" anchor="ctr"/>
                </a:tc>
                <a:extLst>
                  <a:ext uri="{0D108BD9-81ED-4DB2-BD59-A6C34878D82A}">
                    <a16:rowId xmlns:a16="http://schemas.microsoft.com/office/drawing/2014/main" val="10007"/>
                  </a:ext>
                </a:extLst>
              </a:tr>
            </a:tbl>
          </a:graphicData>
        </a:graphic>
      </p:graphicFrame>
      <p:sp>
        <p:nvSpPr>
          <p:cNvPr id="3" name="文本框 2"/>
          <p:cNvSpPr txBox="1"/>
          <p:nvPr/>
        </p:nvSpPr>
        <p:spPr>
          <a:xfrm>
            <a:off x="2985770" y="5300980"/>
            <a:ext cx="5902960" cy="1271270"/>
          </a:xfrm>
          <a:prstGeom prst="rect">
            <a:avLst/>
          </a:prstGeom>
          <a:noFill/>
        </p:spPr>
        <p:txBody>
          <a:bodyPr wrap="square" rtlCol="0">
            <a:spAutoFit/>
          </a:bodyPr>
          <a:lstStyle/>
          <a:p>
            <a:pPr algn="l">
              <a:lnSpc>
                <a:spcPct val="120000"/>
              </a:lnSpc>
              <a:spcBef>
                <a:spcPts val="0"/>
              </a:spcBef>
              <a:spcAft>
                <a:spcPts val="0"/>
              </a:spcAft>
            </a:pPr>
            <a:r>
              <a:rPr lang="zh-CN" altLang="en-US" sz="1600">
                <a:solidFill>
                  <a:srgbClr val="FF0000"/>
                </a:solidFill>
                <a:latin typeface="微软雅黑" panose="020B0503020204020204" charset="-122"/>
                <a:ea typeface="微软雅黑" panose="020B0503020204020204" charset="-122"/>
                <a:cs typeface="微软雅黑" panose="020B0503020204020204" charset="-122"/>
              </a:rPr>
              <a:t>在引入可选的设置项以外，我们还引入了一个共同的优化方案</a:t>
            </a:r>
            <a:endParaRPr lang="zh-CN" altLang="en-US" sz="1600">
              <a:solidFill>
                <a:srgbClr val="C00000"/>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0"/>
              </a:spcBef>
              <a:spcAft>
                <a:spcPts val="0"/>
              </a:spcAft>
            </a:pPr>
            <a:r>
              <a:rPr lang="zh-CN" altLang="en-US" sz="1600">
                <a:latin typeface="微软雅黑" panose="020B0503020204020204" charset="-122"/>
                <a:ea typeface="微软雅黑" panose="020B0503020204020204" charset="-122"/>
                <a:cs typeface="微软雅黑" panose="020B0503020204020204" charset="-122"/>
              </a:rPr>
              <a:t>引入早停机制：如果在实验过程中发现实验结果在连续多轮中变化很小，就认为已经达到了收敛，减少实验次数也可以节省资源。</a:t>
            </a:r>
          </a:p>
          <a:p>
            <a:pPr algn="ctr">
              <a:lnSpc>
                <a:spcPct val="120000"/>
              </a:lnSpc>
              <a:spcBef>
                <a:spcPts val="0"/>
              </a:spcBef>
              <a:spcAft>
                <a:spcPts val="0"/>
              </a:spcAft>
            </a:pPr>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10" name="图片 9">
            <a:extLst>
              <a:ext uri="{FF2B5EF4-FFF2-40B4-BE49-F238E27FC236}">
                <a16:creationId xmlns:a16="http://schemas.microsoft.com/office/drawing/2014/main" id="{0AD06F42-9EE4-2F43-B49D-48B307C2439C}"/>
              </a:ext>
            </a:extLst>
          </p:cNvPr>
          <p:cNvPicPr>
            <a:picLocks noChangeAspect="1"/>
          </p:cNvPicPr>
          <p:nvPr/>
        </p:nvPicPr>
        <p:blipFill rotWithShape="1">
          <a:blip r:embed="rId6">
            <a:extLst>
              <a:ext uri="{28A0092B-C50C-407E-A947-70E740481C1C}">
                <a14:useLocalDpi xmlns:a14="http://schemas.microsoft.com/office/drawing/2010/main" val="0"/>
              </a:ext>
            </a:extLst>
          </a:blip>
          <a:srcRect t="16269" b="18657"/>
          <a:stretch/>
        </p:blipFill>
        <p:spPr>
          <a:xfrm>
            <a:off x="4222998" y="4005064"/>
            <a:ext cx="900100" cy="360040"/>
          </a:xfrm>
          <a:prstGeom prst="rect">
            <a:avLst/>
          </a:prstGeom>
        </p:spPr>
      </p:pic>
    </p:spTree>
  </p:cSld>
  <p:clrMapOvr>
    <a:masterClrMapping/>
  </p:clrMapOvr>
  <p:transition spd="slow" advTm="300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文本框 8"/>
          <p:cNvSpPr txBox="1"/>
          <p:nvPr/>
        </p:nvSpPr>
        <p:spPr>
          <a:xfrm>
            <a:off x="1595120" y="1323975"/>
            <a:ext cx="8832215" cy="4246245"/>
          </a:xfrm>
          <a:prstGeom prst="rect">
            <a:avLst/>
          </a:prstGeom>
          <a:noFill/>
        </p:spPr>
        <p:txBody>
          <a:bodyPr wrap="square" rtlCol="0">
            <a:spAutoFit/>
          </a:bodyPr>
          <a:lstStyle/>
          <a:p>
            <a:pPr>
              <a:lnSpc>
                <a:spcPct val="150000"/>
              </a:lnSpc>
            </a:pPr>
            <a:r>
              <a:rPr lang="zh-CN" altLang="en-US">
                <a:latin typeface="微软雅黑" panose="020B0503020204020204" charset="-122"/>
                <a:ea typeface="微软雅黑" panose="020B0503020204020204" charset="-122"/>
                <a:cs typeface="微软雅黑" panose="020B0503020204020204" charset="-122"/>
              </a:rPr>
              <a:t>由于本研究引入了多种可配置的训练策略，并基于此展开了系统的实验验证，故我们将通过对比不同配置组合下的模型性能表现，深入探讨各策略对</a:t>
            </a:r>
            <a:r>
              <a:rPr lang="en-US" altLang="zh-CN">
                <a:latin typeface="微软雅黑" panose="020B0503020204020204" charset="-122"/>
                <a:ea typeface="微软雅黑" panose="020B0503020204020204" charset="-122"/>
                <a:cs typeface="微软雅黑" panose="020B0503020204020204" charset="-122"/>
              </a:rPr>
              <a:t>ResNet</a:t>
            </a:r>
            <a:r>
              <a:rPr lang="zh-CN" altLang="en-US">
                <a:latin typeface="微软雅黑" panose="020B0503020204020204" charset="-122"/>
                <a:ea typeface="微软雅黑" panose="020B0503020204020204" charset="-122"/>
                <a:cs typeface="微软雅黑" panose="020B0503020204020204" charset="-122"/>
              </a:rPr>
              <a:t>模型收敛行为与泛化能力的影响机制。</a:t>
            </a:r>
          </a:p>
          <a:p>
            <a:pPr>
              <a:lnSpc>
                <a:spcPct val="150000"/>
              </a:lnSpc>
            </a:pPr>
            <a:r>
              <a:rPr lang="zh-CN" altLang="en-US">
                <a:solidFill>
                  <a:srgbClr val="FF0000"/>
                </a:solidFill>
                <a:latin typeface="微软雅黑" panose="020B0503020204020204" charset="-122"/>
                <a:ea typeface="微软雅黑" panose="020B0503020204020204" charset="-122"/>
                <a:cs typeface="微软雅黑" panose="020B0503020204020204" charset="-122"/>
              </a:rPr>
              <a:t>分别从以下几个角度展开：</a:t>
            </a:r>
          </a:p>
          <a:p>
            <a:pPr>
              <a:lnSpc>
                <a:spcPct val="150000"/>
              </a:lnSpc>
            </a:pPr>
            <a:r>
              <a:rPr lang="en-US" altLang="zh-CN">
                <a:latin typeface="微软雅黑" panose="020B0503020204020204" charset="-122"/>
                <a:ea typeface="微软雅黑" panose="020B0503020204020204" charset="-122"/>
                <a:cs typeface="微软雅黑" panose="020B0503020204020204" charset="-122"/>
              </a:rPr>
              <a:t>1. </a:t>
            </a:r>
            <a:r>
              <a:rPr lang="zh-CN" altLang="en-US">
                <a:latin typeface="微软雅黑" panose="020B0503020204020204" charset="-122"/>
                <a:ea typeface="微软雅黑" panose="020B0503020204020204" charset="-122"/>
                <a:cs typeface="微软雅黑" panose="020B0503020204020204" charset="-122"/>
              </a:rPr>
              <a:t>对比</a:t>
            </a:r>
            <a:r>
              <a:rPr lang="en-US" altLang="zh-CN">
                <a:latin typeface="微软雅黑" panose="020B0503020204020204" charset="-122"/>
                <a:ea typeface="微软雅黑" panose="020B0503020204020204" charset="-122"/>
                <a:cs typeface="微软雅黑" panose="020B0503020204020204" charset="-122"/>
              </a:rPr>
              <a:t>ResNet18</a:t>
            </a:r>
            <a:r>
              <a:rPr lang="zh-CN" altLang="en-US">
                <a:latin typeface="微软雅黑" panose="020B0503020204020204" charset="-122"/>
                <a:ea typeface="微软雅黑" panose="020B0503020204020204" charset="-122"/>
                <a:cs typeface="微软雅黑" panose="020B0503020204020204" charset="-122"/>
              </a:rPr>
              <a:t>与</a:t>
            </a:r>
            <a:r>
              <a:rPr lang="en-US" altLang="zh-CN">
                <a:latin typeface="微软雅黑" panose="020B0503020204020204" charset="-122"/>
                <a:ea typeface="微软雅黑" panose="020B0503020204020204" charset="-122"/>
                <a:cs typeface="微软雅黑" panose="020B0503020204020204" charset="-122"/>
              </a:rPr>
              <a:t>ResNet50</a:t>
            </a:r>
            <a:r>
              <a:rPr lang="zh-CN" altLang="en-US">
                <a:latin typeface="微软雅黑" panose="020B0503020204020204" charset="-122"/>
                <a:ea typeface="微软雅黑" panose="020B0503020204020204" charset="-122"/>
                <a:cs typeface="微软雅黑" panose="020B0503020204020204" charset="-122"/>
              </a:rPr>
              <a:t>模型结果</a:t>
            </a:r>
          </a:p>
          <a:p>
            <a:pPr>
              <a:lnSpc>
                <a:spcPct val="150000"/>
              </a:lnSpc>
            </a:pPr>
            <a:r>
              <a:rPr lang="en-US" altLang="zh-CN">
                <a:latin typeface="微软雅黑" panose="020B0503020204020204" charset="-122"/>
                <a:ea typeface="微软雅黑" panose="020B0503020204020204" charset="-122"/>
                <a:cs typeface="微软雅黑" panose="020B0503020204020204" charset="-122"/>
              </a:rPr>
              <a:t>2. </a:t>
            </a:r>
            <a:r>
              <a:rPr lang="zh-CN" altLang="en-US">
                <a:latin typeface="微软雅黑" panose="020B0503020204020204" charset="-122"/>
                <a:ea typeface="微软雅黑" panose="020B0503020204020204" charset="-122"/>
                <a:cs typeface="微软雅黑" panose="020B0503020204020204" charset="-122"/>
              </a:rPr>
              <a:t>对比非预训练与预训练结果</a:t>
            </a:r>
          </a:p>
          <a:p>
            <a:pPr>
              <a:lnSpc>
                <a:spcPct val="150000"/>
              </a:lnSpc>
            </a:pPr>
            <a:r>
              <a:rPr lang="en-US" altLang="zh-CN">
                <a:latin typeface="微软雅黑" panose="020B0503020204020204" charset="-122"/>
                <a:ea typeface="微软雅黑" panose="020B0503020204020204" charset="-122"/>
                <a:cs typeface="微软雅黑" panose="020B0503020204020204" charset="-122"/>
              </a:rPr>
              <a:t>3. </a:t>
            </a:r>
            <a:r>
              <a:rPr lang="zh-CN" altLang="en-US">
                <a:latin typeface="微软雅黑" panose="020B0503020204020204" charset="-122"/>
                <a:ea typeface="微软雅黑" panose="020B0503020204020204" charset="-122"/>
                <a:cs typeface="微软雅黑" panose="020B0503020204020204" charset="-122"/>
              </a:rPr>
              <a:t>对比全图与非全图结果</a:t>
            </a:r>
          </a:p>
          <a:p>
            <a:pPr>
              <a:lnSpc>
                <a:spcPct val="150000"/>
              </a:lnSpc>
            </a:pPr>
            <a:r>
              <a:rPr lang="en-US" altLang="zh-CN">
                <a:latin typeface="微软雅黑" panose="020B0503020204020204" charset="-122"/>
                <a:ea typeface="微软雅黑" panose="020B0503020204020204" charset="-122"/>
                <a:cs typeface="微软雅黑" panose="020B0503020204020204" charset="-122"/>
              </a:rPr>
              <a:t>4. </a:t>
            </a:r>
            <a:r>
              <a:rPr lang="zh-CN" altLang="en-US">
                <a:latin typeface="微软雅黑" panose="020B0503020204020204" charset="-122"/>
                <a:ea typeface="微软雅黑" panose="020B0503020204020204" charset="-122"/>
                <a:cs typeface="微软雅黑" panose="020B0503020204020204" charset="-122"/>
              </a:rPr>
              <a:t>对比降低学习率与不降低学习率结果</a:t>
            </a:r>
          </a:p>
          <a:p>
            <a:pPr>
              <a:lnSpc>
                <a:spcPct val="150000"/>
              </a:lnSpc>
            </a:pPr>
            <a:r>
              <a:rPr lang="en-US" altLang="zh-CN">
                <a:latin typeface="微软雅黑" panose="020B0503020204020204" charset="-122"/>
                <a:ea typeface="微软雅黑" panose="020B0503020204020204" charset="-122"/>
                <a:cs typeface="微软雅黑" panose="020B0503020204020204" charset="-122"/>
              </a:rPr>
              <a:t>5. </a:t>
            </a:r>
            <a:r>
              <a:rPr lang="zh-CN" altLang="en-US">
                <a:latin typeface="微软雅黑" panose="020B0503020204020204" charset="-122"/>
                <a:ea typeface="微软雅黑" panose="020B0503020204020204" charset="-122"/>
                <a:cs typeface="微软雅黑" panose="020B0503020204020204" charset="-122"/>
              </a:rPr>
              <a:t>对比冻结与非冻结结果</a:t>
            </a:r>
          </a:p>
          <a:p>
            <a:pPr>
              <a:lnSpc>
                <a:spcPct val="150000"/>
              </a:lnSpc>
            </a:pPr>
            <a:endParaRPr lang="zh-CN" alt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advTm="300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161540" cy="306705"/>
          </a:xfrm>
          <a:prstGeom prst="rect">
            <a:avLst/>
          </a:prstGeom>
          <a:noFill/>
        </p:spPr>
        <p:txBody>
          <a:bodyPr wrap="square" rtlCol="0">
            <a:spAutoFit/>
          </a:bodyPr>
          <a:lstStyle/>
          <a:p>
            <a:r>
              <a:rPr lang="en-US" altLang="zh-CN" sz="1400" dirty="0">
                <a:solidFill>
                  <a:schemeClr val="tx1">
                    <a:lumMod val="75000"/>
                    <a:lumOff val="25000"/>
                  </a:schemeClr>
                </a:solidFill>
                <a:latin typeface="微软雅黑" panose="020B0503020204020204" charset="-122"/>
                <a:ea typeface="微软雅黑" panose="020B0503020204020204" charset="-122"/>
                <a:cs typeface="+mj-ea"/>
              </a:rPr>
              <a:t>ResNet18</a:t>
            </a:r>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en-US" altLang="zh-CN" sz="1400">
                <a:latin typeface="微软雅黑" panose="020B0503020204020204" charset="-122"/>
                <a:ea typeface="微软雅黑" panose="020B0503020204020204" charset="-122"/>
                <a:cs typeface="+mn-ea"/>
              </a:rPr>
              <a:t>ResNet18</a:t>
            </a:r>
            <a:r>
              <a:rPr lang="zh-CN" altLang="en-US" sz="1400">
                <a:latin typeface="微软雅黑" panose="020B0503020204020204" charset="-122"/>
                <a:ea typeface="微软雅黑" panose="020B0503020204020204" charset="-122"/>
                <a:cs typeface="+mn-ea"/>
              </a:rPr>
              <a:t>损失率与准确率结果</a:t>
            </a:r>
          </a:p>
        </p:txBody>
      </p:sp>
      <p:sp>
        <p:nvSpPr>
          <p:cNvPr id="16" name="文本框 15"/>
          <p:cNvSpPr txBox="1"/>
          <p:nvPr/>
        </p:nvSpPr>
        <p:spPr>
          <a:xfrm>
            <a:off x="1846580" y="5949315"/>
            <a:ext cx="2084705" cy="306705"/>
          </a:xfrm>
          <a:prstGeom prst="rect">
            <a:avLst/>
          </a:prstGeom>
          <a:noFill/>
        </p:spPr>
        <p:txBody>
          <a:bodyPr wrap="square" rtlCol="0">
            <a:spAutoFit/>
          </a:bodyPr>
          <a:lstStyle/>
          <a:p>
            <a:r>
              <a:rPr lang="en-US" altLang="zh-CN" sz="1400">
                <a:latin typeface="微软雅黑" panose="020B0503020204020204" charset="-122"/>
                <a:ea typeface="微软雅黑" panose="020B0503020204020204" charset="-122"/>
              </a:rPr>
              <a:t>ResNet50</a:t>
            </a:r>
            <a:r>
              <a:rPr lang="zh-CN" altLang="en-US" sz="1400">
                <a:latin typeface="微软雅黑" panose="020B0503020204020204" charset="-122"/>
                <a:ea typeface="微软雅黑" panose="020B0503020204020204" charset="-122"/>
              </a:rPr>
              <a:t>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en-US" altLang="zh-CN" sz="1400">
                <a:latin typeface="微软雅黑" panose="020B0503020204020204" charset="-122"/>
                <a:ea typeface="微软雅黑" panose="020B0503020204020204" charset="-122"/>
                <a:cs typeface="+mn-ea"/>
                <a:sym typeface="+mn-ea"/>
              </a:rPr>
              <a:t>ResNet50</a:t>
            </a:r>
            <a:r>
              <a:rPr lang="zh-CN" altLang="en-US" sz="1400">
                <a:latin typeface="微软雅黑" panose="020B0503020204020204" charset="-122"/>
                <a:ea typeface="微软雅黑" panose="020B0503020204020204" charset="-122"/>
                <a:cs typeface="+mn-ea"/>
                <a:sym typeface="+mn-ea"/>
              </a:rPr>
              <a:t>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07300" y="1124585"/>
            <a:ext cx="4098925" cy="497522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其他设置项：非全图（每个类选取</a:t>
            </a:r>
            <a:r>
              <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200</a:t>
            </a: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张），预训练，降低学习率，非冻结</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ResNet18</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93.41%</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ResNet50</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97.56%</a:t>
            </a: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lvl="0" indent="0">
              <a:lnSpc>
                <a:spcPct val="150000"/>
              </a:lnSpc>
              <a:spcBef>
                <a:spcPct val="0"/>
              </a:spcBef>
              <a:buFont typeface="Wingdings" panose="05000000000000000000" charset="0"/>
              <a:buNone/>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可以看出：</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ResNet50</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的效果要比</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ResNet18</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更好，但由于</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ResNet50</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运行时间太长，故后续的对比分析中都是以</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ResNet18</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为基础。</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9" name="图片 8" descr="confusion_matrix (3)"/>
          <p:cNvPicPr>
            <a:picLocks noChangeAspect="1"/>
          </p:cNvPicPr>
          <p:nvPr/>
        </p:nvPicPr>
        <p:blipFill>
          <a:blip r:embed="rId4"/>
          <a:stretch>
            <a:fillRect/>
          </a:stretch>
        </p:blipFill>
        <p:spPr>
          <a:xfrm>
            <a:off x="1513840" y="1196975"/>
            <a:ext cx="2688000" cy="2016000"/>
          </a:xfrm>
          <a:prstGeom prst="rect">
            <a:avLst/>
          </a:prstGeom>
        </p:spPr>
      </p:pic>
      <p:pic>
        <p:nvPicPr>
          <p:cNvPr id="10" name="图片 9" descr="training_curves (3)"/>
          <p:cNvPicPr>
            <a:picLocks noChangeAspect="1"/>
          </p:cNvPicPr>
          <p:nvPr/>
        </p:nvPicPr>
        <p:blipFill>
          <a:blip r:embed="rId5"/>
          <a:stretch>
            <a:fillRect/>
          </a:stretch>
        </p:blipFill>
        <p:spPr>
          <a:xfrm>
            <a:off x="4201795" y="1412875"/>
            <a:ext cx="3463200" cy="1731600"/>
          </a:xfrm>
          <a:prstGeom prst="rect">
            <a:avLst/>
          </a:prstGeom>
        </p:spPr>
      </p:pic>
      <p:pic>
        <p:nvPicPr>
          <p:cNvPr id="13" name="图片 12" descr="confusion_matrix (4)"/>
          <p:cNvPicPr>
            <a:picLocks noChangeAspect="1"/>
          </p:cNvPicPr>
          <p:nvPr/>
        </p:nvPicPr>
        <p:blipFill>
          <a:blip r:embed="rId6"/>
          <a:stretch>
            <a:fillRect/>
          </a:stretch>
        </p:blipFill>
        <p:spPr>
          <a:xfrm>
            <a:off x="1486535" y="3829050"/>
            <a:ext cx="2688000" cy="2016000"/>
          </a:xfrm>
          <a:prstGeom prst="rect">
            <a:avLst/>
          </a:prstGeom>
        </p:spPr>
      </p:pic>
      <p:pic>
        <p:nvPicPr>
          <p:cNvPr id="18" name="图片 17" descr="training_curves (4)"/>
          <p:cNvPicPr>
            <a:picLocks noChangeAspect="1"/>
          </p:cNvPicPr>
          <p:nvPr/>
        </p:nvPicPr>
        <p:blipFill>
          <a:blip r:embed="rId7"/>
          <a:stretch>
            <a:fillRect/>
          </a:stretch>
        </p:blipFill>
        <p:spPr>
          <a:xfrm>
            <a:off x="4222750" y="4020185"/>
            <a:ext cx="3463200" cy="1731600"/>
          </a:xfrm>
          <a:prstGeom prst="rect">
            <a:avLst/>
          </a:prstGeom>
        </p:spPr>
      </p:pic>
    </p:spTree>
  </p:cSld>
  <p:clrMapOvr>
    <a:masterClrMapping/>
  </p:clrMapOvr>
  <p:transition spd="slow" advTm="300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161540" cy="306705"/>
          </a:xfrm>
          <a:prstGeom prst="rect">
            <a:avLst/>
          </a:prstGeom>
          <a:noFill/>
        </p:spPr>
        <p:txBody>
          <a:bodyPr wrap="square" rtlCol="0">
            <a:spAutoFit/>
          </a:bodyPr>
          <a:lstStyle/>
          <a:p>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非预训练混淆矩阵结果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rPr>
              <a:t>非预训练损失率与准确率结果</a:t>
            </a:r>
          </a:p>
        </p:txBody>
      </p:sp>
      <p:sp>
        <p:nvSpPr>
          <p:cNvPr id="16" name="文本框 15"/>
          <p:cNvSpPr txBox="1"/>
          <p:nvPr/>
        </p:nvSpPr>
        <p:spPr>
          <a:xfrm>
            <a:off x="1846580" y="5949315"/>
            <a:ext cx="2084705" cy="306705"/>
          </a:xfrm>
          <a:prstGeom prst="rect">
            <a:avLst/>
          </a:prstGeom>
          <a:noFill/>
        </p:spPr>
        <p:txBody>
          <a:bodyPr wrap="square" rtlCol="0">
            <a:spAutoFit/>
          </a:bodyPr>
          <a:lstStyle/>
          <a:p>
            <a:r>
              <a:rPr lang="zh-CN" altLang="en-US" sz="1400">
                <a:latin typeface="微软雅黑" panose="020B0503020204020204" charset="-122"/>
                <a:ea typeface="微软雅黑" panose="020B0503020204020204" charset="-122"/>
              </a:rPr>
              <a:t>预训练混淆矩阵结果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预训练损失率与准确率结果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594600" y="1559560"/>
            <a:ext cx="4098925" cy="497522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其他设置项：全图，降低学习率，非冻结</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非预训练：</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78.3%</a:t>
            </a:r>
          </a:p>
          <a:p>
            <a:pPr marL="285750" indent="-285750">
              <a:lnSpc>
                <a:spcPct val="150000"/>
              </a:lnSpc>
              <a:spcBef>
                <a:spcPct val="0"/>
              </a:spcBef>
              <a:buFont typeface="Wingdings" panose="05000000000000000000" charset="0"/>
              <a:buChar char="l"/>
            </a:pP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预训练：</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81.53%</a:t>
            </a: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lvl="0" indent="0">
              <a:lnSpc>
                <a:spcPct val="150000"/>
              </a:lnSpc>
              <a:spcBef>
                <a:spcPct val="0"/>
              </a:spcBef>
              <a:buFont typeface="Wingdings" panose="05000000000000000000" charset="0"/>
              <a:buNone/>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可以看出：预训练的结果要比非预训练的结果好（并且根据后续其他的实验结果也可以体现）</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3" name="图片 2" descr="confusion_matrix (5)"/>
          <p:cNvPicPr>
            <a:picLocks noChangeAspect="1"/>
          </p:cNvPicPr>
          <p:nvPr/>
        </p:nvPicPr>
        <p:blipFill>
          <a:blip r:embed="rId4"/>
          <a:stretch>
            <a:fillRect/>
          </a:stretch>
        </p:blipFill>
        <p:spPr>
          <a:xfrm>
            <a:off x="1486535" y="1340485"/>
            <a:ext cx="2688000" cy="2016000"/>
          </a:xfrm>
          <a:prstGeom prst="rect">
            <a:avLst/>
          </a:prstGeom>
        </p:spPr>
      </p:pic>
      <p:pic>
        <p:nvPicPr>
          <p:cNvPr id="11" name="图片 10" descr="training_curves (5)"/>
          <p:cNvPicPr>
            <a:picLocks noChangeAspect="1"/>
          </p:cNvPicPr>
          <p:nvPr/>
        </p:nvPicPr>
        <p:blipFill>
          <a:blip r:embed="rId5"/>
          <a:stretch>
            <a:fillRect/>
          </a:stretch>
        </p:blipFill>
        <p:spPr>
          <a:xfrm>
            <a:off x="4439285" y="1559560"/>
            <a:ext cx="3155315" cy="1577975"/>
          </a:xfrm>
          <a:prstGeom prst="rect">
            <a:avLst/>
          </a:prstGeom>
        </p:spPr>
      </p:pic>
      <p:pic>
        <p:nvPicPr>
          <p:cNvPr id="14" name="图片 13" descr="confusion_matrix (6)"/>
          <p:cNvPicPr>
            <a:picLocks noChangeAspect="1"/>
          </p:cNvPicPr>
          <p:nvPr/>
        </p:nvPicPr>
        <p:blipFill>
          <a:blip r:embed="rId6"/>
          <a:stretch>
            <a:fillRect/>
          </a:stretch>
        </p:blipFill>
        <p:spPr>
          <a:xfrm>
            <a:off x="1486535" y="3922395"/>
            <a:ext cx="2688000" cy="2016000"/>
          </a:xfrm>
          <a:prstGeom prst="rect">
            <a:avLst/>
          </a:prstGeom>
        </p:spPr>
      </p:pic>
      <p:pic>
        <p:nvPicPr>
          <p:cNvPr id="15" name="图片 14" descr="training_curves (6)"/>
          <p:cNvPicPr>
            <a:picLocks noChangeAspect="1"/>
          </p:cNvPicPr>
          <p:nvPr/>
        </p:nvPicPr>
        <p:blipFill>
          <a:blip r:embed="rId7"/>
          <a:stretch>
            <a:fillRect/>
          </a:stretch>
        </p:blipFill>
        <p:spPr>
          <a:xfrm>
            <a:off x="4453890" y="4149090"/>
            <a:ext cx="3153600" cy="1576800"/>
          </a:xfrm>
          <a:prstGeom prst="rect">
            <a:avLst/>
          </a:prstGeom>
        </p:spPr>
      </p:pic>
    </p:spTree>
  </p:cSld>
  <p:clrMapOvr>
    <a:masterClrMapping/>
  </p:clrMapOvr>
  <p:transition spd="slow" advTm="3000">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161540" cy="306705"/>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非冻结混淆矩阵结果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rPr>
              <a:t>非冻结损失率与准确率结果</a:t>
            </a:r>
          </a:p>
        </p:txBody>
      </p:sp>
      <p:sp>
        <p:nvSpPr>
          <p:cNvPr id="16" name="文本框 15"/>
          <p:cNvSpPr txBox="1"/>
          <p:nvPr/>
        </p:nvSpPr>
        <p:spPr>
          <a:xfrm>
            <a:off x="1846580" y="5949315"/>
            <a:ext cx="208470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rPr>
              <a:t>冻结混淆矩阵结果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冻结损失率与准确率结果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07300" y="1124585"/>
            <a:ext cx="4098925" cy="497522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其他设置项：全图，预训练，降低学习率</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非冻结：</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81.53%</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冻结</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95.05%</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（最佳）</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lvl="0" indent="0">
              <a:lnSpc>
                <a:spcPct val="150000"/>
              </a:lnSpc>
              <a:spcBef>
                <a:spcPct val="0"/>
              </a:spcBef>
              <a:buFont typeface="Wingdings" panose="05000000000000000000" charset="0"/>
              <a:buNone/>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可以看出：冻结的效果要比非冻结的好，经过分析是由于冻结操作通过保留预训练模型的特征提取能力，避免了从零学习导致的灾难性遗忘和参数覆盖，从而获得了更稳定的性能表现。</a:t>
            </a:r>
          </a:p>
        </p:txBody>
      </p:sp>
      <p:pic>
        <p:nvPicPr>
          <p:cNvPr id="3" name="图片 2" descr="confusion_matrix (6)"/>
          <p:cNvPicPr>
            <a:picLocks noChangeAspect="1"/>
          </p:cNvPicPr>
          <p:nvPr/>
        </p:nvPicPr>
        <p:blipFill>
          <a:blip r:embed="rId4"/>
          <a:stretch>
            <a:fillRect/>
          </a:stretch>
        </p:blipFill>
        <p:spPr>
          <a:xfrm>
            <a:off x="1630680" y="1268730"/>
            <a:ext cx="2688000" cy="2016000"/>
          </a:xfrm>
          <a:prstGeom prst="rect">
            <a:avLst/>
          </a:prstGeom>
        </p:spPr>
      </p:pic>
      <p:pic>
        <p:nvPicPr>
          <p:cNvPr id="11" name="图片 10" descr="training_curves (6)"/>
          <p:cNvPicPr>
            <a:picLocks noChangeAspect="1"/>
          </p:cNvPicPr>
          <p:nvPr/>
        </p:nvPicPr>
        <p:blipFill>
          <a:blip r:embed="rId5"/>
          <a:stretch>
            <a:fillRect/>
          </a:stretch>
        </p:blipFill>
        <p:spPr>
          <a:xfrm>
            <a:off x="4318635" y="1523365"/>
            <a:ext cx="3153600" cy="1576800"/>
          </a:xfrm>
          <a:prstGeom prst="rect">
            <a:avLst/>
          </a:prstGeom>
        </p:spPr>
      </p:pic>
      <p:pic>
        <p:nvPicPr>
          <p:cNvPr id="14" name="图片 13" descr="confusion_matrix (7)"/>
          <p:cNvPicPr>
            <a:picLocks noChangeAspect="1"/>
          </p:cNvPicPr>
          <p:nvPr/>
        </p:nvPicPr>
        <p:blipFill>
          <a:blip r:embed="rId6"/>
          <a:stretch>
            <a:fillRect/>
          </a:stretch>
        </p:blipFill>
        <p:spPr>
          <a:xfrm>
            <a:off x="1630680" y="3860800"/>
            <a:ext cx="2688000" cy="2016000"/>
          </a:xfrm>
          <a:prstGeom prst="rect">
            <a:avLst/>
          </a:prstGeom>
        </p:spPr>
      </p:pic>
      <p:pic>
        <p:nvPicPr>
          <p:cNvPr id="15" name="图片 14" descr="training_curves (7)"/>
          <p:cNvPicPr>
            <a:picLocks noChangeAspect="1"/>
          </p:cNvPicPr>
          <p:nvPr/>
        </p:nvPicPr>
        <p:blipFill>
          <a:blip r:embed="rId7"/>
          <a:stretch>
            <a:fillRect/>
          </a:stretch>
        </p:blipFill>
        <p:spPr>
          <a:xfrm>
            <a:off x="4366895" y="4048760"/>
            <a:ext cx="3153600" cy="1576800"/>
          </a:xfrm>
          <a:prstGeom prst="rect">
            <a:avLst/>
          </a:prstGeom>
        </p:spPr>
      </p:pic>
    </p:spTree>
  </p:cSld>
  <p:clrMapOvr>
    <a:masterClrMapping/>
  </p:clrMapOvr>
  <p:transition spd="slow" advTm="300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324735" cy="306705"/>
          </a:xfrm>
          <a:prstGeom prst="rect">
            <a:avLst/>
          </a:prstGeom>
          <a:noFill/>
        </p:spPr>
        <p:txBody>
          <a:bodyPr wrap="square" rtlCol="0">
            <a:spAutoFit/>
          </a:bodyPr>
          <a:lstStyle/>
          <a:p>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非降低学习率混淆矩阵结果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rPr>
              <a:t>非降低学习率损失率与准确率结果</a:t>
            </a:r>
          </a:p>
        </p:txBody>
      </p:sp>
      <p:sp>
        <p:nvSpPr>
          <p:cNvPr id="16" name="文本框 15"/>
          <p:cNvSpPr txBox="1"/>
          <p:nvPr/>
        </p:nvSpPr>
        <p:spPr>
          <a:xfrm>
            <a:off x="1846580" y="5949315"/>
            <a:ext cx="2216785" cy="306705"/>
          </a:xfrm>
          <a:prstGeom prst="rect">
            <a:avLst/>
          </a:prstGeom>
          <a:noFill/>
        </p:spPr>
        <p:txBody>
          <a:bodyPr wrap="square" rtlCol="0">
            <a:spAutoFit/>
          </a:bodyPr>
          <a:lstStyle/>
          <a:p>
            <a:r>
              <a:rPr lang="zh-CN" altLang="en-US" sz="1400">
                <a:latin typeface="微软雅黑" panose="020B0503020204020204" charset="-122"/>
                <a:ea typeface="微软雅黑" panose="020B0503020204020204" charset="-122"/>
              </a:rPr>
              <a:t>降低学习率混淆矩阵结果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降低学习率损失率与准确率结果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07300" y="1340485"/>
            <a:ext cx="4098925" cy="497522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其他设置项：非全图（每个类选取</a:t>
            </a:r>
            <a:r>
              <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200</a:t>
            </a: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张），预训练，冻结</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非降低学习率：</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90.63%</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降低学习率：</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93.75%</a:t>
            </a: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lvl="0" indent="0">
              <a:lnSpc>
                <a:spcPct val="150000"/>
              </a:lnSpc>
              <a:spcBef>
                <a:spcPct val="0"/>
              </a:spcBef>
              <a:buFont typeface="Wingdings" panose="05000000000000000000" charset="0"/>
              <a:buNone/>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可以看出：降低学习率会更好，原因已经在</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CNN</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解释过，在</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ResNet</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中也可以进一步证明</a:t>
            </a:r>
          </a:p>
        </p:txBody>
      </p:sp>
      <p:pic>
        <p:nvPicPr>
          <p:cNvPr id="14" name="图片 13" descr="confusion_matrix (8)"/>
          <p:cNvPicPr>
            <a:picLocks noChangeAspect="1"/>
          </p:cNvPicPr>
          <p:nvPr/>
        </p:nvPicPr>
        <p:blipFill>
          <a:blip r:embed="rId4"/>
          <a:stretch>
            <a:fillRect/>
          </a:stretch>
        </p:blipFill>
        <p:spPr>
          <a:xfrm>
            <a:off x="1582420" y="1196975"/>
            <a:ext cx="2688000" cy="2016000"/>
          </a:xfrm>
          <a:prstGeom prst="rect">
            <a:avLst/>
          </a:prstGeom>
        </p:spPr>
      </p:pic>
      <p:pic>
        <p:nvPicPr>
          <p:cNvPr id="15" name="图片 14" descr="training_curves (8)"/>
          <p:cNvPicPr>
            <a:picLocks noChangeAspect="1"/>
          </p:cNvPicPr>
          <p:nvPr/>
        </p:nvPicPr>
        <p:blipFill>
          <a:blip r:embed="rId5"/>
          <a:stretch>
            <a:fillRect/>
          </a:stretch>
        </p:blipFill>
        <p:spPr>
          <a:xfrm>
            <a:off x="4406900" y="1484630"/>
            <a:ext cx="3153600" cy="1576800"/>
          </a:xfrm>
          <a:prstGeom prst="rect">
            <a:avLst/>
          </a:prstGeom>
        </p:spPr>
      </p:pic>
      <p:pic>
        <p:nvPicPr>
          <p:cNvPr id="9" name="图片 8">
            <a:extLst>
              <a:ext uri="{FF2B5EF4-FFF2-40B4-BE49-F238E27FC236}">
                <a16:creationId xmlns:a16="http://schemas.microsoft.com/office/drawing/2014/main" id="{6AF90134-2BDC-B84F-8B19-41F3D37D13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9722" y="3992784"/>
            <a:ext cx="3270158" cy="1635079"/>
          </a:xfrm>
          <a:prstGeom prst="rect">
            <a:avLst/>
          </a:prstGeom>
        </p:spPr>
      </p:pic>
      <p:pic>
        <p:nvPicPr>
          <p:cNvPr id="11" name="图片 10">
            <a:extLst>
              <a:ext uri="{FF2B5EF4-FFF2-40B4-BE49-F238E27FC236}">
                <a16:creationId xmlns:a16="http://schemas.microsoft.com/office/drawing/2014/main" id="{DFDEFFCD-6B65-B743-BF64-C493F1E6C9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97759" y="3944949"/>
            <a:ext cx="2457321" cy="1842991"/>
          </a:xfrm>
          <a:prstGeom prst="rect">
            <a:avLst/>
          </a:prstGeom>
        </p:spPr>
      </p:pic>
    </p:spTree>
  </p:cSld>
  <p:clrMapOvr>
    <a:masterClrMapping/>
  </p:clrMapOvr>
  <p:transition spd="slow" advTm="300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ResNet</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161540" cy="306705"/>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微软雅黑" panose="020B0503020204020204" charset="-122"/>
                <a:ea typeface="微软雅黑" panose="020B0503020204020204" charset="-122"/>
                <a:cs typeface="+mj-ea"/>
              </a:rPr>
              <a:t>非全图混淆矩阵结果</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rPr>
              <a:t>非全图损失率与准确率结果</a:t>
            </a:r>
          </a:p>
        </p:txBody>
      </p:sp>
      <p:sp>
        <p:nvSpPr>
          <p:cNvPr id="16" name="文本框 15"/>
          <p:cNvSpPr txBox="1"/>
          <p:nvPr/>
        </p:nvSpPr>
        <p:spPr>
          <a:xfrm>
            <a:off x="1846580" y="5949315"/>
            <a:ext cx="208470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rPr>
              <a:t>全图混淆矩阵结果</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微软雅黑" panose="020B0503020204020204" charset="-122"/>
                <a:ea typeface="微软雅黑" panose="020B0503020204020204" charset="-122"/>
                <a:cs typeface="+mn-ea"/>
                <a:sym typeface="+mn-ea"/>
              </a:rPr>
              <a:t>全图损失率与准确率结果</a:t>
            </a:r>
            <a:endParaRPr lang="zh-CN" altLang="en-US" sz="1400">
              <a:latin typeface="微软雅黑" panose="020B0503020204020204" charset="-122"/>
              <a:ea typeface="微软雅黑" panose="020B0503020204020204" charset="-122"/>
              <a:cs typeface="+mn-ea"/>
            </a:endParaRPr>
          </a:p>
        </p:txBody>
      </p:sp>
      <p:sp>
        <p:nvSpPr>
          <p:cNvPr id="8" name="文本框 7"/>
          <p:cNvSpPr txBox="1"/>
          <p:nvPr/>
        </p:nvSpPr>
        <p:spPr>
          <a:xfrm>
            <a:off x="7607300" y="1124585"/>
            <a:ext cx="4098925" cy="5367655"/>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其他设置项：预训练，降低学习率，冻结</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nSpc>
                <a:spcPct val="150000"/>
              </a:lnSpc>
              <a:spcBef>
                <a:spcPct val="0"/>
              </a:spcBef>
              <a:buFont typeface="Wingdings" panose="05000000000000000000" charset="0"/>
              <a:buChar char="l"/>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非全图（</a:t>
            </a:r>
            <a:r>
              <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200/</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类）：</a:t>
            </a:r>
            <a:endParaRPr lang="en-US" altLang="zh-CN"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93.75%</a:t>
            </a:r>
          </a:p>
          <a:p>
            <a:pPr marL="285750" indent="-285750">
              <a:lnSpc>
                <a:spcPct val="150000"/>
              </a:lnSpc>
              <a:spcBef>
                <a:spcPct val="0"/>
              </a:spcBef>
              <a:buFont typeface="Wingdings" panose="05000000000000000000" charset="0"/>
              <a:buChar char="l"/>
            </a:pP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全图：</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准确率为</a:t>
            </a:r>
            <a:r>
              <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95.05%</a:t>
            </a:r>
            <a:r>
              <a:rPr lang="zh-CN" altLang="en-US"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（最佳）</a:t>
            </a: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42950" lvl="1" indent="-285750">
              <a:lnSpc>
                <a:spcPct val="150000"/>
              </a:lnSpc>
              <a:spcBef>
                <a:spcPct val="0"/>
              </a:spcBef>
              <a:buFont typeface="Wingdings" panose="05000000000000000000" charset="0"/>
              <a:buChar char="n"/>
            </a:pPr>
            <a:endParaRPr lang="en-US" altLang="zh-CN" sz="16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lvl="0" indent="0">
              <a:lnSpc>
                <a:spcPct val="150000"/>
              </a:lnSpc>
              <a:spcBef>
                <a:spcPct val="0"/>
              </a:spcBef>
              <a:buFont typeface="Wingdings" panose="05000000000000000000" charset="0"/>
              <a:buNone/>
            </a:pPr>
            <a:r>
              <a:rPr lang="zh-CN" altLang="en-US"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更多样本意味着更多姿态、更多背景变化、更多尺度变化等内容。</a:t>
            </a:r>
          </a:p>
        </p:txBody>
      </p:sp>
      <p:pic>
        <p:nvPicPr>
          <p:cNvPr id="28" name="图片 27">
            <a:extLst>
              <a:ext uri="{FF2B5EF4-FFF2-40B4-BE49-F238E27FC236}">
                <a16:creationId xmlns:a16="http://schemas.microsoft.com/office/drawing/2014/main" id="{EF734256-2ECC-2342-B788-031E0FAD82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312" y="3974161"/>
            <a:ext cx="3447616" cy="1723808"/>
          </a:xfrm>
          <a:prstGeom prst="rect">
            <a:avLst/>
          </a:prstGeom>
        </p:spPr>
      </p:pic>
      <p:pic>
        <p:nvPicPr>
          <p:cNvPr id="30" name="图片 29">
            <a:extLst>
              <a:ext uri="{FF2B5EF4-FFF2-40B4-BE49-F238E27FC236}">
                <a16:creationId xmlns:a16="http://schemas.microsoft.com/office/drawing/2014/main" id="{E2EAB520-2384-B84E-B0FD-985B0F185D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0977" y="3800951"/>
            <a:ext cx="2864485" cy="2148364"/>
          </a:xfrm>
          <a:prstGeom prst="rect">
            <a:avLst/>
          </a:prstGeom>
        </p:spPr>
      </p:pic>
      <p:pic>
        <p:nvPicPr>
          <p:cNvPr id="32" name="图片 31">
            <a:extLst>
              <a:ext uri="{FF2B5EF4-FFF2-40B4-BE49-F238E27FC236}">
                <a16:creationId xmlns:a16="http://schemas.microsoft.com/office/drawing/2014/main" id="{7A993AA3-73EC-CC41-8B8F-0025C122F7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6298" y="1412775"/>
            <a:ext cx="3511002" cy="1755501"/>
          </a:xfrm>
          <a:prstGeom prst="rect">
            <a:avLst/>
          </a:prstGeom>
        </p:spPr>
      </p:pic>
      <p:pic>
        <p:nvPicPr>
          <p:cNvPr id="34" name="图片 33">
            <a:extLst>
              <a:ext uri="{FF2B5EF4-FFF2-40B4-BE49-F238E27FC236}">
                <a16:creationId xmlns:a16="http://schemas.microsoft.com/office/drawing/2014/main" id="{4E193581-0265-BB43-82AE-03DB6DA273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09880" y="1254735"/>
            <a:ext cx="2596970" cy="1947727"/>
          </a:xfrm>
          <a:prstGeom prst="rect">
            <a:avLst/>
          </a:prstGeom>
        </p:spPr>
      </p:pic>
    </p:spTree>
  </p:cSld>
  <p:clrMapOvr>
    <a:masterClrMapping/>
  </p:clrMapOvr>
  <p:transition spd="slow" advTm="300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8211185" cy="1271905"/>
            <a:chOff x="550590" y="536707"/>
            <a:chExt cx="8211185" cy="1271905"/>
          </a:xfrm>
        </p:grpSpPr>
        <p:sp>
          <p:nvSpPr>
            <p:cNvPr id="4" name="TextBox 40"/>
            <p:cNvSpPr txBox="1"/>
            <p:nvPr/>
          </p:nvSpPr>
          <p:spPr>
            <a:xfrm>
              <a:off x="1270680" y="609732"/>
              <a:ext cx="7491095" cy="1198880"/>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M3V</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模型：更现代的对比模型</a:t>
              </a:r>
              <a:endPar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TextBox 7"/>
          <p:cNvSpPr>
            <a:spLocks noChangeArrowheads="1"/>
          </p:cNvSpPr>
          <p:nvPr>
            <p:custDataLst>
              <p:tags r:id="rId1"/>
            </p:custDataLst>
          </p:nvPr>
        </p:nvSpPr>
        <p:spPr bwMode="auto">
          <a:xfrm>
            <a:off x="7463155" y="1988820"/>
            <a:ext cx="6527165" cy="2678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zh-CN" altLang="en-US" b="1" dirty="0">
                <a:solidFill>
                  <a:schemeClr val="tx1">
                    <a:lumMod val="75000"/>
                    <a:lumOff val="25000"/>
                  </a:schemeClr>
                </a:solidFill>
                <a:latin typeface="+mj-ea"/>
                <a:ea typeface="+mj-ea"/>
                <a:cs typeface="+mj-ea"/>
                <a:sym typeface="微软雅黑" panose="020B0503020204020204" charset="-122"/>
              </a:rPr>
              <a:t>动机</a:t>
            </a:r>
            <a:r>
              <a:rPr lang="en-US" altLang="zh-CN" b="1" dirty="0">
                <a:solidFill>
                  <a:schemeClr val="tx1">
                    <a:lumMod val="75000"/>
                    <a:lumOff val="25000"/>
                  </a:schemeClr>
                </a:solidFill>
                <a:latin typeface="+mj-ea"/>
                <a:ea typeface="+mj-ea"/>
                <a:cs typeface="+mj-ea"/>
                <a:sym typeface="微软雅黑" panose="020B0503020204020204" charset="-122"/>
              </a:rPr>
              <a:t> </a:t>
            </a:r>
            <a:r>
              <a:rPr lang="en-US" altLang="zh-CN" dirty="0">
                <a:solidFill>
                  <a:schemeClr val="tx1">
                    <a:lumMod val="75000"/>
                    <a:lumOff val="25000"/>
                  </a:schemeClr>
                </a:solidFill>
                <a:latin typeface="+mj-ea"/>
                <a:ea typeface="+mj-ea"/>
                <a:cs typeface="+mj-ea"/>
                <a:sym typeface="微软雅黑" panose="020B0503020204020204" charset="-122"/>
              </a:rPr>
              <a:t> </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冻结与否影响巨大</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是否有更强的预训练语义能力</a:t>
            </a:r>
          </a:p>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zh-CN" altLang="en-US" b="1" dirty="0">
                <a:solidFill>
                  <a:schemeClr val="tx1">
                    <a:lumMod val="75000"/>
                    <a:lumOff val="25000"/>
                  </a:schemeClr>
                </a:solidFill>
                <a:latin typeface="+mj-ea"/>
                <a:ea typeface="+mj-ea"/>
                <a:cs typeface="+mj-ea"/>
                <a:sym typeface="微软雅黑" panose="020B0503020204020204" charset="-122"/>
              </a:rPr>
              <a:t>对比结果</a:t>
            </a:r>
            <a:r>
              <a:rPr lang="en-US" altLang="zh-CN" b="1" dirty="0">
                <a:solidFill>
                  <a:schemeClr val="tx1">
                    <a:lumMod val="75000"/>
                    <a:lumOff val="25000"/>
                  </a:schemeClr>
                </a:solidFill>
                <a:latin typeface="+mj-ea"/>
                <a:ea typeface="+mj-ea"/>
                <a:cs typeface="+mj-ea"/>
                <a:sym typeface="微软雅黑" panose="020B0503020204020204" charset="-122"/>
              </a:rPr>
              <a:t> </a:t>
            </a:r>
            <a:endParaRPr lang="zh-CN" altLang="en-US"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mj-ea"/>
                <a:ea typeface="+mj-ea"/>
                <a:cs typeface="+mj-ea"/>
                <a:sym typeface="微软雅黑" panose="020B0503020204020204" charset="-122"/>
              </a:rPr>
              <a:t>CLIP / M3V </a:t>
            </a:r>
            <a:r>
              <a:rPr lang="zh-CN" altLang="en-US" sz="1600" dirty="0">
                <a:solidFill>
                  <a:schemeClr val="tx1">
                    <a:lumMod val="75000"/>
                    <a:lumOff val="25000"/>
                  </a:schemeClr>
                </a:solidFill>
                <a:latin typeface="+mj-ea"/>
                <a:ea typeface="+mj-ea"/>
                <a:cs typeface="+mj-ea"/>
                <a:sym typeface="微软雅黑" panose="020B0503020204020204" charset="-122"/>
              </a:rPr>
              <a:t>在相似类别上更稳定</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说明现代预训练模型具备更强泛化能力</a:t>
            </a:r>
          </a:p>
          <a:p>
            <a:pPr indent="0">
              <a:lnSpc>
                <a:spcPct val="130000"/>
              </a:lnSpc>
              <a:spcBef>
                <a:spcPct val="0"/>
              </a:spcBef>
              <a:buFont typeface="Wingdings" panose="05000000000000000000" charset="0"/>
              <a:buNone/>
            </a:pPr>
            <a:endParaRPr lang="en-US" altLang="zh-CN" b="1" dirty="0">
              <a:solidFill>
                <a:schemeClr val="tx1">
                  <a:lumMod val="75000"/>
                  <a:lumOff val="25000"/>
                </a:schemeClr>
              </a:solidFill>
              <a:latin typeface="+mj-ea"/>
              <a:ea typeface="+mj-ea"/>
              <a:cs typeface="+mj-ea"/>
              <a:sym typeface="微软雅黑" panose="020B0503020204020204" charset="-122"/>
            </a:endParaRPr>
          </a:p>
          <a:p>
            <a:pPr lvl="1" indent="0">
              <a:lnSpc>
                <a:spcPct val="130000"/>
              </a:lnSpc>
              <a:spcBef>
                <a:spcPct val="0"/>
              </a:spcBef>
              <a:buFont typeface="Wingdings" panose="05000000000000000000" charset="0"/>
              <a:buNone/>
            </a:pPr>
            <a:endParaRPr lang="zh-CN" altLang="en-US" sz="1600" dirty="0">
              <a:solidFill>
                <a:schemeClr val="tx1">
                  <a:lumMod val="75000"/>
                  <a:lumOff val="25000"/>
                </a:schemeClr>
              </a:solidFill>
              <a:latin typeface="+mj-ea"/>
              <a:ea typeface="+mj-ea"/>
              <a:cs typeface="+mj-ea"/>
              <a:sym typeface="微软雅黑" panose="020B0503020204020204" charset="-122"/>
            </a:endParaRPr>
          </a:p>
        </p:txBody>
      </p:sp>
      <p:pic>
        <p:nvPicPr>
          <p:cNvPr id="7" name="图片 6"/>
          <p:cNvPicPr>
            <a:picLocks noChangeAspect="1"/>
          </p:cNvPicPr>
          <p:nvPr/>
        </p:nvPicPr>
        <p:blipFill>
          <a:blip r:embed="rId5"/>
          <a:stretch>
            <a:fillRect/>
          </a:stretch>
        </p:blipFill>
        <p:spPr>
          <a:xfrm>
            <a:off x="478155" y="1423670"/>
            <a:ext cx="6835140" cy="3249930"/>
          </a:xfrm>
          <a:prstGeom prst="rect">
            <a:avLst/>
          </a:prstGeom>
        </p:spPr>
      </p:pic>
      <p:pic>
        <p:nvPicPr>
          <p:cNvPr id="8" name="图片 7"/>
          <p:cNvPicPr>
            <a:picLocks noChangeAspect="1"/>
          </p:cNvPicPr>
          <p:nvPr/>
        </p:nvPicPr>
        <p:blipFill>
          <a:blip r:embed="rId6"/>
          <a:stretch>
            <a:fillRect/>
          </a:stretch>
        </p:blipFill>
        <p:spPr>
          <a:xfrm>
            <a:off x="3702050" y="4725035"/>
            <a:ext cx="7862570" cy="1627505"/>
          </a:xfrm>
          <a:prstGeom prst="rect">
            <a:avLst/>
          </a:prstGeom>
        </p:spPr>
      </p:pic>
    </p:spTree>
  </p:cSld>
  <p:clrMapOvr>
    <a:masterClrMapping/>
  </p:clrMapOvr>
  <p:transition spd="slow" advTm="300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7923"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M3V</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1845310" y="3429000"/>
            <a:ext cx="2025650" cy="306705"/>
          </a:xfrm>
          <a:prstGeom prst="rect">
            <a:avLst/>
          </a:prstGeom>
          <a:noFill/>
        </p:spPr>
        <p:txBody>
          <a:bodyPr wrap="square" rtlCol="0">
            <a:spAutoFit/>
          </a:bodyPr>
          <a:lstStyle/>
          <a:p>
            <a:pPr algn="ctr"/>
            <a:r>
              <a:rPr lang="zh-CN" altLang="en-US" sz="1400" dirty="0">
                <a:solidFill>
                  <a:schemeClr val="tx1">
                    <a:lumMod val="75000"/>
                    <a:lumOff val="25000"/>
                  </a:schemeClr>
                </a:solidFill>
                <a:latin typeface="+mj-ea"/>
                <a:ea typeface="+mj-ea"/>
                <a:cs typeface="+mj-ea"/>
              </a:rPr>
              <a:t>混淆矩阵结果（冻结）</a:t>
            </a:r>
          </a:p>
        </p:txBody>
      </p:sp>
      <p:sp>
        <p:nvSpPr>
          <p:cNvPr id="12" name="文本框 11"/>
          <p:cNvSpPr txBox="1"/>
          <p:nvPr/>
        </p:nvSpPr>
        <p:spPr>
          <a:xfrm>
            <a:off x="4063365" y="3429000"/>
            <a:ext cx="4063365" cy="306705"/>
          </a:xfrm>
          <a:prstGeom prst="rect">
            <a:avLst/>
          </a:prstGeom>
          <a:noFill/>
        </p:spPr>
        <p:txBody>
          <a:bodyPr wrap="square" rtlCol="0">
            <a:spAutoFit/>
          </a:bodyPr>
          <a:lstStyle/>
          <a:p>
            <a:pPr algn="ctr"/>
            <a:r>
              <a:rPr lang="zh-CN" altLang="en-US" sz="1400">
                <a:latin typeface="+mn-ea"/>
                <a:cs typeface="+mn-ea"/>
              </a:rPr>
              <a:t>损失率与准确率结果（冻结）</a:t>
            </a:r>
          </a:p>
        </p:txBody>
      </p:sp>
      <p:sp>
        <p:nvSpPr>
          <p:cNvPr id="16" name="文本框 15"/>
          <p:cNvSpPr txBox="1"/>
          <p:nvPr/>
        </p:nvSpPr>
        <p:spPr>
          <a:xfrm>
            <a:off x="1558290" y="5938520"/>
            <a:ext cx="2657475" cy="306705"/>
          </a:xfrm>
          <a:prstGeom prst="rect">
            <a:avLst/>
          </a:prstGeom>
          <a:noFill/>
        </p:spPr>
        <p:txBody>
          <a:bodyPr wrap="square" rtlCol="0">
            <a:spAutoFit/>
          </a:bodyPr>
          <a:lstStyle/>
          <a:p>
            <a:pPr algn="ctr"/>
            <a:r>
              <a:rPr lang="zh-CN" altLang="en-US" sz="1400"/>
              <a:t>混淆矩阵结果（非冻结）</a:t>
            </a:r>
          </a:p>
        </p:txBody>
      </p:sp>
      <p:sp>
        <p:nvSpPr>
          <p:cNvPr id="17" name="文本框 16"/>
          <p:cNvSpPr txBox="1"/>
          <p:nvPr/>
        </p:nvSpPr>
        <p:spPr>
          <a:xfrm>
            <a:off x="4006850" y="5938520"/>
            <a:ext cx="4063365" cy="306705"/>
          </a:xfrm>
          <a:prstGeom prst="rect">
            <a:avLst/>
          </a:prstGeom>
          <a:noFill/>
        </p:spPr>
        <p:txBody>
          <a:bodyPr wrap="square" rtlCol="0">
            <a:spAutoFit/>
          </a:bodyPr>
          <a:lstStyle/>
          <a:p>
            <a:pPr algn="ctr"/>
            <a:r>
              <a:rPr lang="zh-CN" altLang="en-US" sz="1400">
                <a:latin typeface="+mn-ea"/>
                <a:cs typeface="+mn-ea"/>
                <a:sym typeface="+mn-ea"/>
              </a:rPr>
              <a:t>损失率与准确率结果（非冻结）</a:t>
            </a:r>
            <a:endParaRPr lang="zh-CN" altLang="en-US" sz="1400">
              <a:latin typeface="+mn-ea"/>
              <a:cs typeface="+mn-ea"/>
            </a:endParaRPr>
          </a:p>
        </p:txBody>
      </p:sp>
      <p:sp>
        <p:nvSpPr>
          <p:cNvPr id="8" name="文本框 7"/>
          <p:cNvSpPr txBox="1"/>
          <p:nvPr/>
        </p:nvSpPr>
        <p:spPr>
          <a:xfrm>
            <a:off x="7534910" y="948055"/>
            <a:ext cx="4098925" cy="5267960"/>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en-US" altLang="zh-CN" b="1" dirty="0">
                <a:solidFill>
                  <a:schemeClr val="tx1">
                    <a:lumMod val="75000"/>
                    <a:lumOff val="25000"/>
                  </a:schemeClr>
                </a:solidFill>
                <a:latin typeface="+mj-ea"/>
                <a:ea typeface="+mj-ea"/>
                <a:cs typeface="+mj-ea"/>
                <a:sym typeface="微软雅黑" panose="020B0503020204020204" charset="-122"/>
              </a:rPr>
              <a:t> </a:t>
            </a:r>
            <a:r>
              <a:rPr lang="zh-CN" altLang="en-US" b="1" dirty="0">
                <a:solidFill>
                  <a:schemeClr val="tx1">
                    <a:lumMod val="75000"/>
                    <a:lumOff val="25000"/>
                  </a:schemeClr>
                </a:solidFill>
                <a:latin typeface="+mj-ea"/>
                <a:ea typeface="+mj-ea"/>
                <a:cs typeface="+mj-ea"/>
                <a:sym typeface="微软雅黑" panose="020B0503020204020204" charset="-122"/>
              </a:rPr>
              <a:t>在</a:t>
            </a:r>
            <a:r>
              <a:rPr lang="en-US" altLang="zh-CN" b="1" dirty="0">
                <a:solidFill>
                  <a:schemeClr val="tx1">
                    <a:lumMod val="75000"/>
                    <a:lumOff val="25000"/>
                  </a:schemeClr>
                </a:solidFill>
                <a:latin typeface="+mj-ea"/>
                <a:ea typeface="+mj-ea"/>
                <a:cs typeface="+mj-ea"/>
                <a:sym typeface="微软雅黑" panose="020B0503020204020204" charset="-122"/>
              </a:rPr>
              <a:t>M3V</a:t>
            </a:r>
            <a:r>
              <a:rPr lang="zh-CN" altLang="en-US" b="1" dirty="0">
                <a:solidFill>
                  <a:schemeClr val="tx1">
                    <a:lumMod val="75000"/>
                    <a:lumOff val="25000"/>
                  </a:schemeClr>
                </a:solidFill>
                <a:latin typeface="+mj-ea"/>
                <a:ea typeface="+mj-ea"/>
                <a:cs typeface="+mj-ea"/>
                <a:sym typeface="微软雅黑" panose="020B0503020204020204" charset="-122"/>
              </a:rPr>
              <a:t>模型上采用了冻结与非冻结两种方式</a:t>
            </a:r>
            <a:endParaRPr lang="en-US" altLang="zh-CN" b="1" dirty="0">
              <a:solidFill>
                <a:schemeClr val="tx1">
                  <a:lumMod val="75000"/>
                  <a:lumOff val="25000"/>
                </a:schemeClr>
              </a:solidFill>
              <a:latin typeface="+mj-ea"/>
              <a:ea typeface="+mj-ea"/>
              <a:cs typeface="+mj-ea"/>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sz="1600" dirty="0">
                <a:solidFill>
                  <a:schemeClr val="tx1">
                    <a:lumMod val="75000"/>
                    <a:lumOff val="25000"/>
                  </a:schemeClr>
                </a:solidFill>
                <a:latin typeface="+mj-ea"/>
                <a:ea typeface="+mj-ea"/>
                <a:cs typeface="+mj-ea"/>
                <a:sym typeface="微软雅黑" panose="020B0503020204020204" charset="-122"/>
              </a:rPr>
              <a:t>冻结微调（</a:t>
            </a:r>
            <a:r>
              <a:rPr lang="en-US" altLang="zh-CN" sz="1600" dirty="0">
                <a:solidFill>
                  <a:schemeClr val="tx1">
                    <a:lumMod val="75000"/>
                    <a:lumOff val="25000"/>
                  </a:schemeClr>
                </a:solidFill>
                <a:latin typeface="+mj-ea"/>
                <a:ea typeface="+mj-ea"/>
                <a:cs typeface="+mj-ea"/>
                <a:sym typeface="微软雅黑" panose="020B0503020204020204" charset="-122"/>
              </a:rPr>
              <a:t>92.27%</a:t>
            </a:r>
            <a:r>
              <a:rPr lang="zh-CN" altLang="en-US" sz="1600" dirty="0">
                <a:solidFill>
                  <a:schemeClr val="tx1">
                    <a:lumMod val="75000"/>
                    <a:lumOff val="25000"/>
                  </a:schemeClr>
                </a:solidFill>
                <a:latin typeface="+mj-ea"/>
                <a:ea typeface="+mj-ea"/>
                <a:cs typeface="+mj-ea"/>
                <a:sym typeface="微软雅黑" panose="020B0503020204020204" charset="-122"/>
              </a:rPr>
              <a:t>准确率）：</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保留了预训练的特征提取能力</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仅训练分类器层，防止过拟合</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学习稳定并且充分利用预训练的权重</a:t>
            </a:r>
          </a:p>
          <a:p>
            <a:pPr marL="285750" indent="-285750">
              <a:lnSpc>
                <a:spcPct val="130000"/>
              </a:lnSpc>
              <a:spcBef>
                <a:spcPct val="0"/>
              </a:spcBef>
              <a:buFont typeface="Wingdings" panose="05000000000000000000" charset="0"/>
              <a:buChar char="l"/>
            </a:pPr>
            <a:r>
              <a:rPr lang="en-US" altLang="zh-CN" sz="1600" dirty="0">
                <a:solidFill>
                  <a:schemeClr val="tx1">
                    <a:lumMod val="75000"/>
                    <a:lumOff val="25000"/>
                  </a:schemeClr>
                </a:solidFill>
                <a:latin typeface="+mj-ea"/>
                <a:ea typeface="+mj-ea"/>
                <a:cs typeface="+mj-ea"/>
                <a:sym typeface="微软雅黑" panose="020B0503020204020204" charset="-122"/>
              </a:rPr>
              <a:t> </a:t>
            </a:r>
            <a:r>
              <a:rPr lang="zh-CN" altLang="en-US" sz="1600" dirty="0">
                <a:solidFill>
                  <a:schemeClr val="tx1">
                    <a:lumMod val="75000"/>
                    <a:lumOff val="25000"/>
                  </a:schemeClr>
                </a:solidFill>
                <a:latin typeface="+mj-ea"/>
                <a:ea typeface="+mj-ea"/>
                <a:cs typeface="+mj-ea"/>
                <a:sym typeface="微软雅黑" panose="020B0503020204020204" charset="-122"/>
              </a:rPr>
              <a:t>全参数训练（</a:t>
            </a:r>
            <a:r>
              <a:rPr lang="en-US" altLang="zh-CN" sz="1600" dirty="0">
                <a:solidFill>
                  <a:schemeClr val="tx1">
                    <a:lumMod val="75000"/>
                    <a:lumOff val="25000"/>
                  </a:schemeClr>
                </a:solidFill>
                <a:latin typeface="+mj-ea"/>
                <a:ea typeface="+mj-ea"/>
                <a:cs typeface="+mj-ea"/>
                <a:sym typeface="微软雅黑" panose="020B0503020204020204" charset="-122"/>
              </a:rPr>
              <a:t>80.92%</a:t>
            </a:r>
            <a:r>
              <a:rPr lang="zh-CN" altLang="en-US" sz="1600" dirty="0">
                <a:solidFill>
                  <a:schemeClr val="tx1">
                    <a:lumMod val="75000"/>
                    <a:lumOff val="25000"/>
                  </a:schemeClr>
                </a:solidFill>
                <a:latin typeface="+mj-ea"/>
                <a:ea typeface="+mj-ea"/>
                <a:cs typeface="+mj-ea"/>
                <a:sym typeface="微软雅黑" panose="020B0503020204020204" charset="-122"/>
              </a:rPr>
              <a:t>准确率）：</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学习率可能过大导致训练不稳定</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破坏了预训练好的特征表示</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小数据小可能会导致过拟合</a:t>
            </a:r>
          </a:p>
          <a:p>
            <a:pPr marL="285750" indent="-285750">
              <a:lnSpc>
                <a:spcPct val="130000"/>
              </a:lnSpc>
              <a:spcBef>
                <a:spcPct val="0"/>
              </a:spcBef>
              <a:buFont typeface="Wingdings" panose="05000000000000000000" charset="0"/>
              <a:buChar char="l"/>
            </a:pPr>
            <a:r>
              <a:rPr lang="en-US" altLang="zh-CN" sz="1600" dirty="0">
                <a:solidFill>
                  <a:schemeClr val="tx1">
                    <a:lumMod val="75000"/>
                    <a:lumOff val="25000"/>
                  </a:schemeClr>
                </a:solidFill>
                <a:latin typeface="+mj-ea"/>
                <a:ea typeface="+mj-ea"/>
                <a:cs typeface="+mj-ea"/>
                <a:sym typeface="微软雅黑" panose="020B0503020204020204" charset="-122"/>
              </a:rPr>
              <a:t> </a:t>
            </a:r>
            <a:r>
              <a:rPr lang="zh-CN" altLang="en-US" sz="1600" dirty="0">
                <a:solidFill>
                  <a:schemeClr val="tx1">
                    <a:lumMod val="75000"/>
                    <a:lumOff val="25000"/>
                  </a:schemeClr>
                </a:solidFill>
                <a:latin typeface="+mj-ea"/>
                <a:ea typeface="+mj-ea"/>
                <a:cs typeface="+mj-ea"/>
                <a:sym typeface="微软雅黑" panose="020B0503020204020204" charset="-122"/>
              </a:rPr>
              <a:t>训练策略的影响：</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冻结训练更稳健，适合小数据集</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如果用全参数训练需要精细调参才能达到相近的效果</a:t>
            </a:r>
          </a:p>
          <a:p>
            <a:pPr lvl="1" indent="0">
              <a:lnSpc>
                <a:spcPct val="130000"/>
              </a:lnSpc>
              <a:spcBef>
                <a:spcPct val="0"/>
              </a:spcBef>
              <a:buFont typeface="Wingdings" panose="05000000000000000000" charset="0"/>
              <a:buNone/>
            </a:pPr>
            <a:endParaRPr lang="en-US" altLang="zh-CN" sz="1600" b="1"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endParaRPr lang="zh-CN" altLang="en-US" sz="1600" dirty="0">
              <a:solidFill>
                <a:schemeClr val="tx1">
                  <a:lumMod val="75000"/>
                  <a:lumOff val="25000"/>
                </a:schemeClr>
              </a:solidFill>
              <a:latin typeface="+mj-ea"/>
              <a:ea typeface="+mj-ea"/>
              <a:cs typeface="+mj-ea"/>
              <a:sym typeface="微软雅黑" panose="020B0503020204020204" charset="-122"/>
            </a:endParaRPr>
          </a:p>
        </p:txBody>
      </p:sp>
      <p:pic>
        <p:nvPicPr>
          <p:cNvPr id="9" name="图片 8" descr="confusion_matrix (1)"/>
          <p:cNvPicPr>
            <a:picLocks noChangeAspect="1"/>
          </p:cNvPicPr>
          <p:nvPr/>
        </p:nvPicPr>
        <p:blipFill>
          <a:blip r:embed="rId4"/>
          <a:stretch>
            <a:fillRect/>
          </a:stretch>
        </p:blipFill>
        <p:spPr>
          <a:xfrm>
            <a:off x="1630680" y="1228090"/>
            <a:ext cx="2688000" cy="2016000"/>
          </a:xfrm>
          <a:prstGeom prst="rect">
            <a:avLst/>
          </a:prstGeom>
        </p:spPr>
      </p:pic>
      <p:pic>
        <p:nvPicPr>
          <p:cNvPr id="10" name="图片 9" descr="confusion_matrix (2)"/>
          <p:cNvPicPr>
            <a:picLocks noChangeAspect="1"/>
          </p:cNvPicPr>
          <p:nvPr/>
        </p:nvPicPr>
        <p:blipFill>
          <a:blip r:embed="rId5"/>
          <a:stretch>
            <a:fillRect/>
          </a:stretch>
        </p:blipFill>
        <p:spPr>
          <a:xfrm>
            <a:off x="1630680" y="3829050"/>
            <a:ext cx="2688000" cy="2016000"/>
          </a:xfrm>
          <a:prstGeom prst="rect">
            <a:avLst/>
          </a:prstGeom>
        </p:spPr>
      </p:pic>
      <p:pic>
        <p:nvPicPr>
          <p:cNvPr id="18" name="图片 17" descr="training_curves (1)"/>
          <p:cNvPicPr>
            <a:picLocks noChangeAspect="1"/>
          </p:cNvPicPr>
          <p:nvPr/>
        </p:nvPicPr>
        <p:blipFill>
          <a:blip r:embed="rId6"/>
          <a:stretch>
            <a:fillRect/>
          </a:stretch>
        </p:blipFill>
        <p:spPr>
          <a:xfrm>
            <a:off x="4144010" y="1370330"/>
            <a:ext cx="3463200" cy="1731600"/>
          </a:xfrm>
          <a:prstGeom prst="rect">
            <a:avLst/>
          </a:prstGeom>
        </p:spPr>
      </p:pic>
      <p:pic>
        <p:nvPicPr>
          <p:cNvPr id="19" name="图片 18" descr="training_curves (2)"/>
          <p:cNvPicPr>
            <a:picLocks noChangeAspect="1"/>
          </p:cNvPicPr>
          <p:nvPr/>
        </p:nvPicPr>
        <p:blipFill>
          <a:blip r:embed="rId7"/>
          <a:stretch>
            <a:fillRect/>
          </a:stretch>
        </p:blipFill>
        <p:spPr>
          <a:xfrm>
            <a:off x="4215765" y="3932555"/>
            <a:ext cx="3463200" cy="1731600"/>
          </a:xfrm>
          <a:prstGeom prst="rect">
            <a:avLst/>
          </a:prstGeom>
        </p:spPr>
      </p:pic>
    </p:spTree>
  </p:cSld>
  <p:clrMapOvr>
    <a:masterClrMapping/>
  </p:clrMapOvr>
  <p:transition spd="slow" advTm="300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https://chatgpt.com/g/g-p-6958d84b132c81919dcac4802ea5a21a/c/6958942c-ed7c-8321-bab2-b49f6dfeacb5</a:t>
            </a:r>
          </a:p>
        </p:txBody>
      </p:sp>
      <p:grpSp>
        <p:nvGrpSpPr>
          <p:cNvPr id="6" name="组合 5"/>
          <p:cNvGrpSpPr/>
          <p:nvPr/>
        </p:nvGrpSpPr>
        <p:grpSpPr>
          <a:xfrm>
            <a:off x="838622" y="620688"/>
            <a:ext cx="8211185" cy="1271905"/>
            <a:chOff x="550590" y="536707"/>
            <a:chExt cx="8211185" cy="1271905"/>
          </a:xfrm>
        </p:grpSpPr>
        <p:sp>
          <p:nvSpPr>
            <p:cNvPr id="4" name="TextBox 40"/>
            <p:cNvSpPr txBox="1"/>
            <p:nvPr/>
          </p:nvSpPr>
          <p:spPr>
            <a:xfrm>
              <a:off x="1270680" y="609732"/>
              <a:ext cx="7491095" cy="1198880"/>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CLIP</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模型：更现代的对比模型</a:t>
              </a:r>
              <a:endPar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9" name="TextBox 7"/>
          <p:cNvSpPr>
            <a:spLocks noChangeArrowheads="1"/>
          </p:cNvSpPr>
          <p:nvPr>
            <p:custDataLst>
              <p:tags r:id="rId1"/>
            </p:custDataLst>
          </p:nvPr>
        </p:nvSpPr>
        <p:spPr bwMode="auto">
          <a:xfrm>
            <a:off x="1630045" y="4437380"/>
            <a:ext cx="6527165" cy="2678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zh-CN" altLang="en-US" b="1" dirty="0">
                <a:solidFill>
                  <a:schemeClr val="tx1">
                    <a:lumMod val="75000"/>
                    <a:lumOff val="25000"/>
                  </a:schemeClr>
                </a:solidFill>
                <a:latin typeface="+mj-ea"/>
                <a:ea typeface="+mj-ea"/>
                <a:cs typeface="+mj-ea"/>
                <a:sym typeface="微软雅黑" panose="020B0503020204020204" charset="-122"/>
              </a:rPr>
              <a:t>动机</a:t>
            </a:r>
            <a:r>
              <a:rPr lang="en-US" altLang="zh-CN" b="1" dirty="0">
                <a:solidFill>
                  <a:schemeClr val="tx1">
                    <a:lumMod val="75000"/>
                    <a:lumOff val="25000"/>
                  </a:schemeClr>
                </a:solidFill>
                <a:latin typeface="+mj-ea"/>
                <a:ea typeface="+mj-ea"/>
                <a:cs typeface="+mj-ea"/>
                <a:sym typeface="微软雅黑" panose="020B0503020204020204" charset="-122"/>
              </a:rPr>
              <a:t> </a:t>
            </a:r>
            <a:r>
              <a:rPr lang="en-US" altLang="zh-CN" dirty="0">
                <a:solidFill>
                  <a:schemeClr val="tx1">
                    <a:lumMod val="75000"/>
                    <a:lumOff val="25000"/>
                  </a:schemeClr>
                </a:solidFill>
                <a:latin typeface="+mj-ea"/>
                <a:ea typeface="+mj-ea"/>
                <a:cs typeface="+mj-ea"/>
                <a:sym typeface="微软雅黑" panose="020B0503020204020204" charset="-122"/>
              </a:rPr>
              <a:t> </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冻结与否影响巨大</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是否有更强的预训练语义能力</a:t>
            </a:r>
          </a:p>
          <a:p>
            <a:pPr marL="285750" indent="-285750">
              <a:lnSpc>
                <a:spcPct val="130000"/>
              </a:lnSpc>
              <a:spcBef>
                <a:spcPct val="0"/>
              </a:spcBef>
              <a:buFont typeface="Wingdings" panose="05000000000000000000" charset="0"/>
              <a:buChar char="l"/>
            </a:pPr>
            <a:r>
              <a:rPr lang="en-US" altLang="zh-CN" b="1" dirty="0">
                <a:solidFill>
                  <a:schemeClr val="tx1">
                    <a:lumMod val="75000"/>
                    <a:lumOff val="25000"/>
                  </a:schemeClr>
                </a:solidFill>
                <a:latin typeface="+mj-ea"/>
                <a:ea typeface="+mj-ea"/>
                <a:cs typeface="+mj-ea"/>
                <a:sym typeface="微软雅黑" panose="020B0503020204020204" charset="-122"/>
              </a:rPr>
              <a:t> </a:t>
            </a:r>
            <a:r>
              <a:rPr lang="zh-CN" altLang="en-US" b="1" dirty="0">
                <a:solidFill>
                  <a:schemeClr val="tx1">
                    <a:lumMod val="75000"/>
                    <a:lumOff val="25000"/>
                  </a:schemeClr>
                </a:solidFill>
                <a:latin typeface="+mj-ea"/>
                <a:ea typeface="+mj-ea"/>
                <a:cs typeface="+mj-ea"/>
                <a:sym typeface="微软雅黑" panose="020B0503020204020204" charset="-122"/>
              </a:rPr>
              <a:t>对比结果</a:t>
            </a:r>
            <a:r>
              <a:rPr lang="en-US" altLang="zh-CN" b="1" dirty="0">
                <a:solidFill>
                  <a:schemeClr val="tx1">
                    <a:lumMod val="75000"/>
                    <a:lumOff val="25000"/>
                  </a:schemeClr>
                </a:solidFill>
                <a:latin typeface="+mj-ea"/>
                <a:ea typeface="+mj-ea"/>
                <a:cs typeface="+mj-ea"/>
                <a:sym typeface="微软雅黑" panose="020B0503020204020204" charset="-122"/>
              </a:rPr>
              <a:t> </a:t>
            </a:r>
            <a:endParaRPr lang="zh-CN" altLang="en-US"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mj-ea"/>
                <a:ea typeface="+mj-ea"/>
                <a:cs typeface="+mj-ea"/>
                <a:sym typeface="微软雅黑" panose="020B0503020204020204" charset="-122"/>
              </a:rPr>
              <a:t>CLIP / M3V </a:t>
            </a:r>
            <a:r>
              <a:rPr lang="zh-CN" altLang="en-US" sz="1600" dirty="0">
                <a:solidFill>
                  <a:schemeClr val="tx1">
                    <a:lumMod val="75000"/>
                    <a:lumOff val="25000"/>
                  </a:schemeClr>
                </a:solidFill>
                <a:latin typeface="+mj-ea"/>
                <a:ea typeface="+mj-ea"/>
                <a:cs typeface="+mj-ea"/>
                <a:sym typeface="微软雅黑" panose="020B0503020204020204" charset="-122"/>
              </a:rPr>
              <a:t>在相似类别上更稳定</a:t>
            </a: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说明现代预训练模型具备更强泛化能力</a:t>
            </a:r>
          </a:p>
          <a:p>
            <a:pPr indent="0">
              <a:lnSpc>
                <a:spcPct val="130000"/>
              </a:lnSpc>
              <a:spcBef>
                <a:spcPct val="0"/>
              </a:spcBef>
              <a:buFont typeface="Wingdings" panose="05000000000000000000" charset="0"/>
              <a:buNone/>
            </a:pPr>
            <a:endParaRPr lang="en-US" altLang="zh-CN" b="1" dirty="0">
              <a:solidFill>
                <a:schemeClr val="tx1">
                  <a:lumMod val="75000"/>
                  <a:lumOff val="25000"/>
                </a:schemeClr>
              </a:solidFill>
              <a:latin typeface="+mj-ea"/>
              <a:ea typeface="+mj-ea"/>
              <a:cs typeface="+mj-ea"/>
              <a:sym typeface="微软雅黑" panose="020B0503020204020204" charset="-122"/>
            </a:endParaRPr>
          </a:p>
          <a:p>
            <a:pPr lvl="1" indent="0">
              <a:lnSpc>
                <a:spcPct val="130000"/>
              </a:lnSpc>
              <a:spcBef>
                <a:spcPct val="0"/>
              </a:spcBef>
              <a:buFont typeface="Wingdings" panose="05000000000000000000" charset="0"/>
              <a:buNone/>
            </a:pPr>
            <a:endParaRPr lang="zh-CN" altLang="en-US" sz="1600" dirty="0">
              <a:solidFill>
                <a:schemeClr val="tx1">
                  <a:lumMod val="75000"/>
                  <a:lumOff val="25000"/>
                </a:schemeClr>
              </a:solidFill>
              <a:latin typeface="+mj-ea"/>
              <a:ea typeface="+mj-ea"/>
              <a:cs typeface="+mj-ea"/>
              <a:sym typeface="微软雅黑" panose="020B0503020204020204" charset="-122"/>
            </a:endParaRPr>
          </a:p>
        </p:txBody>
      </p:sp>
      <p:pic>
        <p:nvPicPr>
          <p:cNvPr id="7" name="图片 6"/>
          <p:cNvPicPr>
            <a:picLocks noChangeAspect="1"/>
          </p:cNvPicPr>
          <p:nvPr/>
        </p:nvPicPr>
        <p:blipFill>
          <a:blip r:embed="rId5"/>
          <a:stretch>
            <a:fillRect/>
          </a:stretch>
        </p:blipFill>
        <p:spPr>
          <a:xfrm>
            <a:off x="1630045" y="1196975"/>
            <a:ext cx="8820150" cy="3180715"/>
          </a:xfrm>
          <a:prstGeom prst="rect">
            <a:avLst/>
          </a:prstGeom>
        </p:spPr>
      </p:pic>
    </p:spTree>
  </p:cSld>
  <p:clrMapOvr>
    <a:masterClrMapping/>
  </p:clrMapOvr>
  <p:transition spd="slow" advTm="300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sym typeface="微软雅黑" panose="020B0503020204020204" charset="-122"/>
              </a:rPr>
              <a:t>https:/</a:t>
            </a:r>
            <a:r>
              <a:rPr lang="zh-CN" altLang="en-US" dirty="0">
                <a:latin typeface="微软雅黑" panose="020B0503020204020204" charset="-122"/>
                <a:ea typeface="微软雅黑" panose="020B0503020204020204" charset="-122"/>
                <a:sym typeface="微软雅黑" panose="020B0503020204020204" charset="-122"/>
              </a:rPr>
              <a:t>，本想组</a:t>
            </a:r>
            <a:r>
              <a:rPr lang="en-US" altLang="zh-CN" dirty="0">
                <a:latin typeface="微软雅黑" panose="020B0503020204020204" charset="-122"/>
                <a:ea typeface="微软雅黑" panose="020B0503020204020204" charset="-122"/>
                <a:sym typeface="微软雅黑" panose="020B0503020204020204" charset="-122"/>
              </a:rPr>
              <a:t>/chatgpt.com/g/g-p-6958d84b132c81919dcac4802ea5a21a/c/6958942c-ed7c-8321-bab2-b49f6dfeacb5</a:t>
            </a:r>
          </a:p>
        </p:txBody>
      </p:sp>
      <p:grpSp>
        <p:nvGrpSpPr>
          <p:cNvPr id="6" name="组合 5"/>
          <p:cNvGrpSpPr/>
          <p:nvPr/>
        </p:nvGrpSpPr>
        <p:grpSpPr>
          <a:xfrm>
            <a:off x="838622" y="620688"/>
            <a:ext cx="7125970" cy="902970"/>
            <a:chOff x="550590" y="536707"/>
            <a:chExt cx="7125970" cy="902970"/>
          </a:xfrm>
        </p:grpSpPr>
        <p:sp>
          <p:nvSpPr>
            <p:cNvPr id="4" name="TextBox 40"/>
            <p:cNvSpPr txBox="1"/>
            <p:nvPr/>
          </p:nvSpPr>
          <p:spPr>
            <a:xfrm>
              <a:off x="1270680" y="609732"/>
              <a:ext cx="6405880" cy="82994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sym typeface="微软雅黑" panose="020B0503020204020204" charset="-122"/>
                </a:rPr>
                <a:t>Part2-&gt; </a:t>
              </a:r>
              <a:r>
                <a:rPr lang="en-US" altLang="zh-CN"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CLIP</a:t>
              </a:r>
              <a:r>
                <a:rPr lang="zh-CN" altLang="en-US" sz="240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模型：结果分析</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endParaRPr lang="zh-CN" altLang="en-US" sz="2400" dirty="0">
                <a:solidFill>
                  <a:srgbClr val="194579"/>
                </a:solidFill>
                <a:latin typeface="微软雅黑" panose="020B0503020204020204" charset="-122"/>
                <a:ea typeface="微软雅黑" panose="020B0503020204020204" charset="-122"/>
                <a:sym typeface="微软雅黑" panose="020B0503020204020204"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sp>
        <p:nvSpPr>
          <p:cNvPr id="7" name="文本框 6"/>
          <p:cNvSpPr txBox="1"/>
          <p:nvPr/>
        </p:nvSpPr>
        <p:spPr>
          <a:xfrm>
            <a:off x="2837815" y="3748405"/>
            <a:ext cx="2343785" cy="306705"/>
          </a:xfrm>
          <a:prstGeom prst="rect">
            <a:avLst/>
          </a:prstGeom>
          <a:noFill/>
        </p:spPr>
        <p:txBody>
          <a:bodyPr wrap="square" rtlCol="0">
            <a:spAutoFit/>
          </a:bodyPr>
          <a:lstStyle/>
          <a:p>
            <a:r>
              <a:rPr lang="en-US" altLang="zh-CN" sz="1400" dirty="0">
                <a:solidFill>
                  <a:schemeClr val="tx1">
                    <a:lumMod val="75000"/>
                    <a:lumOff val="25000"/>
                  </a:schemeClr>
                </a:solidFill>
                <a:latin typeface="+mj-ea"/>
                <a:ea typeface="+mj-ea"/>
                <a:cs typeface="+mj-ea"/>
              </a:rPr>
              <a:t>CLIP</a:t>
            </a:r>
            <a:r>
              <a:rPr lang="zh-CN" altLang="en-US" sz="1400" dirty="0">
                <a:solidFill>
                  <a:schemeClr val="tx1">
                    <a:lumMod val="75000"/>
                    <a:lumOff val="25000"/>
                  </a:schemeClr>
                </a:solidFill>
                <a:latin typeface="+mj-ea"/>
                <a:ea typeface="+mj-ea"/>
                <a:cs typeface="+mj-ea"/>
              </a:rPr>
              <a:t>混淆矩阵结果（冻结）</a:t>
            </a:r>
          </a:p>
        </p:txBody>
      </p:sp>
      <p:sp>
        <p:nvSpPr>
          <p:cNvPr id="16" name="文本框 15"/>
          <p:cNvSpPr txBox="1"/>
          <p:nvPr/>
        </p:nvSpPr>
        <p:spPr>
          <a:xfrm>
            <a:off x="2710180" y="6093460"/>
            <a:ext cx="4063365" cy="306705"/>
          </a:xfrm>
          <a:prstGeom prst="rect">
            <a:avLst/>
          </a:prstGeom>
          <a:noFill/>
        </p:spPr>
        <p:txBody>
          <a:bodyPr wrap="square" rtlCol="0">
            <a:spAutoFit/>
          </a:bodyPr>
          <a:lstStyle/>
          <a:p>
            <a:r>
              <a:rPr lang="en-US" altLang="zh-CN" sz="1400"/>
              <a:t>CLIP</a:t>
            </a:r>
            <a:r>
              <a:rPr lang="zh-CN" altLang="en-US" sz="1400"/>
              <a:t>损失率与准确率结果（冻结）</a:t>
            </a:r>
          </a:p>
        </p:txBody>
      </p:sp>
      <p:sp>
        <p:nvSpPr>
          <p:cNvPr id="8" name="文本框 7"/>
          <p:cNvSpPr txBox="1"/>
          <p:nvPr/>
        </p:nvSpPr>
        <p:spPr>
          <a:xfrm>
            <a:off x="6621780" y="332740"/>
            <a:ext cx="4887595" cy="6258560"/>
          </a:xfrm>
          <a:prstGeom prst="rect">
            <a:avLst/>
          </a:prstGeom>
          <a:noFill/>
        </p:spPr>
        <p:txBody>
          <a:bodyPr wrap="square" rtlCol="0" anchor="t">
            <a:noAutofit/>
          </a:bodyPr>
          <a:lstStyle/>
          <a:p>
            <a:pPr indent="0">
              <a:lnSpc>
                <a:spcPct val="130000"/>
              </a:lnSpc>
              <a:spcBef>
                <a:spcPct val="0"/>
              </a:spcBef>
              <a:buFont typeface="Wingdings" panose="05000000000000000000" charset="0"/>
              <a:buNone/>
            </a:pPr>
            <a:r>
              <a:rPr lang="en-US" altLang="zh-CN" b="1" dirty="0">
                <a:solidFill>
                  <a:schemeClr val="tx1">
                    <a:lumMod val="75000"/>
                    <a:lumOff val="25000"/>
                  </a:schemeClr>
                </a:solidFill>
                <a:latin typeface="+mj-ea"/>
                <a:ea typeface="+mj-ea"/>
                <a:cs typeface="+mj-ea"/>
                <a:sym typeface="微软雅黑" panose="020B0503020204020204" charset="-122"/>
              </a:rPr>
              <a:t> CLIP</a:t>
            </a:r>
            <a:r>
              <a:rPr lang="zh-CN" altLang="en-US" b="1" dirty="0">
                <a:solidFill>
                  <a:schemeClr val="tx1">
                    <a:lumMod val="75000"/>
                    <a:lumOff val="25000"/>
                  </a:schemeClr>
                </a:solidFill>
                <a:latin typeface="+mj-ea"/>
                <a:ea typeface="+mj-ea"/>
                <a:cs typeface="+mj-ea"/>
                <a:sym typeface="微软雅黑" panose="020B0503020204020204" charset="-122"/>
              </a:rPr>
              <a:t>模型（冻结）达到了</a:t>
            </a:r>
            <a:r>
              <a:rPr lang="en-US" altLang="zh-CN" b="1" dirty="0">
                <a:solidFill>
                  <a:schemeClr val="tx1">
                    <a:lumMod val="75000"/>
                    <a:lumOff val="25000"/>
                  </a:schemeClr>
                </a:solidFill>
                <a:latin typeface="+mj-ea"/>
                <a:ea typeface="+mj-ea"/>
                <a:cs typeface="+mj-ea"/>
                <a:sym typeface="微软雅黑" panose="020B0503020204020204" charset="-122"/>
              </a:rPr>
              <a:t>98.02%</a:t>
            </a:r>
            <a:r>
              <a:rPr lang="zh-CN" altLang="en-US" b="1" dirty="0">
                <a:solidFill>
                  <a:schemeClr val="tx1">
                    <a:lumMod val="75000"/>
                    <a:lumOff val="25000"/>
                  </a:schemeClr>
                </a:solidFill>
                <a:latin typeface="+mj-ea"/>
                <a:ea typeface="+mj-ea"/>
                <a:cs typeface="+mj-ea"/>
                <a:sym typeface="微软雅黑" panose="020B0503020204020204" charset="-122"/>
              </a:rPr>
              <a:t>的准确率</a:t>
            </a:r>
          </a:p>
          <a:p>
            <a:pPr indent="0">
              <a:lnSpc>
                <a:spcPct val="130000"/>
              </a:lnSpc>
              <a:spcBef>
                <a:spcPct val="0"/>
              </a:spcBef>
              <a:buFont typeface="Wingdings" panose="05000000000000000000" charset="0"/>
              <a:buNone/>
            </a:pPr>
            <a:endParaRPr lang="zh-CN" altLang="en-US" b="1" dirty="0">
              <a:solidFill>
                <a:schemeClr val="tx1">
                  <a:lumMod val="75000"/>
                  <a:lumOff val="25000"/>
                </a:schemeClr>
              </a:solidFill>
              <a:latin typeface="+mj-ea"/>
              <a:ea typeface="+mj-ea"/>
              <a:cs typeface="+mj-ea"/>
              <a:sym typeface="微软雅黑" panose="020B0503020204020204" charset="-122"/>
            </a:endParaRPr>
          </a:p>
          <a:p>
            <a:pPr indent="0">
              <a:lnSpc>
                <a:spcPct val="130000"/>
              </a:lnSpc>
              <a:spcBef>
                <a:spcPct val="0"/>
              </a:spcBef>
              <a:buFont typeface="Wingdings" panose="05000000000000000000" charset="0"/>
              <a:buNone/>
            </a:pPr>
            <a:r>
              <a:rPr lang="zh-CN" altLang="en-US" b="1" dirty="0">
                <a:solidFill>
                  <a:schemeClr val="tx1">
                    <a:lumMod val="75000"/>
                    <a:lumOff val="25000"/>
                  </a:schemeClr>
                </a:solidFill>
                <a:latin typeface="+mj-ea"/>
                <a:ea typeface="+mj-ea"/>
                <a:cs typeface="+mj-ea"/>
                <a:sym typeface="微软雅黑" panose="020B0503020204020204" charset="-122"/>
              </a:rPr>
              <a:t>为什么</a:t>
            </a:r>
            <a:r>
              <a:rPr lang="en-US" altLang="zh-CN" b="1" dirty="0">
                <a:solidFill>
                  <a:schemeClr val="tx1">
                    <a:lumMod val="75000"/>
                    <a:lumOff val="25000"/>
                  </a:schemeClr>
                </a:solidFill>
                <a:latin typeface="+mj-ea"/>
                <a:ea typeface="+mj-ea"/>
                <a:cs typeface="+mj-ea"/>
                <a:sym typeface="微软雅黑" panose="020B0503020204020204" charset="-122"/>
              </a:rPr>
              <a:t>CLIP</a:t>
            </a:r>
            <a:r>
              <a:rPr lang="zh-CN" altLang="en-US" b="1" dirty="0">
                <a:solidFill>
                  <a:schemeClr val="tx1">
                    <a:lumMod val="75000"/>
                    <a:lumOff val="25000"/>
                  </a:schemeClr>
                </a:solidFill>
                <a:latin typeface="+mj-ea"/>
                <a:ea typeface="+mj-ea"/>
                <a:cs typeface="+mj-ea"/>
                <a:sym typeface="微软雅黑" panose="020B0503020204020204" charset="-122"/>
              </a:rPr>
              <a:t>模型会这么好？</a:t>
            </a:r>
            <a:endParaRPr lang="en-US" altLang="zh-CN" b="1" dirty="0">
              <a:solidFill>
                <a:schemeClr val="tx1">
                  <a:lumMod val="75000"/>
                  <a:lumOff val="25000"/>
                </a:schemeClr>
              </a:solidFill>
              <a:latin typeface="+mj-ea"/>
              <a:ea typeface="+mj-ea"/>
              <a:cs typeface="+mj-ea"/>
              <a:sym typeface="微软雅黑" panose="020B0503020204020204" charset="-122"/>
            </a:endParaRPr>
          </a:p>
          <a:p>
            <a:pPr marL="285750" indent="-285750">
              <a:lnSpc>
                <a:spcPct val="130000"/>
              </a:lnSpc>
              <a:spcBef>
                <a:spcPct val="0"/>
              </a:spcBef>
              <a:buFont typeface="Wingdings" panose="05000000000000000000" charset="0"/>
              <a:buChar char="l"/>
            </a:pPr>
            <a:r>
              <a:rPr lang="zh-CN" altLang="en-US" sz="1600" dirty="0">
                <a:solidFill>
                  <a:schemeClr val="tx1">
                    <a:lumMod val="75000"/>
                    <a:lumOff val="25000"/>
                  </a:schemeClr>
                </a:solidFill>
                <a:latin typeface="+mj-ea"/>
                <a:ea typeface="+mj-ea"/>
                <a:cs typeface="+mj-ea"/>
                <a:sym typeface="微软雅黑" panose="020B0503020204020204" charset="-122"/>
              </a:rPr>
              <a:t>强大的预训练特征：</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mj-ea"/>
                <a:ea typeface="+mj-ea"/>
                <a:cs typeface="+mj-ea"/>
                <a:sym typeface="微软雅黑" panose="020B0503020204020204" charset="-122"/>
              </a:rPr>
              <a:t>CLIP</a:t>
            </a:r>
            <a:r>
              <a:rPr lang="zh-CN" altLang="en-US" sz="1600" dirty="0">
                <a:solidFill>
                  <a:schemeClr val="tx1">
                    <a:lumMod val="75000"/>
                    <a:lumOff val="25000"/>
                  </a:schemeClr>
                </a:solidFill>
                <a:latin typeface="+mj-ea"/>
                <a:ea typeface="+mj-ea"/>
                <a:cs typeface="+mj-ea"/>
                <a:sym typeface="微软雅黑" panose="020B0503020204020204" charset="-122"/>
              </a:rPr>
              <a:t>在</a:t>
            </a:r>
            <a:r>
              <a:rPr lang="en-US" altLang="zh-CN" sz="1600" dirty="0">
                <a:solidFill>
                  <a:schemeClr val="tx1">
                    <a:lumMod val="75000"/>
                    <a:lumOff val="25000"/>
                  </a:schemeClr>
                </a:solidFill>
                <a:latin typeface="+mj-ea"/>
                <a:ea typeface="+mj-ea"/>
                <a:cs typeface="+mj-ea"/>
                <a:sym typeface="微软雅黑" panose="020B0503020204020204" charset="-122"/>
              </a:rPr>
              <a:t>4</a:t>
            </a:r>
            <a:r>
              <a:rPr lang="zh-CN" altLang="en-US" sz="1600" dirty="0">
                <a:solidFill>
                  <a:schemeClr val="tx1">
                    <a:lumMod val="75000"/>
                    <a:lumOff val="25000"/>
                  </a:schemeClr>
                </a:solidFill>
                <a:latin typeface="+mj-ea"/>
                <a:ea typeface="+mj-ea"/>
                <a:cs typeface="+mj-ea"/>
                <a:sym typeface="微软雅黑" panose="020B0503020204020204" charset="-122"/>
              </a:rPr>
              <a:t>亿张图文对上训练过，对特征提取能力极强</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将通用视觉理解能力迁移到动物识别任务</a:t>
            </a:r>
          </a:p>
          <a:p>
            <a:pPr marL="285750" indent="-285750">
              <a:lnSpc>
                <a:spcPct val="130000"/>
              </a:lnSpc>
              <a:spcBef>
                <a:spcPct val="0"/>
              </a:spcBef>
              <a:buFont typeface="Wingdings" panose="05000000000000000000" charset="0"/>
              <a:buChar char="l"/>
            </a:pPr>
            <a:r>
              <a:rPr lang="en-US" altLang="zh-CN" sz="1600" dirty="0">
                <a:solidFill>
                  <a:schemeClr val="tx1">
                    <a:lumMod val="75000"/>
                    <a:lumOff val="25000"/>
                  </a:schemeClr>
                </a:solidFill>
                <a:latin typeface="+mj-ea"/>
                <a:ea typeface="+mj-ea"/>
                <a:cs typeface="+mj-ea"/>
                <a:sym typeface="微软雅黑" panose="020B0503020204020204" charset="-122"/>
              </a:rPr>
              <a:t> </a:t>
            </a:r>
            <a:r>
              <a:rPr lang="zh-CN" altLang="en-US" sz="1600" dirty="0">
                <a:solidFill>
                  <a:schemeClr val="tx1">
                    <a:lumMod val="75000"/>
                    <a:lumOff val="25000"/>
                  </a:schemeClr>
                </a:solidFill>
                <a:latin typeface="+mj-ea"/>
                <a:ea typeface="+mj-ea"/>
                <a:cs typeface="+mj-ea"/>
                <a:sym typeface="微软雅黑" panose="020B0503020204020204" charset="-122"/>
              </a:rPr>
              <a:t>优化的微调策略：</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冻结大部分的参数，防止过拟合</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只微调最后一层，充分利用预训练知识</a:t>
            </a:r>
          </a:p>
          <a:p>
            <a:pPr marL="285750" indent="-285750">
              <a:lnSpc>
                <a:spcPct val="130000"/>
              </a:lnSpc>
              <a:spcBef>
                <a:spcPct val="0"/>
              </a:spcBef>
              <a:buFont typeface="Wingdings" panose="05000000000000000000" charset="0"/>
              <a:buChar char="l"/>
            </a:pPr>
            <a:r>
              <a:rPr lang="en-US" altLang="zh-CN" sz="1600" dirty="0">
                <a:solidFill>
                  <a:schemeClr val="tx1">
                    <a:lumMod val="75000"/>
                    <a:lumOff val="25000"/>
                  </a:schemeClr>
                </a:solidFill>
                <a:latin typeface="+mj-ea"/>
                <a:ea typeface="+mj-ea"/>
                <a:cs typeface="+mj-ea"/>
                <a:sym typeface="微软雅黑" panose="020B0503020204020204" charset="-122"/>
              </a:rPr>
              <a:t> </a:t>
            </a:r>
            <a:r>
              <a:rPr lang="zh-CN" altLang="en-US" sz="1600" dirty="0">
                <a:solidFill>
                  <a:schemeClr val="tx1">
                    <a:lumMod val="75000"/>
                    <a:lumOff val="25000"/>
                  </a:schemeClr>
                </a:solidFill>
                <a:latin typeface="+mj-ea"/>
                <a:ea typeface="+mj-ea"/>
                <a:cs typeface="+mj-ea"/>
                <a:sym typeface="微软雅黑" panose="020B0503020204020204" charset="-122"/>
              </a:rPr>
              <a:t>特征表示优势：</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mj-ea"/>
                <a:ea typeface="+mj-ea"/>
                <a:cs typeface="+mj-ea"/>
                <a:sym typeface="微软雅黑" panose="020B0503020204020204" charset="-122"/>
              </a:rPr>
              <a:t>CLIP</a:t>
            </a:r>
            <a:r>
              <a:rPr lang="zh-CN" altLang="en-US" sz="1600" dirty="0">
                <a:solidFill>
                  <a:schemeClr val="tx1">
                    <a:lumMod val="75000"/>
                    <a:lumOff val="25000"/>
                  </a:schemeClr>
                </a:solidFill>
                <a:latin typeface="+mj-ea"/>
                <a:ea typeface="+mj-ea"/>
                <a:cs typeface="+mj-ea"/>
                <a:sym typeface="微软雅黑" panose="020B0503020204020204" charset="-122"/>
              </a:rPr>
              <a:t>将图像映射到语义丰富的向量空间</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r>
              <a:rPr lang="en-US" altLang="zh-CN" sz="1600" dirty="0">
                <a:solidFill>
                  <a:schemeClr val="tx1">
                    <a:lumMod val="75000"/>
                    <a:lumOff val="25000"/>
                  </a:schemeClr>
                </a:solidFill>
                <a:latin typeface="+mj-ea"/>
                <a:ea typeface="+mj-ea"/>
                <a:cs typeface="+mj-ea"/>
                <a:sym typeface="微软雅黑" panose="020B0503020204020204" charset="-122"/>
              </a:rPr>
              <a:t>512</a:t>
            </a:r>
            <a:r>
              <a:rPr lang="zh-CN" altLang="en-US" sz="1600" dirty="0">
                <a:solidFill>
                  <a:schemeClr val="tx1">
                    <a:lumMod val="75000"/>
                    <a:lumOff val="25000"/>
                  </a:schemeClr>
                </a:solidFill>
                <a:latin typeface="+mj-ea"/>
                <a:ea typeface="+mj-ea"/>
                <a:cs typeface="+mj-ea"/>
                <a:sym typeface="微软雅黑" panose="020B0503020204020204" charset="-122"/>
              </a:rPr>
              <a:t>维特征对动物分类具有强判别性</a:t>
            </a:r>
          </a:p>
          <a:p>
            <a:pPr marL="285750" lvl="0" indent="-285750" algn="l">
              <a:lnSpc>
                <a:spcPct val="130000"/>
              </a:lnSpc>
              <a:buFont typeface="Wingdings" panose="05000000000000000000" charset="0"/>
              <a:buChar char="l"/>
            </a:pPr>
            <a:r>
              <a:rPr lang="en-US" altLang="zh-CN" sz="1600" dirty="0">
                <a:solidFill>
                  <a:schemeClr val="tx1">
                    <a:lumMod val="75000"/>
                    <a:lumOff val="25000"/>
                  </a:schemeClr>
                </a:solidFill>
                <a:latin typeface="+mj-ea"/>
                <a:ea typeface="+mj-ea"/>
                <a:cs typeface="+mj-ea"/>
                <a:sym typeface="微软雅黑" panose="020B0503020204020204" charset="-122"/>
              </a:rPr>
              <a:t> </a:t>
            </a:r>
            <a:r>
              <a:rPr lang="zh-CN" altLang="en-US" sz="1600" dirty="0">
                <a:solidFill>
                  <a:schemeClr val="tx1">
                    <a:lumMod val="75000"/>
                    <a:lumOff val="25000"/>
                  </a:schemeClr>
                </a:solidFill>
                <a:latin typeface="+mj-ea"/>
                <a:ea typeface="+mj-ea"/>
                <a:cs typeface="+mj-ea"/>
                <a:sym typeface="微软雅黑" panose="020B0503020204020204" charset="-122"/>
              </a:rPr>
              <a:t>训练稳定性：</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gn="l">
              <a:lnSpc>
                <a:spcPct val="130000"/>
              </a:lnSpc>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预训练权重提供了良好的初始化</a:t>
            </a:r>
            <a:endParaRPr lang="en-US" altLang="zh-CN" sz="1600" dirty="0">
              <a:solidFill>
                <a:schemeClr val="tx1">
                  <a:lumMod val="75000"/>
                  <a:lumOff val="25000"/>
                </a:schemeClr>
              </a:solidFill>
              <a:latin typeface="+mj-ea"/>
              <a:ea typeface="+mj-ea"/>
              <a:cs typeface="+mj-ea"/>
              <a:sym typeface="微软雅黑" panose="020B0503020204020204" charset="-122"/>
            </a:endParaRPr>
          </a:p>
          <a:p>
            <a:pPr marL="742950" lvl="1" indent="-285750" algn="l">
              <a:lnSpc>
                <a:spcPct val="130000"/>
              </a:lnSpc>
              <a:buFont typeface="Wingdings" panose="05000000000000000000" charset="0"/>
              <a:buChar char="n"/>
            </a:pPr>
            <a:r>
              <a:rPr lang="zh-CN" altLang="en-US" sz="1600" dirty="0">
                <a:solidFill>
                  <a:schemeClr val="tx1">
                    <a:lumMod val="75000"/>
                    <a:lumOff val="25000"/>
                  </a:schemeClr>
                </a:solidFill>
                <a:latin typeface="+mj-ea"/>
                <a:ea typeface="+mj-ea"/>
                <a:cs typeface="+mj-ea"/>
                <a:sym typeface="微软雅黑" panose="020B0503020204020204" charset="-122"/>
              </a:rPr>
              <a:t>并且通过少量的参数更新保持模型的稳定性</a:t>
            </a:r>
          </a:p>
          <a:p>
            <a:pPr marL="0" lvl="0" indent="0">
              <a:lnSpc>
                <a:spcPct val="130000"/>
              </a:lnSpc>
              <a:spcBef>
                <a:spcPct val="0"/>
              </a:spcBef>
              <a:buFont typeface="Wingdings" panose="05000000000000000000" charset="0"/>
              <a:buNone/>
            </a:pPr>
            <a:r>
              <a:rPr lang="zh-CN" altLang="en-US" sz="1600" b="1" dirty="0">
                <a:solidFill>
                  <a:schemeClr val="tx1">
                    <a:lumMod val="75000"/>
                    <a:lumOff val="25000"/>
                  </a:schemeClr>
                </a:solidFill>
                <a:latin typeface="+mj-ea"/>
                <a:ea typeface="+mj-ea"/>
                <a:cs typeface="+mj-ea"/>
                <a:sym typeface="微软雅黑" panose="020B0503020204020204" charset="-122"/>
              </a:rPr>
              <a:t>同时本项目组也尝试了非冻结的方式，但是直接报了</a:t>
            </a:r>
            <a:r>
              <a:rPr lang="en-US" altLang="zh-CN" sz="1600" b="1" dirty="0">
                <a:solidFill>
                  <a:schemeClr val="tx1">
                    <a:lumMod val="75000"/>
                    <a:lumOff val="25000"/>
                  </a:schemeClr>
                </a:solidFill>
                <a:latin typeface="+mj-ea"/>
                <a:ea typeface="+mj-ea"/>
                <a:cs typeface="+mj-ea"/>
                <a:sym typeface="微软雅黑" panose="020B0503020204020204" charset="-122"/>
              </a:rPr>
              <a:t>nan</a:t>
            </a:r>
            <a:r>
              <a:rPr lang="zh-CN" altLang="en-US" sz="1600" b="1" dirty="0">
                <a:solidFill>
                  <a:schemeClr val="tx1">
                    <a:lumMod val="75000"/>
                    <a:lumOff val="25000"/>
                  </a:schemeClr>
                </a:solidFill>
                <a:latin typeface="+mj-ea"/>
                <a:ea typeface="+mj-ea"/>
                <a:cs typeface="+mj-ea"/>
                <a:sym typeface="微软雅黑" panose="020B0503020204020204" charset="-122"/>
              </a:rPr>
              <a:t>，有可能是所有层都更新会让数值溢出，也有可能破坏了已经稳定的特征</a:t>
            </a:r>
            <a:endParaRPr lang="zh-CN" altLang="en-US" sz="1600" dirty="0">
              <a:solidFill>
                <a:schemeClr val="tx1">
                  <a:lumMod val="75000"/>
                  <a:lumOff val="25000"/>
                </a:schemeClr>
              </a:solidFill>
              <a:latin typeface="+mj-ea"/>
              <a:ea typeface="+mj-ea"/>
              <a:cs typeface="+mj-ea"/>
              <a:sym typeface="微软雅黑" panose="020B0503020204020204" charset="-122"/>
            </a:endParaRPr>
          </a:p>
          <a:p>
            <a:pPr lvl="1" indent="0">
              <a:lnSpc>
                <a:spcPct val="130000"/>
              </a:lnSpc>
              <a:spcBef>
                <a:spcPct val="0"/>
              </a:spcBef>
              <a:buFont typeface="Wingdings" panose="05000000000000000000" charset="0"/>
              <a:buNone/>
            </a:pPr>
            <a:endParaRPr lang="zh-CN" altLang="en-US" sz="1600" dirty="0">
              <a:solidFill>
                <a:schemeClr val="tx1">
                  <a:lumMod val="75000"/>
                  <a:lumOff val="25000"/>
                </a:schemeClr>
              </a:solidFill>
              <a:latin typeface="+mj-ea"/>
              <a:ea typeface="+mj-ea"/>
              <a:cs typeface="+mj-ea"/>
              <a:sym typeface="微软雅黑" panose="020B0503020204020204" charset="-122"/>
            </a:endParaRPr>
          </a:p>
          <a:p>
            <a:pPr marL="742950" lvl="1" indent="-285750">
              <a:lnSpc>
                <a:spcPct val="130000"/>
              </a:lnSpc>
              <a:spcBef>
                <a:spcPct val="0"/>
              </a:spcBef>
              <a:buFont typeface="Wingdings" panose="05000000000000000000" charset="0"/>
              <a:buChar char="n"/>
            </a:pPr>
            <a:endParaRPr lang="zh-CN" altLang="en-US" sz="1600" dirty="0">
              <a:solidFill>
                <a:schemeClr val="tx1">
                  <a:lumMod val="75000"/>
                  <a:lumOff val="25000"/>
                </a:schemeClr>
              </a:solidFill>
              <a:latin typeface="+mj-ea"/>
              <a:ea typeface="+mj-ea"/>
              <a:cs typeface="+mj-ea"/>
              <a:sym typeface="微软雅黑" panose="020B0503020204020204" charset="-122"/>
            </a:endParaRPr>
          </a:p>
        </p:txBody>
      </p:sp>
      <p:pic>
        <p:nvPicPr>
          <p:cNvPr id="9" name="图片 8" descr="confusion_matrix"/>
          <p:cNvPicPr>
            <a:picLocks noChangeAspect="1"/>
          </p:cNvPicPr>
          <p:nvPr/>
        </p:nvPicPr>
        <p:blipFill>
          <a:blip r:embed="rId4"/>
          <a:stretch>
            <a:fillRect/>
          </a:stretch>
        </p:blipFill>
        <p:spPr>
          <a:xfrm>
            <a:off x="2350135" y="1196975"/>
            <a:ext cx="3319145" cy="2489200"/>
          </a:xfrm>
          <a:prstGeom prst="rect">
            <a:avLst/>
          </a:prstGeom>
        </p:spPr>
      </p:pic>
      <p:pic>
        <p:nvPicPr>
          <p:cNvPr id="10" name="图片 9" descr="training_curves"/>
          <p:cNvPicPr>
            <a:picLocks noChangeAspect="1"/>
          </p:cNvPicPr>
          <p:nvPr/>
        </p:nvPicPr>
        <p:blipFill>
          <a:blip r:embed="rId5"/>
          <a:stretch>
            <a:fillRect/>
          </a:stretch>
        </p:blipFill>
        <p:spPr>
          <a:xfrm>
            <a:off x="2270760" y="4117340"/>
            <a:ext cx="3398520" cy="1699260"/>
          </a:xfrm>
          <a:prstGeom prst="rect">
            <a:avLst/>
          </a:prstGeom>
        </p:spPr>
      </p:pic>
    </p:spTree>
  </p:cSld>
  <p:clrMapOvr>
    <a:masterClrMapping/>
  </p:clrMapOvr>
  <p:transition spd="slow" advTm="3000">
    <p:wip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组合 14"/>
          <p:cNvGrpSpPr/>
          <p:nvPr/>
        </p:nvGrpSpPr>
        <p:grpSpPr>
          <a:xfrm>
            <a:off x="-8121" y="1376772"/>
            <a:ext cx="6096000" cy="4104456"/>
            <a:chOff x="-8121" y="1376772"/>
            <a:chExt cx="6096000" cy="4104456"/>
          </a:xfrm>
        </p:grpSpPr>
        <p:sp>
          <p:nvSpPr>
            <p:cNvPr id="2" name="矩形 1"/>
            <p:cNvSpPr/>
            <p:nvPr/>
          </p:nvSpPr>
          <p:spPr>
            <a:xfrm>
              <a:off x="-8121" y="1376772"/>
              <a:ext cx="6096000" cy="4104456"/>
            </a:xfrm>
            <a:prstGeom prst="rect">
              <a:avLst/>
            </a:prstGeom>
            <a:solidFill>
              <a:srgbClr val="1945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3" name="TextBox 40"/>
            <p:cNvSpPr txBox="1"/>
            <p:nvPr/>
          </p:nvSpPr>
          <p:spPr>
            <a:xfrm>
              <a:off x="1703383" y="2564904"/>
              <a:ext cx="2428374"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rPr>
                <a:t>Part 3</a:t>
              </a:r>
            </a:p>
          </p:txBody>
        </p:sp>
        <p:grpSp>
          <p:nvGrpSpPr>
            <p:cNvPr id="13" name="组合 12"/>
            <p:cNvGrpSpPr/>
            <p:nvPr/>
          </p:nvGrpSpPr>
          <p:grpSpPr>
            <a:xfrm>
              <a:off x="683590" y="3331677"/>
              <a:ext cx="4510682" cy="876399"/>
              <a:chOff x="784538" y="3488705"/>
              <a:chExt cx="4510682" cy="876399"/>
            </a:xfrm>
          </p:grpSpPr>
          <p:sp>
            <p:nvSpPr>
              <p:cNvPr id="5" name="TextBox 40"/>
              <p:cNvSpPr txBox="1"/>
              <p:nvPr/>
            </p:nvSpPr>
            <p:spPr>
              <a:xfrm>
                <a:off x="784538" y="3576790"/>
                <a:ext cx="4510682" cy="7067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rPr>
                  <a:t>项目总结</a:t>
                </a:r>
              </a:p>
            </p:txBody>
          </p:sp>
          <p:cxnSp>
            <p:nvCxnSpPr>
              <p:cNvPr id="11" name="直接连接符 10"/>
              <p:cNvCxnSpPr/>
              <p:nvPr/>
            </p:nvCxnSpPr>
            <p:spPr>
              <a:xfrm>
                <a:off x="1203675" y="4365104"/>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03675" y="3488705"/>
                <a:ext cx="3672408"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14" name="TextBox 40"/>
          <p:cNvSpPr txBox="1"/>
          <p:nvPr/>
        </p:nvSpPr>
        <p:spPr>
          <a:xfrm>
            <a:off x="6441062" y="1950101"/>
            <a:ext cx="5418943" cy="4384675"/>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实验结果对比</a:t>
            </a: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总结</a:t>
            </a:r>
            <a:r>
              <a:rPr kumimoji="0" lang="en-US" altLang="zh-CN"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 &amp; </a:t>
            </a:r>
            <a:r>
              <a:rPr kumimoji="0" lang="zh-CN" altLang="en-US" sz="24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rPr>
              <a:t>未来工作</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R="0" lvl="0" indent="0" algn="l" defTabSz="914400" rtl="0" eaLnBrk="1" fontAlgn="auto" latinLnBrk="0" hangingPunct="1">
              <a:lnSpc>
                <a:spcPct val="150000"/>
              </a:lnSpc>
              <a:spcBef>
                <a:spcPts val="0"/>
              </a:spcBef>
              <a:spcAft>
                <a:spcPts val="0"/>
              </a:spcAft>
              <a:buClrTx/>
              <a:buSzTx/>
              <a:buFont typeface="Wingdings" panose="05000000000000000000" pitchFamily="2" charset="2"/>
              <a:buNone/>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zh-CN" altLang="en-US" sz="1800" b="0" i="0" u="none" strike="noStrike" kern="1200" cap="none" spc="0" normalizeH="0" baseline="0" noProof="0" dirty="0">
              <a:ln>
                <a:noFill/>
              </a:ln>
              <a:solidFill>
                <a:srgbClr val="194579"/>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8" name="TextBox 40"/>
          <p:cNvSpPr txBox="1"/>
          <p:nvPr>
            <p:custDataLst>
              <p:tags r:id="rId1"/>
            </p:custDataLst>
          </p:nvPr>
        </p:nvSpPr>
        <p:spPr>
          <a:xfrm>
            <a:off x="6815213" y="2709220"/>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Comparison of experimental results</a:t>
            </a:r>
          </a:p>
        </p:txBody>
      </p:sp>
      <p:sp>
        <p:nvSpPr>
          <p:cNvPr id="4" name="TextBox 40"/>
          <p:cNvSpPr txBox="1"/>
          <p:nvPr>
            <p:custDataLst>
              <p:tags r:id="rId2"/>
            </p:custDataLst>
          </p:nvPr>
        </p:nvSpPr>
        <p:spPr>
          <a:xfrm>
            <a:off x="6813943" y="4293545"/>
            <a:ext cx="4906495" cy="306705"/>
          </a:xfrm>
          <a:prstGeom prst="rect">
            <a:avLst/>
          </a:prstGeom>
          <a:noFill/>
        </p:spPr>
        <p:txBody>
          <a:bodyPr wrap="square" rtlCol="0">
            <a:spAutoFit/>
          </a:bodyPr>
          <a:lstStyle/>
          <a:p>
            <a:r>
              <a:rPr lang="en-US" altLang="zh-CN" sz="1400" dirty="0">
                <a:solidFill>
                  <a:srgbClr val="194579"/>
                </a:solidFill>
                <a:latin typeface="微软雅黑" panose="020B0503020204020204" charset="-122"/>
                <a:ea typeface="微软雅黑" panose="020B0503020204020204" charset="-122"/>
                <a:sym typeface="微软雅黑" panose="020B0503020204020204" charset="-122"/>
              </a:rPr>
              <a:t>Summary and Future Work</a:t>
            </a: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50"/>
                                        <p:tgtEl>
                                          <p:spTgt spid="14"/>
                                        </p:tgtEl>
                                      </p:cBhvr>
                                    </p:animEffect>
                                    <p:anim calcmode="lin" valueType="num">
                                      <p:cBhvr>
                                        <p:cTn id="12" dur="750" fill="hold"/>
                                        <p:tgtEl>
                                          <p:spTgt spid="14"/>
                                        </p:tgtEl>
                                        <p:attrNameLst>
                                          <p:attrName>ppt_x</p:attrName>
                                        </p:attrNameLst>
                                      </p:cBhvr>
                                      <p:tavLst>
                                        <p:tav tm="0">
                                          <p:val>
                                            <p:strVal val="#ppt_x"/>
                                          </p:val>
                                        </p:tav>
                                        <p:tav tm="100000">
                                          <p:val>
                                            <p:strVal val="#ppt_x"/>
                                          </p:val>
                                        </p:tav>
                                      </p:tavLst>
                                    </p:anim>
                                    <p:anim calcmode="lin" valueType="num">
                                      <p:cBhvr>
                                        <p:cTn id="13"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0778" y="332656"/>
            <a:ext cx="11270443" cy="6192688"/>
          </a:xfrm>
          <a:prstGeom prst="rect">
            <a:avLst/>
          </a:prstGeom>
          <a:solidFill>
            <a:schemeClr val="bg1"/>
          </a:solidFill>
          <a:ln>
            <a:noFill/>
          </a:ln>
          <a:effectLst>
            <a:outerShdw blurRad="63500" sx="102000" sy="102000" algn="ct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7" name="组合 26"/>
          <p:cNvGrpSpPr/>
          <p:nvPr/>
        </p:nvGrpSpPr>
        <p:grpSpPr>
          <a:xfrm>
            <a:off x="838622" y="620688"/>
            <a:ext cx="4948555" cy="607201"/>
            <a:chOff x="550590" y="536707"/>
            <a:chExt cx="4948555" cy="607201"/>
          </a:xfrm>
        </p:grpSpPr>
        <p:sp>
          <p:nvSpPr>
            <p:cNvPr id="28" name="TextBox 40"/>
            <p:cNvSpPr txBox="1"/>
            <p:nvPr/>
          </p:nvSpPr>
          <p:spPr>
            <a:xfrm>
              <a:off x="1270680" y="609732"/>
              <a:ext cx="4228465" cy="460375"/>
            </a:xfrm>
            <a:prstGeom prst="rect">
              <a:avLst/>
            </a:prstGeom>
            <a:noFill/>
          </p:spPr>
          <p:txBody>
            <a:bodyPr wrap="square" rtlCol="0">
              <a:spAutoFit/>
            </a:bodyPr>
            <a:lstStyle/>
            <a:p>
              <a:r>
                <a:rPr lang="en-US" altLang="zh-CN" sz="2400" dirty="0">
                  <a:solidFill>
                    <a:srgbClr val="194579"/>
                  </a:solidFill>
                  <a:latin typeface="微软雅黑" panose="020B0503020204020204" charset="-122"/>
                  <a:ea typeface="微软雅黑" panose="020B0503020204020204" charset="-122"/>
                  <a:cs typeface="微软雅黑" panose="020B0503020204020204" charset="-122"/>
                  <a:sym typeface="微软雅黑" panose="020B0503020204020204" charset="-122"/>
                </a:rPr>
                <a:t> Part3-&gt; </a:t>
              </a:r>
              <a:r>
                <a:rPr lang="zh-CN" altLang="en-US" sz="2400" dirty="0">
                  <a:solidFill>
                    <a:srgbClr val="19457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a:t>
              </a:r>
              <a:r>
                <a:rPr lang="en-US" altLang="zh-CN" sz="2400" dirty="0">
                  <a:solidFill>
                    <a:srgbClr val="194579"/>
                  </a:solidFill>
                  <a:latin typeface="微软雅黑" panose="020B0503020204020204" charset="-122"/>
                  <a:ea typeface="微软雅黑" panose="020B0503020204020204" charset="-122"/>
                  <a:cs typeface="微软雅黑" panose="020B0503020204020204" charset="-122"/>
                  <a:sym typeface="微软雅黑" panose="020B0503020204020204" charset="-122"/>
                </a:rPr>
                <a:t> &amp; </a:t>
              </a:r>
              <a:r>
                <a:rPr lang="zh-CN" altLang="en-US" sz="2400" dirty="0">
                  <a:solidFill>
                    <a:srgbClr val="194579"/>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未来工作</a:t>
              </a:r>
            </a:p>
          </p:txBody>
        </p:sp>
        <p:pic>
          <p:nvPicPr>
            <p:cNvPr id="29" name="图片 2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50590" y="536707"/>
              <a:ext cx="607201" cy="607201"/>
            </a:xfrm>
            <a:prstGeom prst="ellipse">
              <a:avLst/>
            </a:prstGeom>
            <a:effectLst>
              <a:outerShdw blurRad="63500" sx="102000" sy="102000" algn="ctr" rotWithShape="0">
                <a:schemeClr val="bg1">
                  <a:lumMod val="50000"/>
                  <a:alpha val="40000"/>
                </a:schemeClr>
              </a:outerShdw>
            </a:effectLst>
          </p:spPr>
        </p:pic>
      </p:grpSp>
      <p:cxnSp>
        <p:nvCxnSpPr>
          <p:cNvPr id="4" name="直接连接符 3"/>
          <p:cNvCxnSpPr/>
          <p:nvPr>
            <p:custDataLst>
              <p:tags r:id="rId1"/>
            </p:custDataLst>
          </p:nvPr>
        </p:nvCxnSpPr>
        <p:spPr>
          <a:xfrm>
            <a:off x="522923" y="3395663"/>
            <a:ext cx="11074400" cy="0"/>
          </a:xfrm>
          <a:prstGeom prst="line">
            <a:avLst/>
          </a:prstGeom>
          <a:ln w="25400">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sp>
        <p:nvSpPr>
          <p:cNvPr id="5" name="直角三角形 4"/>
          <p:cNvSpPr/>
          <p:nvPr>
            <p:custDataLst>
              <p:tags r:id="rId2"/>
            </p:custDataLst>
          </p:nvPr>
        </p:nvSpPr>
        <p:spPr>
          <a:xfrm rot="13456694">
            <a:off x="11513503" y="3329623"/>
            <a:ext cx="125256" cy="131426"/>
          </a:xfrm>
          <a:prstGeom prst="r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6" name="椭圆 15"/>
          <p:cNvSpPr/>
          <p:nvPr>
            <p:custDataLst>
              <p:tags r:id="rId3"/>
            </p:custDataLst>
          </p:nvPr>
        </p:nvSpPr>
        <p:spPr>
          <a:xfrm>
            <a:off x="7765098"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1" name="椭圆 10"/>
          <p:cNvSpPr/>
          <p:nvPr>
            <p:custDataLst>
              <p:tags r:id="rId4"/>
            </p:custDataLst>
          </p:nvPr>
        </p:nvSpPr>
        <p:spPr>
          <a:xfrm>
            <a:off x="1676083"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4" name="椭圆 13"/>
          <p:cNvSpPr/>
          <p:nvPr>
            <p:custDataLst>
              <p:tags r:id="rId5"/>
            </p:custDataLst>
          </p:nvPr>
        </p:nvSpPr>
        <p:spPr>
          <a:xfrm>
            <a:off x="4730433"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cxnSp>
        <p:nvCxnSpPr>
          <p:cNvPr id="12" name="直接连接符 11"/>
          <p:cNvCxnSpPr/>
          <p:nvPr>
            <p:custDataLst>
              <p:tags r:id="rId6"/>
            </p:custDataLst>
          </p:nvPr>
        </p:nvCxnSpPr>
        <p:spPr>
          <a:xfrm flipV="1">
            <a:off x="6321108" y="1700213"/>
            <a:ext cx="0" cy="1440000"/>
          </a:xfrm>
          <a:prstGeom prst="line">
            <a:avLst/>
          </a:prstGeom>
          <a:ln w="25400">
            <a:gradFill>
              <a:gsLst>
                <a:gs pos="9000">
                  <a:schemeClr val="accent1">
                    <a:lumMod val="60000"/>
                    <a:lumOff val="40000"/>
                    <a:alpha val="0"/>
                  </a:schemeClr>
                </a:gs>
                <a:gs pos="100000">
                  <a:schemeClr val="accent1">
                    <a:lumMod val="60000"/>
                    <a:lumOff val="40000"/>
                    <a:alpha val="6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7"/>
            </p:custDataLst>
          </p:nvPr>
        </p:nvSpPr>
        <p:spPr>
          <a:xfrm>
            <a:off x="3209608"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2" name="椭圆 21"/>
          <p:cNvSpPr/>
          <p:nvPr>
            <p:custDataLst>
              <p:tags r:id="rId8"/>
            </p:custDataLst>
          </p:nvPr>
        </p:nvSpPr>
        <p:spPr>
          <a:xfrm>
            <a:off x="6256973"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23" name="椭圆 22"/>
          <p:cNvSpPr/>
          <p:nvPr>
            <p:custDataLst>
              <p:tags r:id="rId9"/>
            </p:custDataLst>
          </p:nvPr>
        </p:nvSpPr>
        <p:spPr>
          <a:xfrm>
            <a:off x="9297988" y="3317558"/>
            <a:ext cx="144000" cy="144000"/>
          </a:xfrm>
          <a:prstGeom prst="ellipse">
            <a:avLst/>
          </a:prstGeom>
          <a:solidFill>
            <a:schemeClr val="accent1"/>
          </a:solidFill>
          <a:ln w="44450">
            <a:solidFill>
              <a:srgbClr val="FFFFFF"/>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cxnSp>
        <p:nvCxnSpPr>
          <p:cNvPr id="49" name="直接连接符 48"/>
          <p:cNvCxnSpPr/>
          <p:nvPr>
            <p:custDataLst>
              <p:tags r:id="rId10"/>
            </p:custDataLst>
          </p:nvPr>
        </p:nvCxnSpPr>
        <p:spPr>
          <a:xfrm>
            <a:off x="8686483" y="3428683"/>
            <a:ext cx="0" cy="1440000"/>
          </a:xfrm>
          <a:prstGeom prst="line">
            <a:avLst/>
          </a:prstGeom>
          <a:ln w="25400">
            <a:gradFill>
              <a:gsLst>
                <a:gs pos="9000">
                  <a:schemeClr val="accent1">
                    <a:lumMod val="60000"/>
                    <a:lumOff val="40000"/>
                    <a:alpha val="0"/>
                  </a:schemeClr>
                </a:gs>
                <a:gs pos="100000">
                  <a:schemeClr val="accent1">
                    <a:lumMod val="60000"/>
                    <a:lumOff val="40000"/>
                    <a:alpha val="6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7" name="矩形 1774"/>
          <p:cNvSpPr/>
          <p:nvPr/>
        </p:nvSpPr>
        <p:spPr>
          <a:xfrm>
            <a:off x="654050" y="3826051"/>
            <a:ext cx="7713638" cy="219011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思源黑体 CN Normal" panose="020B0400000000000000" charset="-122"/>
            </a:endParaRPr>
          </a:p>
        </p:txBody>
      </p:sp>
      <p:sp>
        <p:nvSpPr>
          <p:cNvPr id="8" name="文本框 1780"/>
          <p:cNvSpPr txBox="1"/>
          <p:nvPr/>
        </p:nvSpPr>
        <p:spPr>
          <a:xfrm>
            <a:off x="3275965" y="3945255"/>
            <a:ext cx="3172460" cy="521970"/>
          </a:xfrm>
          <a:prstGeom prst="rect">
            <a:avLst/>
          </a:prstGeom>
          <a:noFill/>
        </p:spPr>
        <p:txBody>
          <a:bodyPr wrap="square" rtlCol="0">
            <a:spAutoFit/>
          </a:bodyPr>
          <a:lstStyle/>
          <a:p>
            <a:r>
              <a:rPr lang="en-US" altLang="zh-CN" sz="2800" b="1" dirty="0">
                <a:solidFill>
                  <a:schemeClr val="bg1"/>
                </a:solidFill>
                <a:latin typeface="微软雅黑" panose="020B0503020204020204" charset="-122"/>
                <a:ea typeface="微软雅黑" panose="020B0503020204020204" charset="-122"/>
                <a:cs typeface="微软雅黑" panose="020B0503020204020204" charset="-122"/>
              </a:rPr>
              <a:t>CNN </a:t>
            </a: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rPr>
              <a:t>基线模型</a:t>
            </a:r>
          </a:p>
        </p:txBody>
      </p:sp>
      <p:cxnSp>
        <p:nvCxnSpPr>
          <p:cNvPr id="26" name="直接连接符 1784"/>
          <p:cNvCxnSpPr/>
          <p:nvPr/>
        </p:nvCxnSpPr>
        <p:spPr>
          <a:xfrm>
            <a:off x="9405677" y="4706161"/>
            <a:ext cx="11455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文本框 1780"/>
          <p:cNvSpPr txBox="1"/>
          <p:nvPr/>
        </p:nvSpPr>
        <p:spPr>
          <a:xfrm>
            <a:off x="5564236" y="4562271"/>
            <a:ext cx="3300062" cy="521970"/>
          </a:xfrm>
          <a:prstGeom prst="rect">
            <a:avLst/>
          </a:prstGeom>
          <a:noFill/>
        </p:spPr>
        <p:txBody>
          <a:bodyPr wrap="square" rtlCol="0">
            <a:spAutoFit/>
          </a:bodyPr>
          <a:lstStyle/>
          <a:p>
            <a:r>
              <a:rPr lang="en-US" altLang="zh-CN" sz="2800" b="1" dirty="0">
                <a:solidFill>
                  <a:schemeClr val="bg1"/>
                </a:solidFill>
                <a:latin typeface="微软雅黑" panose="020B0503020204020204" charset="-122"/>
                <a:ea typeface="微软雅黑" panose="020B0503020204020204" charset="-122"/>
                <a:cs typeface="微软雅黑" panose="020B0503020204020204" charset="-122"/>
              </a:rPr>
              <a:t>ResNet</a:t>
            </a:r>
            <a:r>
              <a:rPr lang="zh-CN" altLang="en-US" sz="2800" b="1" dirty="0">
                <a:solidFill>
                  <a:schemeClr val="bg1"/>
                </a:solidFill>
                <a:latin typeface="微软雅黑" panose="020B0503020204020204" charset="-122"/>
                <a:ea typeface="微软雅黑" panose="020B0503020204020204" charset="-122"/>
                <a:cs typeface="微软雅黑" panose="020B0503020204020204" charset="-122"/>
              </a:rPr>
              <a:t>消融实验</a:t>
            </a:r>
          </a:p>
        </p:txBody>
      </p:sp>
      <p:sp>
        <p:nvSpPr>
          <p:cNvPr id="33" name="文本框 1780"/>
          <p:cNvSpPr txBox="1"/>
          <p:nvPr/>
        </p:nvSpPr>
        <p:spPr>
          <a:xfrm>
            <a:off x="5812790" y="3936365"/>
            <a:ext cx="2660650" cy="521970"/>
          </a:xfrm>
          <a:prstGeom prst="rect">
            <a:avLst/>
          </a:prstGeom>
          <a:noFill/>
        </p:spPr>
        <p:txBody>
          <a:bodyPr wrap="square" rtlCol="0">
            <a:spAutoFit/>
          </a:bodyPr>
          <a:lstStyle/>
          <a:p>
            <a:r>
              <a:rPr lang="zh-CN" altLang="en-US" sz="2800" b="1" dirty="0">
                <a:solidFill>
                  <a:srgbClr val="071F65"/>
                </a:solidFill>
                <a:latin typeface="微软雅黑" panose="020B0503020204020204" charset="-122"/>
                <a:ea typeface="微软雅黑" panose="020B0503020204020204" charset="-122"/>
                <a:cs typeface="思源黑体 CN Normal" panose="020B0400000000000000" charset="-122"/>
              </a:rPr>
              <a:t>冻结策略对比</a:t>
            </a:r>
          </a:p>
        </p:txBody>
      </p:sp>
      <p:sp>
        <p:nvSpPr>
          <p:cNvPr id="34" name="文本框 1780"/>
          <p:cNvSpPr txBox="1"/>
          <p:nvPr/>
        </p:nvSpPr>
        <p:spPr>
          <a:xfrm>
            <a:off x="2998913" y="5314449"/>
            <a:ext cx="4044548" cy="521970"/>
          </a:xfrm>
          <a:prstGeom prst="rect">
            <a:avLst/>
          </a:prstGeom>
          <a:noFill/>
        </p:spPr>
        <p:txBody>
          <a:bodyPr wrap="square" rtlCol="0">
            <a:spAutoFit/>
          </a:bodyPr>
          <a:lstStyle/>
          <a:p>
            <a:r>
              <a:rPr lang="zh-CN" altLang="en-US" sz="2800" b="1" dirty="0">
                <a:solidFill>
                  <a:schemeClr val="bg1"/>
                </a:solidFill>
                <a:latin typeface="微软雅黑" panose="020B0503020204020204" charset="-122"/>
                <a:ea typeface="微软雅黑" panose="020B0503020204020204" charset="-122"/>
                <a:cs typeface="思源黑体 CN Normal" panose="020B0400000000000000" charset="-122"/>
              </a:rPr>
              <a:t>模型泛化能力分析</a:t>
            </a:r>
          </a:p>
        </p:txBody>
      </p:sp>
      <p:sp>
        <p:nvSpPr>
          <p:cNvPr id="36" name="文本框 1780"/>
          <p:cNvSpPr txBox="1"/>
          <p:nvPr/>
        </p:nvSpPr>
        <p:spPr>
          <a:xfrm>
            <a:off x="639701" y="3936655"/>
            <a:ext cx="3584536" cy="521970"/>
          </a:xfrm>
          <a:prstGeom prst="rect">
            <a:avLst/>
          </a:prstGeom>
          <a:noFill/>
        </p:spPr>
        <p:txBody>
          <a:bodyPr wrap="square" rtlCol="0">
            <a:spAutoFit/>
          </a:bodyPr>
          <a:lstStyle/>
          <a:p>
            <a:r>
              <a:rPr lang="zh-CN" altLang="en-US" sz="2800" b="1" dirty="0">
                <a:solidFill>
                  <a:srgbClr val="071F65"/>
                </a:solidFill>
                <a:latin typeface="微软雅黑" panose="020B0503020204020204" charset="-122"/>
                <a:ea typeface="微软雅黑" panose="020B0503020204020204" charset="-122"/>
                <a:cs typeface="思源黑体 CN Normal" panose="020B0400000000000000" charset="-122"/>
              </a:rPr>
              <a:t>数据不均衡分析</a:t>
            </a:r>
          </a:p>
        </p:txBody>
      </p:sp>
      <p:sp>
        <p:nvSpPr>
          <p:cNvPr id="37" name="文本框 1780"/>
          <p:cNvSpPr txBox="1"/>
          <p:nvPr/>
        </p:nvSpPr>
        <p:spPr>
          <a:xfrm>
            <a:off x="3286760" y="4583430"/>
            <a:ext cx="2653665" cy="521970"/>
          </a:xfrm>
          <a:prstGeom prst="rect">
            <a:avLst/>
          </a:prstGeom>
          <a:noFill/>
        </p:spPr>
        <p:txBody>
          <a:bodyPr wrap="square" rtlCol="0">
            <a:spAutoFit/>
          </a:bodyPr>
          <a:lstStyle/>
          <a:p>
            <a:r>
              <a:rPr lang="zh-CN" altLang="en-US" sz="2800" b="1" dirty="0">
                <a:solidFill>
                  <a:srgbClr val="071F65"/>
                </a:solidFill>
                <a:latin typeface="微软雅黑" panose="020B0503020204020204" charset="-122"/>
                <a:ea typeface="微软雅黑" panose="020B0503020204020204" charset="-122"/>
                <a:cs typeface="思源黑体 CN Normal" panose="020B0400000000000000" charset="-122"/>
              </a:rPr>
              <a:t>训练策略对比</a:t>
            </a:r>
          </a:p>
        </p:txBody>
      </p:sp>
      <p:sp>
        <p:nvSpPr>
          <p:cNvPr id="40" name="文本框 1780"/>
          <p:cNvSpPr txBox="1"/>
          <p:nvPr/>
        </p:nvSpPr>
        <p:spPr>
          <a:xfrm>
            <a:off x="654050" y="4583313"/>
            <a:ext cx="3584536" cy="521970"/>
          </a:xfrm>
          <a:prstGeom prst="rect">
            <a:avLst/>
          </a:prstGeom>
          <a:noFill/>
        </p:spPr>
        <p:txBody>
          <a:bodyPr wrap="square" rtlCol="0">
            <a:spAutoFit/>
          </a:bodyPr>
          <a:lstStyle/>
          <a:p>
            <a:r>
              <a:rPr lang="zh-CN" altLang="en-US" sz="2800" b="1" dirty="0">
                <a:solidFill>
                  <a:schemeClr val="bg1"/>
                </a:solidFill>
                <a:latin typeface="微软雅黑" panose="020B0503020204020204" charset="-122"/>
                <a:ea typeface="微软雅黑" panose="020B0503020204020204" charset="-122"/>
                <a:cs typeface="思源黑体 CN Normal" panose="020B0400000000000000" charset="-122"/>
              </a:rPr>
              <a:t>预训练模型迁移</a:t>
            </a:r>
          </a:p>
        </p:txBody>
      </p:sp>
      <p:sp>
        <p:nvSpPr>
          <p:cNvPr id="41" name="文本框 1780"/>
          <p:cNvSpPr txBox="1"/>
          <p:nvPr/>
        </p:nvSpPr>
        <p:spPr>
          <a:xfrm>
            <a:off x="639631" y="5314188"/>
            <a:ext cx="4104433" cy="521970"/>
          </a:xfrm>
          <a:prstGeom prst="rect">
            <a:avLst/>
          </a:prstGeom>
          <a:noFill/>
        </p:spPr>
        <p:txBody>
          <a:bodyPr wrap="square" rtlCol="0">
            <a:spAutoFit/>
          </a:bodyPr>
          <a:lstStyle/>
          <a:p>
            <a:r>
              <a:rPr lang="en-US" altLang="zh-CN" sz="2800" b="1" dirty="0">
                <a:solidFill>
                  <a:srgbClr val="071F65"/>
                </a:solidFill>
                <a:latin typeface="微软雅黑" panose="020B0503020204020204" charset="-122"/>
                <a:ea typeface="微软雅黑" panose="020B0503020204020204" charset="-122"/>
                <a:cs typeface="微软雅黑" panose="020B0503020204020204" charset="-122"/>
              </a:rPr>
              <a:t>CLIP   M3V </a:t>
            </a:r>
            <a:endParaRPr lang="zh-CN" altLang="en-US" sz="2800" b="1" dirty="0">
              <a:solidFill>
                <a:srgbClr val="071F65"/>
              </a:solidFill>
              <a:latin typeface="微软雅黑" panose="020B0503020204020204" charset="-122"/>
              <a:ea typeface="微软雅黑" panose="020B0503020204020204" charset="-122"/>
              <a:cs typeface="微软雅黑" panose="020B0503020204020204" charset="-122"/>
            </a:endParaRPr>
          </a:p>
        </p:txBody>
      </p:sp>
      <p:sp>
        <p:nvSpPr>
          <p:cNvPr id="42" name="文本框 1780"/>
          <p:cNvSpPr txBox="1"/>
          <p:nvPr/>
        </p:nvSpPr>
        <p:spPr>
          <a:xfrm>
            <a:off x="6448425" y="5314315"/>
            <a:ext cx="2653665" cy="521970"/>
          </a:xfrm>
          <a:prstGeom prst="rect">
            <a:avLst/>
          </a:prstGeom>
          <a:noFill/>
        </p:spPr>
        <p:txBody>
          <a:bodyPr wrap="square" rtlCol="0">
            <a:spAutoFit/>
          </a:bodyPr>
          <a:lstStyle/>
          <a:p>
            <a:r>
              <a:rPr lang="zh-CN" altLang="en-US" sz="2800" b="1" dirty="0">
                <a:solidFill>
                  <a:srgbClr val="071F65"/>
                </a:solidFill>
                <a:latin typeface="微软雅黑" panose="020B0503020204020204" charset="-122"/>
                <a:ea typeface="微软雅黑" panose="020B0503020204020204" charset="-122"/>
                <a:cs typeface="思源黑体 CN Normal" panose="020B0400000000000000" charset="-122"/>
              </a:rPr>
              <a:t>模型演进</a:t>
            </a:r>
          </a:p>
        </p:txBody>
      </p:sp>
      <p:sp>
        <p:nvSpPr>
          <p:cNvPr id="58" name="矩形 1775"/>
          <p:cNvSpPr/>
          <p:nvPr/>
        </p:nvSpPr>
        <p:spPr>
          <a:xfrm>
            <a:off x="6814520" y="980616"/>
            <a:ext cx="3819607" cy="2190115"/>
          </a:xfrm>
          <a:prstGeom prst="rect">
            <a:avLst/>
          </a:prstGeom>
          <a:solidFill>
            <a:srgbClr val="071F65"/>
          </a:solidFill>
          <a:ln w="12700" cap="flat" cmpd="sng" algn="ctr">
            <a:solidFill>
              <a:srgbClr val="071F65"/>
            </a:solidFill>
            <a:prstDash val="solid"/>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思源黑体 CN Normal" panose="020B0400000000000000" charset="-122"/>
            </a:endParaRPr>
          </a:p>
        </p:txBody>
      </p:sp>
      <p:sp>
        <p:nvSpPr>
          <p:cNvPr id="45" name="文本框 44"/>
          <p:cNvSpPr txBox="1"/>
          <p:nvPr>
            <p:custDataLst>
              <p:tags r:id="rId11"/>
            </p:custDataLst>
          </p:nvPr>
        </p:nvSpPr>
        <p:spPr>
          <a:xfrm>
            <a:off x="6906578" y="1185863"/>
            <a:ext cx="1290517" cy="252586"/>
          </a:xfrm>
          <a:prstGeom prst="rect">
            <a:avLst/>
          </a:prstGeom>
          <a:noFill/>
        </p:spPr>
        <p:txBody>
          <a:bodyPr wrap="none" lIns="0" tIns="0" rIns="0" bIns="0" rtlCol="0">
            <a:noAutofit/>
          </a:bodyPr>
          <a:lstStyle/>
          <a:p>
            <a:pPr algn="l"/>
            <a:r>
              <a:rPr lang="en-US" altLang="zh-CN" sz="2400" b="1" spc="100" dirty="0">
                <a:solidFill>
                  <a:schemeClr val="bg1"/>
                </a:solidFill>
                <a:latin typeface="微软雅黑" panose="020B0503020204020204" charset="-122"/>
                <a:ea typeface="微软雅黑" panose="020B0503020204020204" charset="-122"/>
              </a:rPr>
              <a:t>Summary</a:t>
            </a:r>
          </a:p>
        </p:txBody>
      </p:sp>
      <p:sp>
        <p:nvSpPr>
          <p:cNvPr id="39" name="文本框 38"/>
          <p:cNvSpPr txBox="1"/>
          <p:nvPr>
            <p:custDataLst>
              <p:tags r:id="rId12"/>
            </p:custDataLst>
          </p:nvPr>
        </p:nvSpPr>
        <p:spPr>
          <a:xfrm>
            <a:off x="7295515" y="1628140"/>
            <a:ext cx="3206750" cy="860425"/>
          </a:xfrm>
          <a:prstGeom prst="rect">
            <a:avLst/>
          </a:prstGeom>
          <a:noFill/>
        </p:spPr>
        <p:txBody>
          <a:bodyPr wrap="square" lIns="0" tIns="0" rIns="0" bIns="0" rtlCol="0">
            <a:noAutofit/>
          </a:bodyPr>
          <a:lstStyle/>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模型能力对复杂类别区分至关重要</a:t>
            </a:r>
            <a:endParaRPr lang="en-US" altLang="zh-CN" sz="1400" dirty="0">
              <a:solidFill>
                <a:schemeClr val="bg1"/>
              </a:solidFill>
              <a:latin typeface="微软雅黑" panose="020B0503020204020204" charset="-122"/>
              <a:ea typeface="微软雅黑" panose="020B0503020204020204" charset="-122"/>
            </a:endParaRPr>
          </a:p>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数据不均衡需结合模型能力共同处理</a:t>
            </a:r>
          </a:p>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现代预训练模型优势明显</a:t>
            </a:r>
          </a:p>
        </p:txBody>
      </p:sp>
      <p:sp>
        <p:nvSpPr>
          <p:cNvPr id="59" name="矩形 1775"/>
          <p:cNvSpPr/>
          <p:nvPr/>
        </p:nvSpPr>
        <p:spPr>
          <a:xfrm>
            <a:off x="8953500" y="3825875"/>
            <a:ext cx="2679065" cy="2190750"/>
          </a:xfrm>
          <a:prstGeom prst="rect">
            <a:avLst/>
          </a:prstGeom>
          <a:solidFill>
            <a:srgbClr val="071F65"/>
          </a:solidFill>
          <a:ln w="12700" cap="flat" cmpd="sng" algn="ctr">
            <a:solidFill>
              <a:srgbClr val="071F65"/>
            </a:solidFill>
            <a:prstDash val="solid"/>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思源黑体 CN Normal" panose="020B0400000000000000" charset="-122"/>
            </a:endParaRPr>
          </a:p>
        </p:txBody>
      </p:sp>
      <p:sp>
        <p:nvSpPr>
          <p:cNvPr id="35" name="文本框 34"/>
          <p:cNvSpPr txBox="1"/>
          <p:nvPr>
            <p:custDataLst>
              <p:tags r:id="rId13"/>
            </p:custDataLst>
          </p:nvPr>
        </p:nvSpPr>
        <p:spPr>
          <a:xfrm>
            <a:off x="9291320" y="4364990"/>
            <a:ext cx="1984375" cy="860425"/>
          </a:xfrm>
          <a:prstGeom prst="rect">
            <a:avLst/>
          </a:prstGeom>
          <a:noFill/>
        </p:spPr>
        <p:txBody>
          <a:bodyPr wrap="square" lIns="0" tIns="0" rIns="0" bIns="0" rtlCol="0">
            <a:noAutofit/>
          </a:bodyPr>
          <a:lstStyle/>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更精细的损失函数设计</a:t>
            </a:r>
            <a:endParaRPr lang="en-US" altLang="zh-CN" sz="1400" dirty="0">
              <a:solidFill>
                <a:schemeClr val="bg1"/>
              </a:solidFill>
              <a:latin typeface="微软雅黑" panose="020B0503020204020204" charset="-122"/>
              <a:ea typeface="微软雅黑" panose="020B0503020204020204" charset="-122"/>
            </a:endParaRPr>
          </a:p>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数据增强与对比学习</a:t>
            </a:r>
            <a:endParaRPr lang="en-US" altLang="zh-CN" sz="1400" dirty="0">
              <a:solidFill>
                <a:schemeClr val="bg1"/>
              </a:solidFill>
              <a:latin typeface="微软雅黑" panose="020B0503020204020204" charset="-122"/>
              <a:ea typeface="微软雅黑" panose="020B0503020204020204" charset="-122"/>
            </a:endParaRPr>
          </a:p>
          <a:p>
            <a:pPr marL="171450" indent="-171450">
              <a:lnSpc>
                <a:spcPct val="200000"/>
              </a:lnSpc>
              <a:buFont typeface="Wingdings" panose="05000000000000000000" charset="0"/>
              <a:buChar char="n"/>
            </a:pPr>
            <a:r>
              <a:rPr lang="zh-CN" altLang="en-US" sz="1400" dirty="0">
                <a:solidFill>
                  <a:schemeClr val="bg1"/>
                </a:solidFill>
                <a:latin typeface="微软雅黑" panose="020B0503020204020204" charset="-122"/>
                <a:ea typeface="微软雅黑" panose="020B0503020204020204" charset="-122"/>
              </a:rPr>
              <a:t>进一步调研多模态模型</a:t>
            </a:r>
          </a:p>
        </p:txBody>
      </p:sp>
      <p:sp>
        <p:nvSpPr>
          <p:cNvPr id="60" name="文本框 59"/>
          <p:cNvSpPr txBox="1"/>
          <p:nvPr>
            <p:custDataLst>
              <p:tags r:id="rId14"/>
            </p:custDataLst>
          </p:nvPr>
        </p:nvSpPr>
        <p:spPr>
          <a:xfrm>
            <a:off x="9101773" y="3957003"/>
            <a:ext cx="1290517" cy="252586"/>
          </a:xfrm>
          <a:prstGeom prst="rect">
            <a:avLst/>
          </a:prstGeom>
          <a:noFill/>
        </p:spPr>
        <p:txBody>
          <a:bodyPr wrap="none" lIns="0" tIns="0" rIns="0" bIns="0" rtlCol="0">
            <a:noAutofit/>
          </a:bodyPr>
          <a:lstStyle/>
          <a:p>
            <a:pPr algn="l"/>
            <a:r>
              <a:rPr lang="en-US" altLang="zh-CN" sz="2000" b="1" spc="100" dirty="0">
                <a:solidFill>
                  <a:schemeClr val="bg1"/>
                </a:solidFill>
                <a:latin typeface="微软雅黑" panose="020B0503020204020204" charset="-122"/>
                <a:ea typeface="微软雅黑" panose="020B0503020204020204" charset="-122"/>
              </a:rPr>
              <a:t>Future Work</a:t>
            </a:r>
          </a:p>
        </p:txBody>
      </p:sp>
      <p:sp>
        <p:nvSpPr>
          <p:cNvPr id="3" name="矩形 1773"/>
          <p:cNvSpPr/>
          <p:nvPr/>
        </p:nvSpPr>
        <p:spPr>
          <a:xfrm>
            <a:off x="1054735" y="1259205"/>
            <a:ext cx="5039995" cy="20701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a:latin typeface="微软雅黑" panose="020B0503020204020204" charset="-122"/>
              <a:ea typeface="微软雅黑" panose="020B0503020204020204" charset="-122"/>
              <a:cs typeface="思源黑体 CN Normal" panose="020B0400000000000000" charset="-122"/>
            </a:endParaRPr>
          </a:p>
        </p:txBody>
      </p:sp>
      <p:sp>
        <p:nvSpPr>
          <p:cNvPr id="6" name="文本框 5"/>
          <p:cNvSpPr txBox="1"/>
          <p:nvPr/>
        </p:nvSpPr>
        <p:spPr>
          <a:xfrm>
            <a:off x="1199515" y="1269365"/>
            <a:ext cx="4063365" cy="460375"/>
          </a:xfrm>
          <a:prstGeom prst="rect">
            <a:avLst/>
          </a:prstGeom>
          <a:noFill/>
        </p:spPr>
        <p:txBody>
          <a:bodyPr wrap="square" rtlCol="0">
            <a:spAutoFit/>
          </a:bodyPr>
          <a:lstStyle/>
          <a:p>
            <a:r>
              <a:rPr lang="zh-CN" altLang="en-US" sz="2400" b="1" dirty="0">
                <a:solidFill>
                  <a:srgbClr val="071F65"/>
                </a:solidFill>
                <a:latin typeface="微软雅黑" panose="020B0503020204020204" charset="-122"/>
                <a:ea typeface="微软雅黑" panose="020B0503020204020204" charset="-122"/>
                <a:cs typeface="思源黑体 CN Normal" panose="020B0400000000000000" charset="-122"/>
              </a:rPr>
              <a:t>results</a:t>
            </a:r>
          </a:p>
        </p:txBody>
      </p:sp>
      <p:sp>
        <p:nvSpPr>
          <p:cNvPr id="9" name="文本框 8"/>
          <p:cNvSpPr txBox="1"/>
          <p:nvPr/>
        </p:nvSpPr>
        <p:spPr>
          <a:xfrm>
            <a:off x="1246505" y="1656715"/>
            <a:ext cx="4736165" cy="1663700"/>
          </a:xfrm>
          <a:prstGeom prst="rect">
            <a:avLst/>
          </a:prstGeom>
          <a:noFill/>
        </p:spPr>
        <p:txBody>
          <a:bodyPr wrap="square" rtlCol="0">
            <a:noAutofit/>
          </a:bodyPr>
          <a:lstStyle/>
          <a:p>
            <a:pPr marL="285750" indent="-285750">
              <a:lnSpc>
                <a:spcPct val="150000"/>
              </a:lnSpc>
              <a:spcBef>
                <a:spcPts val="0"/>
              </a:spcBef>
              <a:spcAft>
                <a:spcPts val="0"/>
              </a:spcAft>
              <a:buFont typeface="Wingdings" panose="05000000000000000000" charset="0"/>
              <a:buChar char="n"/>
            </a:pP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CNN：最好结果为84.01%，采用防止过拟合策略</a:t>
            </a:r>
          </a:p>
          <a:p>
            <a:pPr marL="285750" indent="-285750">
              <a:lnSpc>
                <a:spcPct val="150000"/>
              </a:lnSpc>
              <a:spcBef>
                <a:spcPts val="0"/>
              </a:spcBef>
              <a:spcAft>
                <a:spcPts val="0"/>
              </a:spcAft>
              <a:buFont typeface="Wingdings" panose="05000000000000000000" charset="0"/>
              <a:buChar char="n"/>
            </a:pP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ResNet</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rPr>
              <a:t>18</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sym typeface="+mn-ea"/>
              </a:rPr>
              <a:t>最好结果为95.0</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sym typeface="+mn-ea"/>
              </a:rPr>
              <a:t>5</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sym typeface="+mn-ea"/>
              </a:rPr>
              <a:t>%，采用预训练、全图、冻结、降低学习率策略，</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sym typeface="+mn-ea"/>
              </a:rPr>
              <a:t>ResNet50</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sym typeface="+mn-ea"/>
              </a:rPr>
              <a:t>最佳</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sym typeface="+mn-ea"/>
              </a:rPr>
              <a:t>97.56%</a:t>
            </a:r>
            <a:endParaRPr lang="zh-CN" altLang="en-US" sz="1400" dirty="0">
              <a:solidFill>
                <a:srgbClr val="071F65"/>
              </a:solidFill>
              <a:latin typeface="微软雅黑" panose="020B0503020204020204" charset="-122"/>
              <a:ea typeface="微软雅黑" panose="020B0503020204020204" charset="-122"/>
              <a:cs typeface="微软雅黑" panose="020B0503020204020204" charset="-122"/>
            </a:endParaRPr>
          </a:p>
          <a:p>
            <a:pPr marL="285750" indent="-285750">
              <a:lnSpc>
                <a:spcPct val="150000"/>
              </a:lnSpc>
              <a:spcBef>
                <a:spcPts val="0"/>
              </a:spcBef>
              <a:spcAft>
                <a:spcPts val="0"/>
              </a:spcAft>
              <a:buFont typeface="Wingdings" panose="05000000000000000000" charset="0"/>
              <a:buChar char="n"/>
            </a:pPr>
            <a:r>
              <a:rPr lang="en-US" altLang="zh-CN" sz="1400" dirty="0">
                <a:solidFill>
                  <a:srgbClr val="071F65"/>
                </a:solidFill>
                <a:latin typeface="微软雅黑" panose="020B0503020204020204" charset="-122"/>
                <a:ea typeface="微软雅黑" panose="020B0503020204020204" charset="-122"/>
                <a:cs typeface="微软雅黑" panose="020B0503020204020204" charset="-122"/>
              </a:rPr>
              <a:t>CLIP</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rPr>
              <a:t>98.02%</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，采用冻结策略</a:t>
            </a:r>
          </a:p>
          <a:p>
            <a:pPr marL="285750" indent="-285750">
              <a:lnSpc>
                <a:spcPct val="150000"/>
              </a:lnSpc>
              <a:spcBef>
                <a:spcPts val="0"/>
              </a:spcBef>
              <a:spcAft>
                <a:spcPts val="0"/>
              </a:spcAft>
              <a:buFont typeface="Wingdings" panose="05000000000000000000" charset="0"/>
              <a:buChar char="n"/>
            </a:pPr>
            <a:r>
              <a:rPr lang="en-US" altLang="zh-CN" sz="1400" dirty="0">
                <a:solidFill>
                  <a:srgbClr val="071F65"/>
                </a:solidFill>
                <a:latin typeface="微软雅黑" panose="020B0503020204020204" charset="-122"/>
                <a:ea typeface="微软雅黑" panose="020B0503020204020204" charset="-122"/>
                <a:cs typeface="微软雅黑" panose="020B0503020204020204" charset="-122"/>
              </a:rPr>
              <a:t>M3V</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a:t>
            </a:r>
            <a:r>
              <a:rPr lang="en-US" altLang="zh-CN" sz="1400" dirty="0">
                <a:solidFill>
                  <a:srgbClr val="071F65"/>
                </a:solidFill>
                <a:latin typeface="微软雅黑" panose="020B0503020204020204" charset="-122"/>
                <a:ea typeface="微软雅黑" panose="020B0503020204020204" charset="-122"/>
                <a:cs typeface="微软雅黑" panose="020B0503020204020204" charset="-122"/>
              </a:rPr>
              <a:t>92.27%</a:t>
            </a:r>
            <a:r>
              <a:rPr lang="zh-CN" altLang="en-US" sz="1400" dirty="0">
                <a:solidFill>
                  <a:srgbClr val="071F65"/>
                </a:solidFill>
                <a:latin typeface="微软雅黑" panose="020B0503020204020204" charset="-122"/>
                <a:ea typeface="微软雅黑" panose="020B0503020204020204" charset="-122"/>
                <a:cs typeface="微软雅黑" panose="020B0503020204020204" charset="-122"/>
              </a:rPr>
              <a:t>，采用冻结策略</a:t>
            </a:r>
          </a:p>
        </p:txBody>
      </p:sp>
    </p:spTree>
  </p:cSld>
  <p:clrMapOvr>
    <a:masterClrMapping/>
  </p:clrMapOvr>
  <p:transition spd="slow" advTm="3000">
    <p:wip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0" y="2133600"/>
            <a:ext cx="12215813" cy="2806700"/>
          </a:xfrm>
          <a:prstGeom prst="rect">
            <a:avLst/>
          </a:prstGeom>
          <a:solidFill>
            <a:srgbClr val="17375E">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17375E"/>
              </a:solidFill>
            </a:endParaRPr>
          </a:p>
        </p:txBody>
      </p:sp>
      <p:sp>
        <p:nvSpPr>
          <p:cNvPr id="18" name="矩形 23"/>
          <p:cNvSpPr/>
          <p:nvPr/>
        </p:nvSpPr>
        <p:spPr>
          <a:xfrm>
            <a:off x="4800600" y="2225675"/>
            <a:ext cx="7415213" cy="2574925"/>
          </a:xfrm>
          <a:custGeom>
            <a:avLst/>
            <a:gdLst>
              <a:gd name="connsiteX0" fmla="*/ 0 w 6480720"/>
              <a:gd name="connsiteY0" fmla="*/ 0 h 3104728"/>
              <a:gd name="connsiteX1" fmla="*/ 6480720 w 6480720"/>
              <a:gd name="connsiteY1" fmla="*/ 0 h 3104728"/>
              <a:gd name="connsiteX2" fmla="*/ 6480720 w 6480720"/>
              <a:gd name="connsiteY2" fmla="*/ 3104728 h 3104728"/>
              <a:gd name="connsiteX3" fmla="*/ 0 w 6480720"/>
              <a:gd name="connsiteY3" fmla="*/ 3104728 h 3104728"/>
              <a:gd name="connsiteX4" fmla="*/ 0 w 6480720"/>
              <a:gd name="connsiteY4" fmla="*/ 0 h 3104728"/>
              <a:gd name="connsiteX0-1" fmla="*/ 1190065 w 6480720"/>
              <a:gd name="connsiteY0-2" fmla="*/ 0 h 3104728"/>
              <a:gd name="connsiteX1-3" fmla="*/ 6480720 w 6480720"/>
              <a:gd name="connsiteY1-4" fmla="*/ 0 h 3104728"/>
              <a:gd name="connsiteX2-5" fmla="*/ 6480720 w 6480720"/>
              <a:gd name="connsiteY2-6" fmla="*/ 3104728 h 3104728"/>
              <a:gd name="connsiteX3-7" fmla="*/ 0 w 6480720"/>
              <a:gd name="connsiteY3-8" fmla="*/ 3104728 h 3104728"/>
              <a:gd name="connsiteX4-9" fmla="*/ 1190065 w 6480720"/>
              <a:gd name="connsiteY4-10" fmla="*/ 0 h 31047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80720" h="3104728">
                <a:moveTo>
                  <a:pt x="1190065" y="0"/>
                </a:moveTo>
                <a:lnTo>
                  <a:pt x="6480720" y="0"/>
                </a:lnTo>
                <a:lnTo>
                  <a:pt x="6480720" y="3104728"/>
                </a:lnTo>
                <a:lnTo>
                  <a:pt x="0" y="3104728"/>
                </a:lnTo>
                <a:lnTo>
                  <a:pt x="1190065" y="0"/>
                </a:lnTo>
                <a:close/>
              </a:path>
            </a:pathLst>
          </a:cu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微软雅黑" panose="020B0503020204020204" charset="-122"/>
              <a:ea typeface="微软雅黑" panose="020B0503020204020204" charset="-122"/>
            </a:endParaRPr>
          </a:p>
        </p:txBody>
      </p:sp>
      <p:sp>
        <p:nvSpPr>
          <p:cNvPr id="19" name="矩形 18"/>
          <p:cNvSpPr/>
          <p:nvPr/>
        </p:nvSpPr>
        <p:spPr>
          <a:xfrm>
            <a:off x="6731000" y="2362835"/>
            <a:ext cx="5192395" cy="1337310"/>
          </a:xfrm>
          <a:prstGeom prst="rect">
            <a:avLst/>
          </a:prstGeom>
        </p:spPr>
        <p:txBody>
          <a:bodyPr wrap="none">
            <a:noAutofit/>
          </a:bodyPr>
          <a:lstStyle/>
          <a:p>
            <a:pPr algn="ctr">
              <a:spcAft>
                <a:spcPts val="0"/>
              </a:spcAft>
            </a:pPr>
            <a:r>
              <a:rPr lang="zh-CN" altLang="en-US" sz="4000" b="1" kern="100" dirty="0">
                <a:solidFill>
                  <a:schemeClr val="bg1"/>
                </a:solidFill>
                <a:latin typeface="微软雅黑" panose="020B0503020204020204" charset="-122"/>
                <a:ea typeface="微软雅黑" panose="020B0503020204020204" charset="-122"/>
                <a:cs typeface="微软雅黑" panose="020B0503020204020204" charset="-122"/>
              </a:rPr>
              <a:t>感谢老师聆听</a:t>
            </a:r>
          </a:p>
          <a:p>
            <a:pPr algn="ctr">
              <a:spcAft>
                <a:spcPts val="0"/>
              </a:spcAft>
            </a:pPr>
            <a:r>
              <a:rPr lang="zh-CN" altLang="en-US" sz="4000" b="1" kern="100" dirty="0">
                <a:solidFill>
                  <a:schemeClr val="bg1"/>
                </a:solidFill>
                <a:latin typeface="微软雅黑" panose="020B0503020204020204" charset="-122"/>
                <a:ea typeface="微软雅黑" panose="020B0503020204020204" charset="-122"/>
                <a:cs typeface="微软雅黑" panose="020B0503020204020204" charset="-122"/>
              </a:rPr>
              <a:t>请您批评指正</a:t>
            </a:r>
          </a:p>
          <a:p>
            <a:pPr algn="ctr">
              <a:spcAft>
                <a:spcPts val="0"/>
              </a:spcAft>
            </a:pPr>
            <a:endParaRPr lang="zh-CN" altLang="en-US" sz="4000" b="1" kern="1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25" name="直接连接符 56"/>
          <p:cNvCxnSpPr/>
          <p:nvPr/>
        </p:nvCxnSpPr>
        <p:spPr>
          <a:xfrm>
            <a:off x="5962389" y="3743487"/>
            <a:ext cx="5873165"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7" name="椭圆 6"/>
          <p:cNvSpPr/>
          <p:nvPr/>
        </p:nvSpPr>
        <p:spPr>
          <a:xfrm>
            <a:off x="1058060" y="1867968"/>
            <a:ext cx="3265615" cy="329033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80722" y="1844824"/>
            <a:ext cx="3346510" cy="3346510"/>
          </a:xfrm>
          <a:prstGeom prst="rect">
            <a:avLst/>
          </a:prstGeom>
        </p:spPr>
      </p:pic>
      <p:grpSp>
        <p:nvGrpSpPr>
          <p:cNvPr id="16" name="组合 15"/>
          <p:cNvGrpSpPr/>
          <p:nvPr/>
        </p:nvGrpSpPr>
        <p:grpSpPr>
          <a:xfrm>
            <a:off x="7894817" y="4016430"/>
            <a:ext cx="2879697" cy="435174"/>
            <a:chOff x="6388547" y="3980235"/>
            <a:chExt cx="2879697" cy="435174"/>
          </a:xfrm>
        </p:grpSpPr>
        <p:sp>
          <p:nvSpPr>
            <p:cNvPr id="22" name="文本框 27" descr="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
            <p:cNvSpPr txBox="1"/>
            <p:nvPr/>
          </p:nvSpPr>
          <p:spPr>
            <a:xfrm>
              <a:off x="7036854" y="4016629"/>
              <a:ext cx="2231390" cy="398780"/>
            </a:xfrm>
            <a:prstGeom prst="rect">
              <a:avLst/>
            </a:prstGeom>
            <a:noFill/>
          </p:spPr>
          <p:txBody>
            <a:bodyPr wrap="square" rtlCol="0">
              <a:spAutoFit/>
            </a:bodyPr>
            <a:lstStyle/>
            <a:p>
              <a:pPr algn="r" defTabSz="1218565">
                <a:defRPr/>
              </a:pPr>
              <a:r>
                <a:rPr lang="zh-CN" altLang="en-US" sz="2000" dirty="0">
                  <a:solidFill>
                    <a:schemeClr val="bg1"/>
                  </a:solidFill>
                  <a:latin typeface="微软雅黑" panose="020B0503020204020204" charset="-122"/>
                  <a:ea typeface="微软雅黑" panose="020B0503020204020204" charset="-122"/>
                  <a:cs typeface="Kartika" panose="02020503030404060203" pitchFamily="18" charset="0"/>
                </a:rPr>
                <a:t>答辩成员：莫超杰</a:t>
              </a:r>
            </a:p>
          </p:txBody>
        </p:sp>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88547" y="3980235"/>
              <a:ext cx="391077" cy="391077"/>
            </a:xfrm>
            <a:prstGeom prst="rect">
              <a:avLst/>
            </a:prstGeom>
          </p:spPr>
        </p:pic>
      </p:grpSp>
      <p:cxnSp>
        <p:nvCxnSpPr>
          <p:cNvPr id="26" name="直接连接符 56"/>
          <p:cNvCxnSpPr/>
          <p:nvPr/>
        </p:nvCxnSpPr>
        <p:spPr>
          <a:xfrm>
            <a:off x="6960096" y="3743487"/>
            <a:ext cx="4875458"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3000">
    <p:wipe/>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约风格论文答辩课程演示PPT模板"/>
  <p:tag name="COMMONDATA" val="eyJoZGlkIjoiNmU3Yjk2YzhjNjA3ODJmODQ5OWJlYWI0ZmUwN2E3ZTAifQ=="/>
  <p:tag name="RESOURCE_RECORD_KEY" val="{&quot;29&quot;:[50000165],&quot;70&quot;:[3327934,3327686,3402981,3314372]}"/>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02.3682677165354,&quot;left&quot;:406.2285039370079,&quot;top&quot;:77.29787401574802,&quot;width&quot;:489.640629921259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5023_1*n_h_i*1_1_3"/>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459.6,&quot;left&quot;:54.35,&quot;top&quot;:42.65,&quot;width&quot;:851.35}"/>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5023_1*n_h_i*1_1_4"/>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459.6,&quot;left&quot;:54.35,&quot;top&quot;:42.65,&quot;width&quot;:851.3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0"/>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5023_1*n_h_i*1_1_1"/>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459.6,&quot;left&quot;:54.35,&quot;top&quot;:42.65,&quot;width&quot;:851.35}"/>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3"/>
  <p:tag name="KSO_WM_UNIT_TEXT_FILL_TYPE" val="1"/>
  <p:tag name="KSO_WM_UNIT_USESOURCEFORMAT_APPLY" val="0"/>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5023_1*n_h_i*1_1_2"/>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459.6,&quot;left&quot;:54.35,&quot;top&quot;:42.65,&quot;width&quot;:851.35}"/>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1"/>
  <p:tag name="KSO_WM_UNIT_TEXT_FILL_TYPE" val="1"/>
  <p:tag name="KSO_WM_UNIT_USESOURCEFORMAT_APPLY" val="0"/>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5023_1*n_h_i*1_1_5"/>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459.6,&quot;left&quot;:54.35,&quot;top&quot;:42.65,&quot;width&quot;:851.35}"/>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34_2*m_i*1_1"/>
  <p:tag name="KSO_WM_TEMPLATE_CATEGORY" val="diagram"/>
  <p:tag name="KSO_WM_TEMPLATE_INDEX" val="20236934"/>
  <p:tag name="KSO_WM_UNIT_LAYERLEVEL" val="1_1"/>
  <p:tag name="KSO_WM_TAG_VERSION" val="3.0"/>
  <p:tag name="KSO_WM_DIAGRAM_VERSION" val="3"/>
  <p:tag name="KSO_WM_DIAGRAM_COLOR_TRICK" val="1"/>
  <p:tag name="KSO_WM_DIAGRAM_COLOR_TEXT_CAN_REMOVE" val="n"/>
  <p:tag name="KSO_WM_DIAGRAM_GROUP_CODE" val="m1-1"/>
  <p:tag name="KSO_WM_UNIT_TYPE" val="m_i"/>
  <p:tag name="KSO_WM_UNIT_INDEX" val="1_1"/>
  <p:tag name="KSO_WM_UNIT_FILL_TYPE" val="3"/>
  <p:tag name="KSO_WM_DIAGRAM_MAX_ITEMCNT" val="5"/>
  <p:tag name="KSO_WM_DIAGRAM_MIN_ITEMCNT" val="4"/>
  <p:tag name="KSO_WM_DIAGRAM_VIRTUALLY_FRAME" val="{&quot;height&quot;:382.1360778808594,&quot;left&quot;:-75.90140821081445,&quot;top&quot;:60.76955948476716,&quot;width&quot;:960.778564453125}"/>
  <p:tag name="KSO_WM_DIAGRAM_COLOR_MATCH_VALUE" val="{&quot;shape&quot;:{&quot;fill&quot;:{&quot;gradient&quot;:[{&quot;brightness&quot;:0.6499999761581421,&quot;colorType&quot;:1,&quot;foreColorIndex&quot;:5,&quot;pos&quot;:0,&quot;transparency&quot;:0.550000011920929},{&quot;brightness&quot;:0.4000000059604645,&quot;colorType&quot;:1,&quot;foreColorIndex&quot;:5,&quot;pos&quot;:0.7699999809265137,&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2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TYPE" val="m_h_i"/>
  <p:tag name="KSO_WM_UNIT_INDEX" val="1_2_1"/>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2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TYPE" val="m_h_i"/>
  <p:tag name="KSO_WM_UNIT_INDEX" val="1_2_1"/>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2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TYPE" val="m_h_i"/>
  <p:tag name="KSO_WM_UNIT_INDEX" val="1_2_1"/>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2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TYPE" val="m_h_i"/>
  <p:tag name="KSO_WM_UNIT_INDEX" val="1_2_1"/>
  <p:tag name="KSO_WM_UNIT_FILL_TYPE" val="1"/>
  <p:tag name="KSO_WM_UNIT_FILL_FORE_SCHEMECOLOR_INDEX" val="5"/>
  <p:tag name="KSO_WM_UNIT_FILL_FORE_SCHEMECOLOR_INDEX_BRIGHTNESS" val="0"/>
  <p:tag name="KSO_WM_DIAGRAM_MAX_ITEMCNT" val="5"/>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a*1_1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m1-1"/>
  <p:tag name="KSO_WM_UNIT_TYPE" val="m_h_a"/>
  <p:tag name="KSO_WM_UNIT_INDEX" val="1_1_1"/>
  <p:tag name="KSO_WM_UNIT_PRESET_TEXT" val="添加项标题"/>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f*1_2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DIAGRAM_GROUP_CODE" val="m1-1"/>
  <p:tag name="KSO_WM_UNIT_TYPE" val="m_h_f"/>
  <p:tag name="KSO_WM_UNIT_INDEX" val="1_2_1"/>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2_2"/>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SUBTYPE" val="nb"/>
  <p:tag name="KSO_WM_UNIT_TYPE" val="m_h_i"/>
  <p:tag name="KSO_WM_UNIT_INDEX" val="1_2_2"/>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3_2"/>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SUBTYPE" val="nb"/>
  <p:tag name="KSO_WM_UNIT_TYPE" val="m_h_i"/>
  <p:tag name="KSO_WM_UNIT_INDEX" val="1_3_2"/>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4_2"/>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SUBTYPE" val="nb"/>
  <p:tag name="KSO_WM_UNIT_TYPE" val="m_h_i"/>
  <p:tag name="KSO_WM_UNIT_INDEX" val="1_4_2"/>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i*1_5_2"/>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DIAGRAM_GROUP_CODE" val="m1-1"/>
  <p:tag name="KSO_WM_UNIT_SUBTYPE" val="nb"/>
  <p:tag name="KSO_WM_UNIT_TYPE" val="m_h_i"/>
  <p:tag name="KSO_WM_UNIT_INDEX" val="1_5_2"/>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a*1_3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m1-1"/>
  <p:tag name="KSO_WM_UNIT_TYPE" val="m_h_a"/>
  <p:tag name="KSO_WM_UNIT_INDEX" val="1_3_1"/>
  <p:tag name="KSO_WM_UNIT_PRESET_TEXT" val="添加项标题"/>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f*1_3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DIAGRAM_GROUP_CODE" val="m1-1"/>
  <p:tag name="KSO_WM_UNIT_TYPE" val="m_h_f"/>
  <p:tag name="KSO_WM_UNIT_INDEX" val="1_3_1"/>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a*1_4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m1-1"/>
  <p:tag name="KSO_WM_UNIT_TYPE" val="m_h_a"/>
  <p:tag name="KSO_WM_UNIT_INDEX" val="1_4_1"/>
  <p:tag name="KSO_WM_UNIT_PRESET_TEXT" val="添加项标题"/>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f*1_4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DIAGRAM_GROUP_CODE" val="m1-1"/>
  <p:tag name="KSO_WM_UNIT_TYPE" val="m_h_f"/>
  <p:tag name="KSO_WM_UNIT_INDEX" val="1_4_1"/>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a*1_5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m1-1"/>
  <p:tag name="KSO_WM_UNIT_TYPE" val="m_h_a"/>
  <p:tag name="KSO_WM_UNIT_INDEX" val="1_5_1"/>
  <p:tag name="KSO_WM_UNIT_PRESET_TEXT" val="添加项标题"/>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82.1360778808594,&quot;left&quot;:-75.90140821081445,&quot;top&quot;:60.76955948476716,&quot;width&quot;:960.778564453125}"/>
  <p:tag name="KSO_WM_UNIT_HIGHLIGHT" val="0"/>
  <p:tag name="KSO_WM_UNIT_COMPATIBLE" val="0"/>
  <p:tag name="KSO_WM_UNIT_DIAGRAM_ISNUMVISUAL" val="0"/>
  <p:tag name="KSO_WM_UNIT_DIAGRAM_ISREFERUNIT" val="0"/>
  <p:tag name="KSO_WM_UNIT_ID" val="diagram20236934_2*m_h_f*1_5_1"/>
  <p:tag name="KSO_WM_TEMPLATE_CATEGORY" val="diagram"/>
  <p:tag name="KSO_WM_TEMPLATE_INDEX" val="20236934"/>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DIAGRAM_GROUP_CODE" val="m1-1"/>
  <p:tag name="KSO_WM_UNIT_TYPE" val="m_h_f"/>
  <p:tag name="KSO_WM_UNIT_INDEX" val="1_5_1"/>
  <p:tag name="KSO_WM_UNIT_PRESET_TEXT" val="单击此处输入正文，文字是您思想的提炼"/>
  <p:tag name="KSO_WM_UNIT_TEXT_FILL_FORE_SCHEMECOLOR_INDEX" val="1"/>
  <p:tag name="KSO_WM_UNIT_TEXT_FILL_TYPE" val="1"/>
  <p:tag name="KSO_WM_DIAGRAM_MAX_ITEMCNT" val="5"/>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1087_1*n_h_a*1_1_1"/>
  <p:tag name="KSO_WM_TEMPLATE_CATEGORY" val="diagram"/>
  <p:tag name="KSO_WM_TEMPLATE_INDEX" val="20231087"/>
  <p:tag name="KSO_WM_UNIT_LAYERLEVEL" val="1_1_1"/>
  <p:tag name="KSO_WM_TAG_VERSION" val="3.0"/>
  <p:tag name="KSO_WM_UNIT_ISCONTENTSTITLE" val="0"/>
  <p:tag name="KSO_WM_UNIT_ISNUMDGMTITLE" val="0"/>
  <p:tag name="KSO_WM_UNIT_NOCLEAR" val="0"/>
  <p:tag name="KSO_WM_UNIT_VALUE" val="24"/>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49.58555886095901,&quot;top&quot;:78.25763872762363,&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单击此处添&#10;加项标题"/>
  <p:tag name="KSO_WM_UNIT_TEXT_FILL_FORE_SCHEMECOLOR_INDEX" val="1"/>
  <p:tag name="KSO_WM_UNIT_TEXT_FILL_TYPE" val="1"/>
  <p:tag name="KSO_WM_DIAGRAM_USE_COLOR_VALUE" val="{&quot;color_scheme&quot;:1,&quot;color_type&quot;:1,&quot;theme_color_indexes&quot;:[]}"/>
</p:tagLst>
</file>

<file path=ppt/tags/tag53.xml><?xml version="1.0" encoding="utf-8"?>
<p:tagLst xmlns:a="http://schemas.openxmlformats.org/drawingml/2006/main" xmlns:r="http://schemas.openxmlformats.org/officeDocument/2006/relationships" xmlns:p="http://schemas.openxmlformats.org/presentationml/2006/main">
  <p:tag name="TABLE_ENDDRAG_ORIGIN_RECT" val="464*236"/>
  <p:tag name="TABLE_ENDDRAG_RECT" val="208*213*464*23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85.4597637795276,&quot;left&quot;:71.69015748031492,&quot;top&quot;:142.95,&quot;width&quot;:821.065196850393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02.4089763779528,&quot;left&quot;:406.2285039370079,&quot;top&quot;:77.25716535433068,&quot;width&quot;:489.640629921259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i*1_1"/>
  <p:tag name="KSO_WM_TEMPLATE_CATEGORY" val="diagram"/>
  <p:tag name="KSO_WM_TEMPLATE_INDEX" val="20236928"/>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UNIT_LINE_FORE_SCHEMECOLOR_INDEX" val="5"/>
  <p:tag name="KSO_WM_DIAGRAM_MAX_ITEMCNT" val="8"/>
  <p:tag name="KSO_WM_DIAGRAM_MIN_ITEMCNT" val="4"/>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i*1_2"/>
  <p:tag name="KSO_WM_TEMPLATE_CATEGORY" val="diagram"/>
  <p:tag name="KSO_WM_TEMPLATE_INDEX" val="20236928"/>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5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5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1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3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3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5_1"/>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5_1"/>
  <p:tag name="KSO_WM_DIAGRAM_VERSION" val="3"/>
  <p:tag name="KSO_WM_DIAGRAM_COLOR_TRICK" val="1"/>
  <p:tag name="KSO_WM_DIAGRAM_COLOR_TEXT_CAN_REMOVE" val="n"/>
  <p:tag name="KSO_WM_DIAGRAM_MAX_ITEMCNT" val="8"/>
  <p:tag name="KSO_WM_DIAGRAM_MIN_ITEMCNT" val="4"/>
  <p:tag name="KSO_WM_DIAGRAM_COLOR_MATCH_VALUE" val="{&quot;shape&quot;:{&quot;fill&quot;:{&quot;type&quot;:0},&quot;glow&quot;:{&quot;colorType&quot;:0},&quot;line&quot;:{&quot;gradient&quot;:[{&quot;brightness&quot;:0.4000000059604645,&quot;colorType&quot;:1,&quot;foreColorIndex&quot;:5,&quot;pos&quot;:0.09000000357627869,&quot;transparency&quot;:1},{&quot;brightness&quot;:0.4000000059604645,&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2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2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4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4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6_2"/>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6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6_1"/>
  <p:tag name="KSO_WM_TEMPLATE_CATEGORY" val="diagram"/>
  <p:tag name="KSO_WM_TEMPLATE_INDEX" val="20236928"/>
  <p:tag name="KSO_WM_UNIT_LAYERLEVEL" val="1_1_1"/>
  <p:tag name="KSO_WM_TAG_VERSION" val="3.0"/>
  <p:tag name="KSO_WM_BEAUTIFY_FLAG" val="#wm#"/>
  <p:tag name="KSO_WM_DIAGRAM_GROUP_CODE" val="m1-1"/>
  <p:tag name="KSO_WM_UNIT_TYPE" val="m_h_i"/>
  <p:tag name="KSO_WM_UNIT_INDEX" val="1_6_1"/>
  <p:tag name="KSO_WM_DIAGRAM_VERSION" val="3"/>
  <p:tag name="KSO_WM_DIAGRAM_COLOR_TRICK" val="1"/>
  <p:tag name="KSO_WM_DIAGRAM_COLOR_TEXT_CAN_REMOVE" val="n"/>
  <p:tag name="KSO_WM_DIAGRAM_MAX_ITEMCNT" val="8"/>
  <p:tag name="KSO_WM_DIAGRAM_MIN_ITEMCNT" val="4"/>
  <p:tag name="KSO_WM_DIAGRAM_COLOR_MATCH_VALUE" val="{&quot;shape&quot;:{&quot;fill&quot;:{&quot;type&quot;:0},&quot;glow&quot;:{&quot;colorType&quot;:0},&quot;line&quot;:{&quot;gradient&quot;:[{&quot;brightness&quot;:0.4000000059604645,&quot;colorType&quot;:1,&quot;foreColorIndex&quot;:5,&quot;pos&quot;:0.09000000357627869,&quot;transparency&quot;:1},{&quot;brightness&quot;:0.4000000059604645,&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5_3"/>
  <p:tag name="KSO_WM_TEMPLATE_CATEGORY" val="diagram"/>
  <p:tag name="KSO_WM_TEMPLATE_INDEX" val="20236928"/>
  <p:tag name="KSO_WM_UNIT_LAYERLEVEL" val="1_1_1"/>
  <p:tag name="KSO_WM_TAG_VERSION" val="3.0"/>
  <p:tag name="KSO_WM_BEAUTIFY_FLAG" val="#wm#"/>
  <p:tag name="KSO_WM_DIAGRAM_GROUP_CODE" val="m1-1"/>
  <p:tag name="KSO_WM_UNIT_SUBTYPE" val="nb"/>
  <p:tag name="KSO_WM_UNIT_TYPE" val="m_h_i"/>
  <p:tag name="KSO_WM_UNIT_INDEX" val="1_5_3"/>
  <p:tag name="KSO_WM_DIAGRAM_VERSION" val="3"/>
  <p:tag name="KSO_WM_DIAGRAM_COLOR_TRICK" val="1"/>
  <p:tag name="KSO_WM_DIAGRAM_COLOR_TEXT_CAN_REMOVE" val="n"/>
  <p:tag name="KSO_WM_UNIT_TEXT_FILL_FORE_SCHEMECOLOR_INDEX" val="1"/>
  <p:tag name="KSO_WM_UNIT_TEXT_FILL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f*1_5_1"/>
  <p:tag name="KSO_WM_TEMPLATE_CATEGORY" val="diagram"/>
  <p:tag name="KSO_WM_TEMPLATE_INDEX" val="20236928"/>
  <p:tag name="KSO_WM_UNIT_LAYERLEVEL" val="1_1_1"/>
  <p:tag name="KSO_WM_TAG_VERSION" val="3.0"/>
  <p:tag name="KSO_WM_BEAUTIFY_FLAG" val="#wm#"/>
  <p:tag name="KSO_WM_UNIT_SUBTYPE" val="a"/>
  <p:tag name="KSO_WM_UNIT_NOCLEAR" val="0"/>
  <p:tag name="KSO_WM_UNIT_VALUE" val="33"/>
  <p:tag name="KSO_WM_DIAGRAM_GROUP_CODE" val="m1-1"/>
  <p:tag name="KSO_WM_UNIT_TYPE" val="m_h_f"/>
  <p:tag name="KSO_WM_UNIT_INDEX" val="1_5_1"/>
  <p:tag name="KSO_WM_DIAGRAM_VERSION" val="3"/>
  <p:tag name="KSO_WM_DIAGRAM_COLOR_TRICK" val="1"/>
  <p:tag name="KSO_WM_DIAGRAM_COLOR_TEXT_CAN_REMOVE" val="n"/>
  <p:tag name="KSO_WM_UNIT_PRESET_TEXT" val="单击输入项正文，文字是您思想的提炼，请言简意赅的阐述观点。&#10;"/>
  <p:tag name="KSO_WM_UNIT_TEXT_FILL_FORE_SCHEMECOLOR_INDEX" val="1"/>
  <p:tag name="KSO_WM_UNIT_TEXT_FILL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f*1_6_1"/>
  <p:tag name="KSO_WM_TEMPLATE_CATEGORY" val="diagram"/>
  <p:tag name="KSO_WM_TEMPLATE_INDEX" val="20236928"/>
  <p:tag name="KSO_WM_UNIT_LAYERLEVEL" val="1_1_1"/>
  <p:tag name="KSO_WM_TAG_VERSION" val="3.0"/>
  <p:tag name="KSO_WM_BEAUTIFY_FLAG" val="#wm#"/>
  <p:tag name="KSO_WM_UNIT_SUBTYPE" val="a"/>
  <p:tag name="KSO_WM_UNIT_NOCLEAR" val="0"/>
  <p:tag name="KSO_WM_UNIT_VALUE" val="33"/>
  <p:tag name="KSO_WM_DIAGRAM_GROUP_CODE" val="m1-1"/>
  <p:tag name="KSO_WM_UNIT_TYPE" val="m_h_f"/>
  <p:tag name="KSO_WM_UNIT_INDEX" val="1_6_1"/>
  <p:tag name="KSO_WM_DIAGRAM_VERSION" val="3"/>
  <p:tag name="KSO_WM_DIAGRAM_COLOR_TRICK" val="1"/>
  <p:tag name="KSO_WM_DIAGRAM_COLOR_TEXT_CAN_REMOVE" val="n"/>
  <p:tag name="KSO_WM_UNIT_PRESET_TEXT" val="单击输入项正文，文字是您思想的提炼，请言简意赅的阐述观点。&#10;"/>
  <p:tag name="KSO_WM_UNIT_TEXT_FILL_FORE_SCHEMECOLOR_INDEX" val="1"/>
  <p:tag name="KSO_WM_UNIT_TEXT_FILL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73.2749606299213,&quot;left&quot;:36.79877528707948,&quot;top&quot;:93.37503937007872,&quot;width&quot;:886.2268676757812}"/>
  <p:tag name="KSO_WM_UNIT_HIGHLIGHT" val="0"/>
  <p:tag name="KSO_WM_UNIT_COMPATIBLE" val="0"/>
  <p:tag name="KSO_WM_UNIT_DIAGRAM_ISNUMVISUAL" val="0"/>
  <p:tag name="KSO_WM_UNIT_DIAGRAM_ISREFERUNIT" val="0"/>
  <p:tag name="KSO_WM_UNIT_ID" val="diagram20236928_3*m_h_i*1_5_3"/>
  <p:tag name="KSO_WM_TEMPLATE_CATEGORY" val="diagram"/>
  <p:tag name="KSO_WM_TEMPLATE_INDEX" val="20236928"/>
  <p:tag name="KSO_WM_UNIT_LAYERLEVEL" val="1_1_1"/>
  <p:tag name="KSO_WM_TAG_VERSION" val="3.0"/>
  <p:tag name="KSO_WM_DIAGRAM_GROUP_CODE" val="m1-1"/>
  <p:tag name="KSO_WM_UNIT_SUBTYPE" val="nb"/>
  <p:tag name="KSO_WM_UNIT_TYPE" val="m_h_i"/>
  <p:tag name="KSO_WM_UNIT_INDEX" val="1_5_3"/>
  <p:tag name="KSO_WM_DIAGRAM_VERSION" val="3"/>
  <p:tag name="KSO_WM_DIAGRAM_COLOR_TRICK" val="1"/>
  <p:tag name="KSO_WM_DIAGRAM_COLOR_TEXT_CAN_REMOVE" val="n"/>
  <p:tag name="KSO_WM_UNIT_TEXT_FILL_FORE_SCHEMECOLOR_INDEX" val="1"/>
  <p:tag name="KSO_WM_UNIT_TEXT_FILL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3417</Words>
  <Application>Microsoft Macintosh PowerPoint</Application>
  <PresentationFormat>自定义</PresentationFormat>
  <Paragraphs>429</Paragraphs>
  <Slides>34</Slides>
  <Notes>34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34</vt:i4>
      </vt:variant>
    </vt:vector>
  </HeadingPairs>
  <TitlesOfParts>
    <vt:vector size="40" baseType="lpstr">
      <vt:lpstr>微软雅黑</vt:lpstr>
      <vt:lpstr>字魂36号-孙新恒宋楷体</vt:lpstr>
      <vt:lpstr>Arial</vt:lpstr>
      <vt:lpstr>Calibri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蓝色简约风格论文答辩课程演示PPT模板</dc:title>
  <dc:creator>深度联盟http://www.deepbbs.org</dc:creator>
  <cp:lastModifiedBy>Microsoft Office User</cp:lastModifiedBy>
  <cp:revision>199</cp:revision>
  <dcterms:created xsi:type="dcterms:W3CDTF">2016-05-04T11:42:00Z</dcterms:created>
  <dcterms:modified xsi:type="dcterms:W3CDTF">2026-01-07T04:52:43Z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8A2CE9DD196A46ECB0378F381185629C_13</vt:lpwstr>
  </property>
</Properties>
</file>